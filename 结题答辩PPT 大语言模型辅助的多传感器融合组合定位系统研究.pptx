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375" r:id="rId2"/>
    <p:sldId id="348" r:id="rId3"/>
    <p:sldId id="347" r:id="rId4"/>
    <p:sldId id="349" r:id="rId5"/>
    <p:sldId id="352" r:id="rId6"/>
    <p:sldId id="354" r:id="rId7"/>
    <p:sldId id="353" r:id="rId8"/>
    <p:sldId id="376" r:id="rId9"/>
    <p:sldId id="377" r:id="rId10"/>
    <p:sldId id="378" r:id="rId11"/>
    <p:sldId id="379" r:id="rId12"/>
    <p:sldId id="383" r:id="rId13"/>
    <p:sldId id="296" r:id="rId14"/>
    <p:sldId id="351" r:id="rId15"/>
    <p:sldId id="373" r:id="rId16"/>
    <p:sldId id="387" r:id="rId17"/>
    <p:sldId id="309" r:id="rId18"/>
    <p:sldId id="374" r:id="rId19"/>
    <p:sldId id="390"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8A"/>
    <a:srgbClr val="006171"/>
    <a:srgbClr val="EEECE1"/>
    <a:srgbClr val="006097"/>
    <a:srgbClr val="911F22"/>
    <a:srgbClr val="C92B2F"/>
    <a:srgbClr val="0097B0"/>
    <a:srgbClr val="6FD57F"/>
    <a:srgbClr val="8100FF"/>
    <a:srgbClr val="D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97" autoAdjust="0"/>
    <p:restoredTop sz="94660"/>
  </p:normalViewPr>
  <p:slideViewPr>
    <p:cSldViewPr snapToGrid="0">
      <p:cViewPr varScale="1">
        <p:scale>
          <a:sx n="103" d="100"/>
          <a:sy n="103" d="100"/>
        </p:scale>
        <p:origin x="68" y="224"/>
      </p:cViewPr>
      <p:guideLst/>
    </p:cSldViewPr>
  </p:slideViewPr>
  <p:notesTextViewPr>
    <p:cViewPr>
      <p:scale>
        <a:sx n="1" d="1"/>
        <a:sy n="1" d="1"/>
      </p:scale>
      <p:origin x="0" y="0"/>
    </p:cViewPr>
  </p:notesTextViewPr>
  <p:sorterViewPr>
    <p:cViewPr>
      <p:scale>
        <a:sx n="100" d="100"/>
        <a:sy n="100" d="100"/>
      </p:scale>
      <p:origin x="0" y="-55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0A44A-4D38-48A7-9D7C-ECFC6DB5196B}" type="datetimeFigureOut">
              <a:rPr lang="zh-CN" altLang="en-US" smtClean="0"/>
              <a:t>2026/3/27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D9C11C-D04B-4B83-A5E8-D873315BDD3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ECE054B-68E7-45EF-8070-F21E5616883B}"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EAA93BF-772A-4C92-B1DC-E6EFAA9B7E24}" type="datetimeFigureOut">
              <a:rPr lang="zh-CN" altLang="en-US" smtClean="0"/>
              <a:t>2026/3/27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7F9130-EB6A-4866-830C-2DB68EFB30B4}"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EAA93BF-772A-4C92-B1DC-E6EFAA9B7E24}" type="datetimeFigureOut">
              <a:rPr lang="zh-CN" altLang="en-US" smtClean="0"/>
              <a:t>2026/3/27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7F9130-EB6A-4866-830C-2DB68EFB30B4}"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60"/>
            <a:ext cx="2743200" cy="365125"/>
          </a:xfrm>
        </p:spPr>
        <p:txBody>
          <a:bodyPr/>
          <a:lstStyle>
            <a:lvl1pPr>
              <a:defRPr/>
            </a:lvl1pPr>
          </a:lstStyle>
          <a:p>
            <a:fld id="{CD21E796-F371-46FE-9DFB-C441527A35E0}" type="datetime1">
              <a:rPr lang="zh-CN" altLang="en-US"/>
              <a:t>2026/3/27</a:t>
            </a:fld>
            <a:endParaRPr lang="zh-CN" altLang="en-US" sz="1680">
              <a:solidFill>
                <a:schemeClr val="tx1"/>
              </a:solidFill>
            </a:endParaRPr>
          </a:p>
        </p:txBody>
      </p:sp>
      <p:sp>
        <p:nvSpPr>
          <p:cNvPr id="4" name="页脚占位符 3"/>
          <p:cNvSpPr>
            <a:spLocks noGrp="1"/>
          </p:cNvSpPr>
          <p:nvPr>
            <p:ph type="ftr" sz="quarter" idx="11"/>
          </p:nvPr>
        </p:nvSpPr>
        <p:spPr>
          <a:xfrm>
            <a:off x="4038600" y="6356360"/>
            <a:ext cx="4114800" cy="365125"/>
          </a:xfrm>
        </p:spPr>
        <p:txBody>
          <a:bodyPr/>
          <a:lstStyle>
            <a:lvl1pPr>
              <a:defRPr/>
            </a:lvl1pPr>
          </a:lstStyle>
          <a:p>
            <a:endParaRPr lang="zh-CN" altLang="zh-CN"/>
          </a:p>
        </p:txBody>
      </p:sp>
      <p:sp>
        <p:nvSpPr>
          <p:cNvPr id="5" name="灯片编号占位符 4"/>
          <p:cNvSpPr>
            <a:spLocks noGrp="1"/>
          </p:cNvSpPr>
          <p:nvPr>
            <p:ph type="sldNum" sz="quarter" idx="12"/>
          </p:nvPr>
        </p:nvSpPr>
        <p:spPr>
          <a:xfrm>
            <a:off x="8610600" y="6356360"/>
            <a:ext cx="2743200" cy="365125"/>
          </a:xfrm>
        </p:spPr>
        <p:txBody>
          <a:bodyPr/>
          <a:lstStyle>
            <a:lvl1pPr>
              <a:defRPr/>
            </a:lvl1pPr>
          </a:lstStyle>
          <a:p>
            <a:fld id="{3F6F2044-B2A5-4D81-A2D6-A754D1FE24D3}" type="slidenum">
              <a:rPr lang="zh-CN" altLang="en-US"/>
              <a:t>‹#›</a:t>
            </a:fld>
            <a:endParaRPr lang="zh-CN" altLang="en-US" sz="1680">
              <a:solidFill>
                <a:schemeClr val="tx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A93BF-772A-4C92-B1DC-E6EFAA9B7E24}" type="datetimeFigureOut">
              <a:rPr lang="zh-CN" altLang="en-US" smtClean="0"/>
              <a:t>2026/3/27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F9130-EB6A-4866-830C-2DB68EFB30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jpeg"/><Relationship Id="rId5" Type="http://schemas.openxmlformats.org/officeDocument/2006/relationships/image" Target="../media/image8.png"/><Relationship Id="rId10"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14.xml"/><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22.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540000"/>
            <a:ext cx="12192000" cy="306070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92B2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1152525" y="2837724"/>
            <a:ext cx="9886950" cy="1569660"/>
          </a:xfrm>
          <a:prstGeom prst="rect">
            <a:avLst/>
          </a:prstGeom>
          <a:noFill/>
        </p:spPr>
        <p:txBody>
          <a:bodyPr wrap="square" rtlCol="0">
            <a:spAutoFit/>
          </a:bodyPr>
          <a:lstStyle/>
          <a:p>
            <a:pPr algn="ctr"/>
            <a:r>
              <a:rPr lang="zh-CN" altLang="en-US" sz="48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大语言模型辅助的多传感器融合组合定位系统研究结题答辩</a:t>
            </a:r>
          </a:p>
        </p:txBody>
      </p:sp>
      <p:sp>
        <p:nvSpPr>
          <p:cNvPr id="6" name="文本框 5"/>
          <p:cNvSpPr txBox="1"/>
          <p:nvPr/>
        </p:nvSpPr>
        <p:spPr>
          <a:xfrm>
            <a:off x="4080042" y="4902144"/>
            <a:ext cx="4585368"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团队成员 ：朱俞彤 齐颖 李欣鸿 罗烯尹</a:t>
            </a:r>
          </a:p>
        </p:txBody>
      </p:sp>
      <p:sp>
        <p:nvSpPr>
          <p:cNvPr id="7" name="文本框 6"/>
          <p:cNvSpPr txBox="1"/>
          <p:nvPr/>
        </p:nvSpPr>
        <p:spPr>
          <a:xfrm>
            <a:off x="5076291" y="4461893"/>
            <a:ext cx="30226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指导教师 ：高乐天</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335" y="1586524"/>
            <a:ext cx="2017330" cy="696246"/>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409" y="441810"/>
            <a:ext cx="983182" cy="983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4680659" cy="685800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文本框 6"/>
          <p:cNvSpPr txBox="1"/>
          <p:nvPr/>
        </p:nvSpPr>
        <p:spPr>
          <a:xfrm>
            <a:off x="6296188" y="1219226"/>
            <a:ext cx="306202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b="1" noProof="0"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C</a:t>
            </a:r>
            <a:r>
              <a:rPr kumimoji="0" lang="en-US" altLang="zh-CN" sz="36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ONTENTS</a:t>
            </a:r>
            <a:endParaRPr kumimoji="0" lang="zh-CN" altLang="en-US" sz="36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p:cNvGrpSpPr/>
          <p:nvPr/>
        </p:nvGrpSpPr>
        <p:grpSpPr>
          <a:xfrm>
            <a:off x="6296188" y="2411278"/>
            <a:ext cx="2295341" cy="584775"/>
            <a:chOff x="6588037" y="2227220"/>
            <a:chExt cx="2295341" cy="584775"/>
          </a:xfrm>
        </p:grpSpPr>
        <p:grpSp>
          <p:nvGrpSpPr>
            <p:cNvPr id="10" name="组合 9"/>
            <p:cNvGrpSpPr/>
            <p:nvPr/>
          </p:nvGrpSpPr>
          <p:grpSpPr>
            <a:xfrm>
              <a:off x="6588037" y="2227220"/>
              <a:ext cx="2295341" cy="584775"/>
              <a:chOff x="6588037" y="2227220"/>
              <a:chExt cx="2295341" cy="584775"/>
            </a:xfrm>
          </p:grpSpPr>
          <p:sp>
            <p:nvSpPr>
              <p:cNvPr id="8" name="文本框 7"/>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7467606" y="2278143"/>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项目简介</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8" name="直接连接符 17"/>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6296188" y="3265517"/>
            <a:ext cx="2295341" cy="584775"/>
            <a:chOff x="6588037" y="2227220"/>
            <a:chExt cx="2295341" cy="584775"/>
          </a:xfrm>
        </p:grpSpPr>
        <p:grpSp>
          <p:nvGrpSpPr>
            <p:cNvPr id="22" name="组合 21"/>
            <p:cNvGrpSpPr/>
            <p:nvPr/>
          </p:nvGrpSpPr>
          <p:grpSpPr>
            <a:xfrm>
              <a:off x="6588037" y="2227220"/>
              <a:ext cx="2295341" cy="584775"/>
              <a:chOff x="6588037" y="2227220"/>
              <a:chExt cx="2295341" cy="584775"/>
            </a:xfrm>
          </p:grpSpPr>
          <p:sp>
            <p:nvSpPr>
              <p:cNvPr id="24" name="文本框 23"/>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7467606" y="2278143"/>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项目进程</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3" name="直接连接符 22"/>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296188" y="4098492"/>
            <a:ext cx="2295341" cy="584775"/>
            <a:chOff x="6588037" y="2227220"/>
            <a:chExt cx="2295341" cy="584775"/>
          </a:xfrm>
        </p:grpSpPr>
        <p:grpSp>
          <p:nvGrpSpPr>
            <p:cNvPr id="27" name="组合 26"/>
            <p:cNvGrpSpPr/>
            <p:nvPr/>
          </p:nvGrpSpPr>
          <p:grpSpPr>
            <a:xfrm>
              <a:off x="6588037" y="2227220"/>
              <a:ext cx="2295341" cy="584775"/>
              <a:chOff x="6588037" y="2227220"/>
              <a:chExt cx="2295341" cy="584775"/>
            </a:xfrm>
          </p:grpSpPr>
          <p:sp>
            <p:nvSpPr>
              <p:cNvPr id="29" name="文本框 28"/>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a:off x="7467606" y="2278143"/>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项目成果</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8" name="直接连接符 27"/>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6296188" y="4931467"/>
            <a:ext cx="2295341" cy="584775"/>
            <a:chOff x="6588037" y="2227220"/>
            <a:chExt cx="2295341" cy="584775"/>
          </a:xfrm>
        </p:grpSpPr>
        <p:grpSp>
          <p:nvGrpSpPr>
            <p:cNvPr id="32" name="组合 31"/>
            <p:cNvGrpSpPr/>
            <p:nvPr/>
          </p:nvGrpSpPr>
          <p:grpSpPr>
            <a:xfrm>
              <a:off x="6588037" y="2227220"/>
              <a:ext cx="2295341" cy="584775"/>
              <a:chOff x="6588037" y="2227220"/>
              <a:chExt cx="2295341" cy="584775"/>
            </a:xfrm>
          </p:grpSpPr>
          <p:sp>
            <p:nvSpPr>
              <p:cNvPr id="34" name="文本框 33"/>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34"/>
              <p:cNvSpPr/>
              <p:nvPr/>
            </p:nvSpPr>
            <p:spPr>
              <a:xfrm>
                <a:off x="7467606" y="2278143"/>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项目总结</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33" name="直接连接符 32"/>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4895" y="2928431"/>
            <a:ext cx="1905000" cy="1905000"/>
          </a:xfrm>
          <a:prstGeom prst="rect">
            <a:avLst/>
          </a:prstGeom>
        </p:spPr>
      </p:pic>
      <p:pic>
        <p:nvPicPr>
          <p:cNvPr id="36" name="图片 35"/>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1308730" y="1865557"/>
            <a:ext cx="2017330" cy="696246"/>
          </a:xfrm>
          <a:prstGeom prst="rect">
            <a:avLst/>
          </a:prstGeom>
        </p:spPr>
      </p:pic>
      <p:pic>
        <p:nvPicPr>
          <p:cNvPr id="37" name="图片 36"/>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1825804" y="720843"/>
            <a:ext cx="983182" cy="983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500"/>
                                        <p:tgtEl>
                                          <p:spTgt spid="20"/>
                                        </p:tgtEl>
                                      </p:cBhvr>
                                    </p:animEffect>
                                  </p:childTnLst>
                                </p:cTn>
                              </p:par>
                              <p:par>
                                <p:cTn id="12" presetID="22" presetClass="entr" presetSubtype="1"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up)">
                                      <p:cBhvr>
                                        <p:cTn id="14" dur="500"/>
                                        <p:tgtEl>
                                          <p:spTgt spid="21"/>
                                        </p:tgtEl>
                                      </p:cBhvr>
                                    </p:animEffect>
                                  </p:childTnLst>
                                </p:cTn>
                              </p:par>
                              <p:par>
                                <p:cTn id="15" presetID="22" presetClass="entr" presetSubtype="1"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up)">
                                      <p:cBhvr>
                                        <p:cTn id="17" dur="500"/>
                                        <p:tgtEl>
                                          <p:spTgt spid="26"/>
                                        </p:tgtEl>
                                      </p:cBhvr>
                                    </p:animEffect>
                                  </p:childTnLst>
                                </p:cTn>
                              </p:par>
                              <p:par>
                                <p:cTn id="18" presetID="22" presetClass="entr" presetSubtype="1"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3229708" y="3271730"/>
            <a:ext cx="5750169"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kumimoji="0" lang="zh-CN" altLang="en-US"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项目简介</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6" name="图片 5"/>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7" name="图片 6"/>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1483360" y="1981200"/>
            <a:ext cx="2651760" cy="164592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3015" y="2219265"/>
            <a:ext cx="674370" cy="674370"/>
          </a:xfrm>
          <a:prstGeom prst="rect">
            <a:avLst/>
          </a:prstGeom>
        </p:spPr>
      </p:pic>
      <p:sp>
        <p:nvSpPr>
          <p:cNvPr id="6" name="文本框 5"/>
          <p:cNvSpPr txBox="1"/>
          <p:nvPr/>
        </p:nvSpPr>
        <p:spPr>
          <a:xfrm>
            <a:off x="1747520" y="3059370"/>
            <a:ext cx="2191434" cy="400110"/>
          </a:xfrm>
          <a:prstGeom prst="rect">
            <a:avLst/>
          </a:prstGeom>
          <a:noFill/>
        </p:spPr>
        <p:txBody>
          <a:bodyPr wrap="square" rtlCol="0">
            <a:spAutoFit/>
          </a:bodyPr>
          <a:lstStyle/>
          <a:p>
            <a:pPr algn="ctr"/>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政策与市场背景</a:t>
            </a:r>
          </a:p>
        </p:txBody>
      </p:sp>
      <p:sp>
        <p:nvSpPr>
          <p:cNvPr id="7" name="矩形 6"/>
          <p:cNvSpPr/>
          <p:nvPr/>
        </p:nvSpPr>
        <p:spPr>
          <a:xfrm>
            <a:off x="4135120" y="1981200"/>
            <a:ext cx="6309360" cy="1645920"/>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矩形 7"/>
          <p:cNvSpPr/>
          <p:nvPr/>
        </p:nvSpPr>
        <p:spPr>
          <a:xfrm>
            <a:off x="1483360" y="4094480"/>
            <a:ext cx="2651760" cy="164592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3015" y="4332545"/>
            <a:ext cx="674370" cy="674370"/>
          </a:xfrm>
          <a:prstGeom prst="rect">
            <a:avLst/>
          </a:prstGeom>
        </p:spPr>
      </p:pic>
      <p:sp>
        <p:nvSpPr>
          <p:cNvPr id="10" name="文本框 9"/>
          <p:cNvSpPr txBox="1"/>
          <p:nvPr/>
        </p:nvSpPr>
        <p:spPr>
          <a:xfrm>
            <a:off x="1747520" y="5172650"/>
            <a:ext cx="2191434" cy="400110"/>
          </a:xfrm>
          <a:prstGeom prst="rect">
            <a:avLst/>
          </a:prstGeom>
          <a:noFill/>
        </p:spPr>
        <p:txBody>
          <a:bodyPr wrap="square" rtlCol="0">
            <a:spAutoFit/>
          </a:bodyPr>
          <a:lstStyle/>
          <a:p>
            <a:pPr algn="ctr"/>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学科与创新背景</a:t>
            </a:r>
          </a:p>
        </p:txBody>
      </p:sp>
      <p:sp>
        <p:nvSpPr>
          <p:cNvPr id="11" name="矩形 10"/>
          <p:cNvSpPr/>
          <p:nvPr/>
        </p:nvSpPr>
        <p:spPr>
          <a:xfrm>
            <a:off x="4135120" y="4094480"/>
            <a:ext cx="6309360" cy="1645920"/>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文本框 11"/>
          <p:cNvSpPr txBox="1"/>
          <p:nvPr/>
        </p:nvSpPr>
        <p:spPr>
          <a:xfrm>
            <a:off x="4350067" y="2082093"/>
            <a:ext cx="6045198" cy="1346907"/>
          </a:xfrm>
          <a:prstGeom prst="rect">
            <a:avLst/>
          </a:prstGeom>
          <a:noFill/>
        </p:spPr>
        <p:txBody>
          <a:bodyPr wrap="square" rtlCol="0">
            <a:spAutoFit/>
          </a:bodyPr>
          <a:lstStyle/>
          <a:p>
            <a:pP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随着</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智能汽车创新发展战略</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等国家政策持续推进，</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自动驾驶</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上升为国家战略，</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高精度定位</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成为智能汽车发展的核心支撑。我国自动驾驶市场规模在</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2025</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年突破</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4500</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亿元，但传统多传感器融合方案在隧道、雨雾等复杂场景下定位精度波动明显，亟需</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具备环境自适应能力的智能定位解决方案</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p>
        </p:txBody>
      </p:sp>
      <p:sp>
        <p:nvSpPr>
          <p:cNvPr id="13" name="文本框 12"/>
          <p:cNvSpPr txBox="1"/>
          <p:nvPr/>
        </p:nvSpPr>
        <p:spPr>
          <a:xfrm>
            <a:off x="4331286" y="4225853"/>
            <a:ext cx="5996745" cy="1346907"/>
          </a:xfrm>
          <a:prstGeom prst="rect">
            <a:avLst/>
          </a:prstGeom>
          <a:noFill/>
        </p:spPr>
        <p:txBody>
          <a:bodyPr wrap="square" rtlCol="0">
            <a:spAutoFit/>
          </a:bodyPr>
          <a:lstStyle/>
          <a:p>
            <a:pP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近年来，国内外对视觉大语言模型的研究逐步从“感知驱动”向“认知驱动”演进，其在</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场景理解、语义推理、环境交互</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等方面展现出强大潜力，为自动驾驶感知与定位提供了新的技术路径。但目前将其引入组合定位系统、实现</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环境语义对传感器融合权重的动态调控</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仍属前沿空白。</a:t>
            </a: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6" name="矩形 15"/>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项目背景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1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ircle(in)">
                                      <p:cBhvr>
                                        <p:cTn id="2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项目意义</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组合 5"/>
          <p:cNvGrpSpPr/>
          <p:nvPr/>
        </p:nvGrpSpPr>
        <p:grpSpPr>
          <a:xfrm>
            <a:off x="839338" y="1920155"/>
            <a:ext cx="3549058" cy="4213774"/>
            <a:chOff x="828125" y="461963"/>
            <a:chExt cx="4004429" cy="5577489"/>
          </a:xfrm>
        </p:grpSpPr>
        <p:sp>
          <p:nvSpPr>
            <p:cNvPr id="7" name="任意多边形 4"/>
            <p:cNvSpPr/>
            <p:nvPr/>
          </p:nvSpPr>
          <p:spPr>
            <a:xfrm>
              <a:off x="3052761" y="469197"/>
              <a:ext cx="1357312" cy="850017"/>
            </a:xfrm>
            <a:custGeom>
              <a:avLst/>
              <a:gdLst>
                <a:gd name="connsiteX0" fmla="*/ 295275 w 1295400"/>
                <a:gd name="connsiteY0" fmla="*/ 0 h 857250"/>
                <a:gd name="connsiteX1" fmla="*/ 1295400 w 1295400"/>
                <a:gd name="connsiteY1" fmla="*/ 504825 h 857250"/>
                <a:gd name="connsiteX2" fmla="*/ 847725 w 1295400"/>
                <a:gd name="connsiteY2" fmla="*/ 857250 h 857250"/>
                <a:gd name="connsiteX3" fmla="*/ 0 w 1295400"/>
                <a:gd name="connsiteY3" fmla="*/ 333375 h 857250"/>
                <a:gd name="connsiteX4" fmla="*/ 295275 w 1295400"/>
                <a:gd name="connsiteY4" fmla="*/ 0 h 85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00" h="857250">
                  <a:moveTo>
                    <a:pt x="295275" y="0"/>
                  </a:moveTo>
                  <a:lnTo>
                    <a:pt x="1295400" y="504825"/>
                  </a:lnTo>
                  <a:lnTo>
                    <a:pt x="847725" y="857250"/>
                  </a:lnTo>
                  <a:lnTo>
                    <a:pt x="0" y="333375"/>
                  </a:lnTo>
                  <a:lnTo>
                    <a:pt x="295275" y="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任意多边形 5"/>
            <p:cNvSpPr/>
            <p:nvPr/>
          </p:nvSpPr>
          <p:spPr>
            <a:xfrm>
              <a:off x="1428954" y="1699698"/>
              <a:ext cx="3403600" cy="908548"/>
            </a:xfrm>
            <a:custGeom>
              <a:avLst/>
              <a:gdLst>
                <a:gd name="connsiteX0" fmla="*/ 819150 w 3403600"/>
                <a:gd name="connsiteY0" fmla="*/ 0 h 889000"/>
                <a:gd name="connsiteX1" fmla="*/ 3403600 w 3403600"/>
                <a:gd name="connsiteY1" fmla="*/ 330200 h 889000"/>
                <a:gd name="connsiteX2" fmla="*/ 2641600 w 3403600"/>
                <a:gd name="connsiteY2" fmla="*/ 812800 h 889000"/>
                <a:gd name="connsiteX3" fmla="*/ 0 w 3403600"/>
                <a:gd name="connsiteY3" fmla="*/ 889000 h 889000"/>
                <a:gd name="connsiteX4" fmla="*/ 819150 w 3403600"/>
                <a:gd name="connsiteY4" fmla="*/ 0 h 88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3600" h="889000">
                  <a:moveTo>
                    <a:pt x="819150" y="0"/>
                  </a:moveTo>
                  <a:lnTo>
                    <a:pt x="3403600" y="330200"/>
                  </a:lnTo>
                  <a:lnTo>
                    <a:pt x="2641600" y="812800"/>
                  </a:lnTo>
                  <a:lnTo>
                    <a:pt x="0" y="889000"/>
                  </a:lnTo>
                  <a:lnTo>
                    <a:pt x="819150" y="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任意多边形 6"/>
            <p:cNvSpPr/>
            <p:nvPr/>
          </p:nvSpPr>
          <p:spPr>
            <a:xfrm>
              <a:off x="1681163" y="931348"/>
              <a:ext cx="3145041" cy="2349500"/>
            </a:xfrm>
            <a:custGeom>
              <a:avLst/>
              <a:gdLst>
                <a:gd name="connsiteX0" fmla="*/ 2711450 w 3136900"/>
                <a:gd name="connsiteY0" fmla="*/ 0 h 2343150"/>
                <a:gd name="connsiteX1" fmla="*/ 3136900 w 3136900"/>
                <a:gd name="connsiteY1" fmla="*/ 920750 h 2343150"/>
                <a:gd name="connsiteX2" fmla="*/ 381000 w 3136900"/>
                <a:gd name="connsiteY2" fmla="*/ 2343150 h 2343150"/>
                <a:gd name="connsiteX3" fmla="*/ 0 w 3136900"/>
                <a:gd name="connsiteY3" fmla="*/ 2279650 h 2343150"/>
                <a:gd name="connsiteX4" fmla="*/ 2711450 w 3136900"/>
                <a:gd name="connsiteY4" fmla="*/ 0 h 234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6900" h="2343150">
                  <a:moveTo>
                    <a:pt x="2711450" y="0"/>
                  </a:moveTo>
                  <a:lnTo>
                    <a:pt x="3136900" y="920750"/>
                  </a:lnTo>
                  <a:lnTo>
                    <a:pt x="381000" y="2343150"/>
                  </a:lnTo>
                  <a:lnTo>
                    <a:pt x="0" y="2279650"/>
                  </a:lnTo>
                  <a:lnTo>
                    <a:pt x="2711450"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任意多边形 7"/>
            <p:cNvSpPr/>
            <p:nvPr/>
          </p:nvSpPr>
          <p:spPr>
            <a:xfrm>
              <a:off x="1682954" y="3204648"/>
              <a:ext cx="2533650" cy="825500"/>
            </a:xfrm>
            <a:custGeom>
              <a:avLst/>
              <a:gdLst>
                <a:gd name="connsiteX0" fmla="*/ 0 w 2533650"/>
                <a:gd name="connsiteY0" fmla="*/ 0 h 825500"/>
                <a:gd name="connsiteX1" fmla="*/ 107950 w 2533650"/>
                <a:gd name="connsiteY1" fmla="*/ 222250 h 825500"/>
                <a:gd name="connsiteX2" fmla="*/ 1898650 w 2533650"/>
                <a:gd name="connsiteY2" fmla="*/ 825500 h 825500"/>
                <a:gd name="connsiteX3" fmla="*/ 2533650 w 2533650"/>
                <a:gd name="connsiteY3" fmla="*/ 520700 h 825500"/>
                <a:gd name="connsiteX4" fmla="*/ 0 w 2533650"/>
                <a:gd name="connsiteY4" fmla="*/ 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3650" h="825500">
                  <a:moveTo>
                    <a:pt x="0" y="0"/>
                  </a:moveTo>
                  <a:lnTo>
                    <a:pt x="107950" y="222250"/>
                  </a:lnTo>
                  <a:lnTo>
                    <a:pt x="1898650" y="825500"/>
                  </a:lnTo>
                  <a:lnTo>
                    <a:pt x="2533650" y="520700"/>
                  </a:lnTo>
                  <a:lnTo>
                    <a:pt x="0" y="0"/>
                  </a:lnTo>
                  <a:close/>
                </a:path>
              </a:pathLst>
            </a:custGeom>
            <a:solidFill>
              <a:srgbClr val="005A8A"/>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任意多边形 8"/>
            <p:cNvSpPr/>
            <p:nvPr/>
          </p:nvSpPr>
          <p:spPr>
            <a:xfrm>
              <a:off x="2051254" y="2029898"/>
              <a:ext cx="2774950" cy="1911350"/>
            </a:xfrm>
            <a:custGeom>
              <a:avLst/>
              <a:gdLst>
                <a:gd name="connsiteX0" fmla="*/ 2781300 w 2781300"/>
                <a:gd name="connsiteY0" fmla="*/ 0 h 1911350"/>
                <a:gd name="connsiteX1" fmla="*/ 2749550 w 2781300"/>
                <a:gd name="connsiteY1" fmla="*/ 463550 h 1911350"/>
                <a:gd name="connsiteX2" fmla="*/ 260350 w 2781300"/>
                <a:gd name="connsiteY2" fmla="*/ 1911350 h 1911350"/>
                <a:gd name="connsiteX3" fmla="*/ 0 w 2781300"/>
                <a:gd name="connsiteY3" fmla="*/ 1816100 h 1911350"/>
                <a:gd name="connsiteX4" fmla="*/ 2781300 w 2781300"/>
                <a:gd name="connsiteY4" fmla="*/ 0 h 191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300" h="1911350">
                  <a:moveTo>
                    <a:pt x="2781300" y="0"/>
                  </a:moveTo>
                  <a:lnTo>
                    <a:pt x="2749550" y="463550"/>
                  </a:lnTo>
                  <a:lnTo>
                    <a:pt x="260350" y="1911350"/>
                  </a:lnTo>
                  <a:lnTo>
                    <a:pt x="0" y="1816100"/>
                  </a:lnTo>
                  <a:lnTo>
                    <a:pt x="278130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任意多边形 9"/>
            <p:cNvSpPr/>
            <p:nvPr/>
          </p:nvSpPr>
          <p:spPr>
            <a:xfrm>
              <a:off x="2051254" y="3826948"/>
              <a:ext cx="1898650" cy="755650"/>
            </a:xfrm>
            <a:custGeom>
              <a:avLst/>
              <a:gdLst>
                <a:gd name="connsiteX0" fmla="*/ 0 w 1898650"/>
                <a:gd name="connsiteY0" fmla="*/ 0 h 736600"/>
                <a:gd name="connsiteX1" fmla="*/ 57150 w 1898650"/>
                <a:gd name="connsiteY1" fmla="*/ 222250 h 736600"/>
                <a:gd name="connsiteX2" fmla="*/ 1441450 w 1898650"/>
                <a:gd name="connsiteY2" fmla="*/ 736600 h 736600"/>
                <a:gd name="connsiteX3" fmla="*/ 1898650 w 1898650"/>
                <a:gd name="connsiteY3" fmla="*/ 730250 h 736600"/>
                <a:gd name="connsiteX4" fmla="*/ 0 w 1898650"/>
                <a:gd name="connsiteY4" fmla="*/ 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8650" h="736600">
                  <a:moveTo>
                    <a:pt x="0" y="0"/>
                  </a:moveTo>
                  <a:lnTo>
                    <a:pt x="57150" y="222250"/>
                  </a:lnTo>
                  <a:lnTo>
                    <a:pt x="1441450" y="736600"/>
                  </a:lnTo>
                  <a:lnTo>
                    <a:pt x="1898650" y="730250"/>
                  </a:lnTo>
                  <a:lnTo>
                    <a:pt x="0" y="0"/>
                  </a:lnTo>
                  <a:close/>
                </a:path>
              </a:pathLst>
            </a:cu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10"/>
            <p:cNvSpPr/>
            <p:nvPr/>
          </p:nvSpPr>
          <p:spPr>
            <a:xfrm>
              <a:off x="2305254" y="3731698"/>
              <a:ext cx="1898650" cy="863600"/>
            </a:xfrm>
            <a:custGeom>
              <a:avLst/>
              <a:gdLst>
                <a:gd name="connsiteX0" fmla="*/ 1917700 w 1917700"/>
                <a:gd name="connsiteY0" fmla="*/ 0 h 863600"/>
                <a:gd name="connsiteX1" fmla="*/ 1790700 w 1917700"/>
                <a:gd name="connsiteY1" fmla="*/ 463550 h 863600"/>
                <a:gd name="connsiteX2" fmla="*/ 527050 w 1917700"/>
                <a:gd name="connsiteY2" fmla="*/ 857250 h 863600"/>
                <a:gd name="connsiteX3" fmla="*/ 0 w 1917700"/>
                <a:gd name="connsiteY3" fmla="*/ 863600 h 863600"/>
                <a:gd name="connsiteX4" fmla="*/ 1917700 w 1917700"/>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700" h="863600">
                  <a:moveTo>
                    <a:pt x="1917700" y="0"/>
                  </a:moveTo>
                  <a:lnTo>
                    <a:pt x="1790700" y="463550"/>
                  </a:lnTo>
                  <a:lnTo>
                    <a:pt x="527050" y="857250"/>
                  </a:lnTo>
                  <a:lnTo>
                    <a:pt x="0" y="863600"/>
                  </a:lnTo>
                  <a:lnTo>
                    <a:pt x="191770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任意多边形 11"/>
            <p:cNvSpPr/>
            <p:nvPr/>
          </p:nvSpPr>
          <p:spPr>
            <a:xfrm>
              <a:off x="2298904" y="4576248"/>
              <a:ext cx="1657350" cy="133350"/>
            </a:xfrm>
            <a:custGeom>
              <a:avLst/>
              <a:gdLst>
                <a:gd name="connsiteX0" fmla="*/ 107950 w 1657350"/>
                <a:gd name="connsiteY0" fmla="*/ 133350 h 133350"/>
                <a:gd name="connsiteX1" fmla="*/ 1549400 w 1657350"/>
                <a:gd name="connsiteY1" fmla="*/ 133350 h 133350"/>
                <a:gd name="connsiteX2" fmla="*/ 1657350 w 1657350"/>
                <a:gd name="connsiteY2" fmla="*/ 0 h 133350"/>
                <a:gd name="connsiteX3" fmla="*/ 0 w 1657350"/>
                <a:gd name="connsiteY3" fmla="*/ 12700 h 133350"/>
                <a:gd name="connsiteX4" fmla="*/ 107950 w 1657350"/>
                <a:gd name="connsiteY4" fmla="*/ 133350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0" h="133350">
                  <a:moveTo>
                    <a:pt x="107950" y="133350"/>
                  </a:moveTo>
                  <a:lnTo>
                    <a:pt x="1549400" y="133350"/>
                  </a:lnTo>
                  <a:lnTo>
                    <a:pt x="1657350" y="0"/>
                  </a:lnTo>
                  <a:lnTo>
                    <a:pt x="0" y="12700"/>
                  </a:lnTo>
                  <a:lnTo>
                    <a:pt x="107950" y="13335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圆角矩形 12"/>
            <p:cNvSpPr/>
            <p:nvPr/>
          </p:nvSpPr>
          <p:spPr>
            <a:xfrm>
              <a:off x="2403679" y="4855134"/>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圆角矩形 13"/>
            <p:cNvSpPr/>
            <p:nvPr/>
          </p:nvSpPr>
          <p:spPr>
            <a:xfrm>
              <a:off x="2403679" y="5060201"/>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圆角矩形 14"/>
            <p:cNvSpPr/>
            <p:nvPr/>
          </p:nvSpPr>
          <p:spPr>
            <a:xfrm>
              <a:off x="2403679" y="5265268"/>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圆角矩形 15"/>
            <p:cNvSpPr/>
            <p:nvPr/>
          </p:nvSpPr>
          <p:spPr>
            <a:xfrm>
              <a:off x="2403679" y="5470335"/>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任意多边形 16"/>
            <p:cNvSpPr/>
            <p:nvPr/>
          </p:nvSpPr>
          <p:spPr>
            <a:xfrm>
              <a:off x="2403679" y="5645666"/>
              <a:ext cx="1447800" cy="393786"/>
            </a:xfrm>
            <a:custGeom>
              <a:avLst/>
              <a:gdLst>
                <a:gd name="connsiteX0" fmla="*/ 271858 w 1447800"/>
                <a:gd name="connsiteY0" fmla="*/ 259555 h 393786"/>
                <a:gd name="connsiteX1" fmla="*/ 1166414 w 1447800"/>
                <a:gd name="connsiteY1" fmla="*/ 259555 h 393786"/>
                <a:gd name="connsiteX2" fmla="*/ 1166414 w 1447800"/>
                <a:gd name="connsiteY2" fmla="*/ 357913 h 393786"/>
                <a:gd name="connsiteX3" fmla="*/ 1130541 w 1447800"/>
                <a:gd name="connsiteY3" fmla="*/ 393786 h 393786"/>
                <a:gd name="connsiteX4" fmla="*/ 307731 w 1447800"/>
                <a:gd name="connsiteY4" fmla="*/ 393786 h 393786"/>
                <a:gd name="connsiteX5" fmla="*/ 271858 w 1447800"/>
                <a:gd name="connsiteY5" fmla="*/ 357913 h 393786"/>
                <a:gd name="connsiteX6" fmla="*/ 36806 w 1447800"/>
                <a:gd name="connsiteY6" fmla="*/ 81519 h 393786"/>
                <a:gd name="connsiteX7" fmla="*/ 1410994 w 1447800"/>
                <a:gd name="connsiteY7" fmla="*/ 81519 h 393786"/>
                <a:gd name="connsiteX8" fmla="*/ 1250225 w 1447800"/>
                <a:gd name="connsiteY8" fmla="*/ 259555 h 393786"/>
                <a:gd name="connsiteX9" fmla="*/ 1166414 w 1447800"/>
                <a:gd name="connsiteY9" fmla="*/ 259555 h 393786"/>
                <a:gd name="connsiteX10" fmla="*/ 1166414 w 1447800"/>
                <a:gd name="connsiteY10" fmla="*/ 214420 h 393786"/>
                <a:gd name="connsiteX11" fmla="*/ 1130541 w 1447800"/>
                <a:gd name="connsiteY11" fmla="*/ 178547 h 393786"/>
                <a:gd name="connsiteX12" fmla="*/ 307731 w 1447800"/>
                <a:gd name="connsiteY12" fmla="*/ 178547 h 393786"/>
                <a:gd name="connsiteX13" fmla="*/ 271858 w 1447800"/>
                <a:gd name="connsiteY13" fmla="*/ 214420 h 393786"/>
                <a:gd name="connsiteX14" fmla="*/ 271858 w 1447800"/>
                <a:gd name="connsiteY14" fmla="*/ 259555 h 393786"/>
                <a:gd name="connsiteX15" fmla="*/ 197575 w 1447800"/>
                <a:gd name="connsiteY15" fmla="*/ 259555 h 393786"/>
                <a:gd name="connsiteX16" fmla="*/ 1447800 w 1447800"/>
                <a:gd name="connsiteY16" fmla="*/ 40759 h 393786"/>
                <a:gd name="connsiteX17" fmla="*/ 1447800 w 1447800"/>
                <a:gd name="connsiteY17" fmla="*/ 67932 h 393786"/>
                <a:gd name="connsiteX18" fmla="*/ 1434213 w 1447800"/>
                <a:gd name="connsiteY18" fmla="*/ 81519 h 393786"/>
                <a:gd name="connsiteX19" fmla="*/ 1410994 w 1447800"/>
                <a:gd name="connsiteY19" fmla="*/ 81519 h 393786"/>
                <a:gd name="connsiteX20" fmla="*/ 0 w 1447800"/>
                <a:gd name="connsiteY20" fmla="*/ 40759 h 393786"/>
                <a:gd name="connsiteX21" fmla="*/ 36806 w 1447800"/>
                <a:gd name="connsiteY21" fmla="*/ 81519 h 393786"/>
                <a:gd name="connsiteX22" fmla="*/ 13587 w 1447800"/>
                <a:gd name="connsiteY22" fmla="*/ 81519 h 393786"/>
                <a:gd name="connsiteX23" fmla="*/ 0 w 1447800"/>
                <a:gd name="connsiteY23" fmla="*/ 67932 h 393786"/>
                <a:gd name="connsiteX24" fmla="*/ 13587 w 1447800"/>
                <a:gd name="connsiteY24" fmla="*/ 0 h 393786"/>
                <a:gd name="connsiteX25" fmla="*/ 1434213 w 1447800"/>
                <a:gd name="connsiteY25" fmla="*/ 0 h 393786"/>
                <a:gd name="connsiteX26" fmla="*/ 1447800 w 1447800"/>
                <a:gd name="connsiteY26" fmla="*/ 13587 h 393786"/>
                <a:gd name="connsiteX27" fmla="*/ 1447800 w 1447800"/>
                <a:gd name="connsiteY27" fmla="*/ 40759 h 393786"/>
                <a:gd name="connsiteX28" fmla="*/ 0 w 1447800"/>
                <a:gd name="connsiteY28" fmla="*/ 40759 h 393786"/>
                <a:gd name="connsiteX29" fmla="*/ 0 w 1447800"/>
                <a:gd name="connsiteY29" fmla="*/ 13587 h 393786"/>
                <a:gd name="connsiteX30" fmla="*/ 13587 w 1447800"/>
                <a:gd name="connsiteY30" fmla="*/ 0 h 39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47800" h="393786">
                  <a:moveTo>
                    <a:pt x="271858" y="259555"/>
                  </a:moveTo>
                  <a:lnTo>
                    <a:pt x="1166414" y="259555"/>
                  </a:lnTo>
                  <a:lnTo>
                    <a:pt x="1166414" y="357913"/>
                  </a:lnTo>
                  <a:cubicBezTo>
                    <a:pt x="1166414" y="377725"/>
                    <a:pt x="1150353" y="393786"/>
                    <a:pt x="1130541" y="393786"/>
                  </a:cubicBezTo>
                  <a:lnTo>
                    <a:pt x="307731" y="393786"/>
                  </a:lnTo>
                  <a:cubicBezTo>
                    <a:pt x="287919" y="393786"/>
                    <a:pt x="271858" y="377725"/>
                    <a:pt x="271858" y="357913"/>
                  </a:cubicBezTo>
                  <a:close/>
                  <a:moveTo>
                    <a:pt x="36806" y="81519"/>
                  </a:moveTo>
                  <a:lnTo>
                    <a:pt x="1410994" y="81519"/>
                  </a:lnTo>
                  <a:lnTo>
                    <a:pt x="1250225" y="259555"/>
                  </a:lnTo>
                  <a:lnTo>
                    <a:pt x="1166414" y="259555"/>
                  </a:lnTo>
                  <a:lnTo>
                    <a:pt x="1166414" y="214420"/>
                  </a:lnTo>
                  <a:cubicBezTo>
                    <a:pt x="1166414" y="194608"/>
                    <a:pt x="1150353" y="178547"/>
                    <a:pt x="1130541" y="178547"/>
                  </a:cubicBezTo>
                  <a:lnTo>
                    <a:pt x="307731" y="178547"/>
                  </a:lnTo>
                  <a:cubicBezTo>
                    <a:pt x="287919" y="178547"/>
                    <a:pt x="271858" y="194608"/>
                    <a:pt x="271858" y="214420"/>
                  </a:cubicBezTo>
                  <a:lnTo>
                    <a:pt x="271858" y="259555"/>
                  </a:lnTo>
                  <a:lnTo>
                    <a:pt x="197575" y="259555"/>
                  </a:lnTo>
                  <a:close/>
                  <a:moveTo>
                    <a:pt x="1447800" y="40759"/>
                  </a:moveTo>
                  <a:lnTo>
                    <a:pt x="1447800" y="67932"/>
                  </a:lnTo>
                  <a:cubicBezTo>
                    <a:pt x="1447800" y="75436"/>
                    <a:pt x="1441717" y="81519"/>
                    <a:pt x="1434213" y="81519"/>
                  </a:cubicBezTo>
                  <a:lnTo>
                    <a:pt x="1410994" y="81519"/>
                  </a:lnTo>
                  <a:close/>
                  <a:moveTo>
                    <a:pt x="0" y="40759"/>
                  </a:moveTo>
                  <a:lnTo>
                    <a:pt x="36806" y="81519"/>
                  </a:lnTo>
                  <a:lnTo>
                    <a:pt x="13587" y="81519"/>
                  </a:lnTo>
                  <a:cubicBezTo>
                    <a:pt x="6083" y="81519"/>
                    <a:pt x="0" y="75436"/>
                    <a:pt x="0" y="67932"/>
                  </a:cubicBezTo>
                  <a:close/>
                  <a:moveTo>
                    <a:pt x="13587" y="0"/>
                  </a:moveTo>
                  <a:lnTo>
                    <a:pt x="1434213" y="0"/>
                  </a:lnTo>
                  <a:cubicBezTo>
                    <a:pt x="1441717" y="0"/>
                    <a:pt x="1447800" y="6083"/>
                    <a:pt x="1447800" y="13587"/>
                  </a:cubicBezTo>
                  <a:lnTo>
                    <a:pt x="1447800" y="40759"/>
                  </a:lnTo>
                  <a:lnTo>
                    <a:pt x="0" y="40759"/>
                  </a:lnTo>
                  <a:lnTo>
                    <a:pt x="0" y="13587"/>
                  </a:lnTo>
                  <a:cubicBezTo>
                    <a:pt x="0" y="6083"/>
                    <a:pt x="6083" y="0"/>
                    <a:pt x="13587" y="0"/>
                  </a:cubicBezTo>
                  <a:close/>
                </a:path>
              </a:pathLst>
            </a:cu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梯形 19"/>
            <p:cNvSpPr/>
            <p:nvPr/>
          </p:nvSpPr>
          <p:spPr>
            <a:xfrm rot="19013191">
              <a:off x="828125" y="877017"/>
              <a:ext cx="2652572" cy="776999"/>
            </a:xfrm>
            <a:prstGeom prst="trapezoid">
              <a:avLst>
                <a:gd name="adj" fmla="val 95892"/>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任意多边形 18"/>
            <p:cNvSpPr/>
            <p:nvPr/>
          </p:nvSpPr>
          <p:spPr>
            <a:xfrm>
              <a:off x="3319463" y="461963"/>
              <a:ext cx="1081087" cy="528637"/>
            </a:xfrm>
            <a:custGeom>
              <a:avLst/>
              <a:gdLst>
                <a:gd name="connsiteX0" fmla="*/ 1081087 w 1081087"/>
                <a:gd name="connsiteY0" fmla="*/ 471487 h 528637"/>
                <a:gd name="connsiteX1" fmla="*/ 109537 w 1081087"/>
                <a:gd name="connsiteY1" fmla="*/ 0 h 528637"/>
                <a:gd name="connsiteX2" fmla="*/ 0 w 1081087"/>
                <a:gd name="connsiteY2" fmla="*/ 109537 h 528637"/>
                <a:gd name="connsiteX3" fmla="*/ 966787 w 1081087"/>
                <a:gd name="connsiteY3" fmla="*/ 509587 h 528637"/>
                <a:gd name="connsiteX4" fmla="*/ 1009650 w 1081087"/>
                <a:gd name="connsiteY4" fmla="*/ 528637 h 528637"/>
                <a:gd name="connsiteX5" fmla="*/ 1081087 w 1081087"/>
                <a:gd name="connsiteY5" fmla="*/ 47148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1087" h="528637">
                  <a:moveTo>
                    <a:pt x="1081087" y="471487"/>
                  </a:moveTo>
                  <a:lnTo>
                    <a:pt x="109537" y="0"/>
                  </a:lnTo>
                  <a:lnTo>
                    <a:pt x="0" y="109537"/>
                  </a:lnTo>
                  <a:lnTo>
                    <a:pt x="966787" y="509587"/>
                  </a:lnTo>
                  <a:lnTo>
                    <a:pt x="1009650" y="528637"/>
                  </a:lnTo>
                  <a:lnTo>
                    <a:pt x="1081087" y="471487"/>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任意多边形 19"/>
            <p:cNvSpPr/>
            <p:nvPr/>
          </p:nvSpPr>
          <p:spPr>
            <a:xfrm>
              <a:off x="1414463" y="1938338"/>
              <a:ext cx="504825" cy="676275"/>
            </a:xfrm>
            <a:custGeom>
              <a:avLst/>
              <a:gdLst>
                <a:gd name="connsiteX0" fmla="*/ 438150 w 504825"/>
                <a:gd name="connsiteY0" fmla="*/ 0 h 676275"/>
                <a:gd name="connsiteX1" fmla="*/ 0 w 504825"/>
                <a:gd name="connsiteY1" fmla="*/ 595312 h 676275"/>
                <a:gd name="connsiteX2" fmla="*/ 4762 w 504825"/>
                <a:gd name="connsiteY2" fmla="*/ 676275 h 676275"/>
                <a:gd name="connsiteX3" fmla="*/ 504825 w 504825"/>
                <a:gd name="connsiteY3" fmla="*/ 128587 h 676275"/>
                <a:gd name="connsiteX4" fmla="*/ 438150 w 504825"/>
                <a:gd name="connsiteY4" fmla="*/ 0 h 676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76275">
                  <a:moveTo>
                    <a:pt x="438150" y="0"/>
                  </a:moveTo>
                  <a:lnTo>
                    <a:pt x="0" y="595312"/>
                  </a:lnTo>
                  <a:lnTo>
                    <a:pt x="4762" y="676275"/>
                  </a:lnTo>
                  <a:lnTo>
                    <a:pt x="504825" y="128587"/>
                  </a:lnTo>
                  <a:lnTo>
                    <a:pt x="438150" y="0"/>
                  </a:lnTo>
                  <a:close/>
                </a:path>
              </a:pathLst>
            </a:cu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3" name="矩形 22"/>
          <p:cNvSpPr/>
          <p:nvPr/>
        </p:nvSpPr>
        <p:spPr>
          <a:xfrm>
            <a:off x="5191421" y="1772303"/>
            <a:ext cx="5761893" cy="2162515"/>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理论意义</a:t>
            </a:r>
            <a:endPar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600"/>
              </a:spcAft>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本项目探索视觉大语言模型赋能传统组合定位算法的新路径，将环境语义理解引入多传感器融合链路，构建</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“环境感知</a:t>
            </a:r>
            <a:r>
              <a:rPr lang="en-US" altLang="zh-CN"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信号预测</a:t>
            </a:r>
            <a:r>
              <a:rPr lang="en-US" altLang="zh-CN"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权重优化”</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的技术闭环。突破传统方法依赖固定权重或事后误差补偿的局限，为多传感器融合提供了</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语义层面的先验信息</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，丰富了智能驾驶定位系统的理论框架与方法体系。</a:t>
            </a: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5191421" y="3905861"/>
            <a:ext cx="5761893" cy="2162515"/>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实践意义</a:t>
            </a:r>
            <a:endPar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600"/>
              </a:spcAft>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通过视觉大语言模型对行驶环境进行深度解析，本项目实现了传感器融合权重的</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动态自适应调整</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，可显著提升自动驾驶车辆在隧道、雨雾、夜间等复杂场景下的</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定位鲁棒性与精度</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。未来能应用于智能汽车前装市场、特种车辆导航、智能农机等场景，预计可</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降低城市道路事故率</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15%-20%</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，同时</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优化路径规划</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减少能源消耗</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助力“双碳”目标</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实现。</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6" name="图片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ircle(in)">
                                      <p:cBhvr>
                                        <p:cTn id="7" dur="1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circle(in)">
                                      <p:cBhvr>
                                        <p:cTn id="12"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1046480" y="1600199"/>
            <a:ext cx="10099040" cy="4708638"/>
          </a:xfrm>
          <a:prstGeom prst="rect">
            <a:avLst/>
          </a:prstGeom>
          <a:noFill/>
          <a:ln w="3175">
            <a:solidFill>
              <a:srgbClr val="911F2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9" name="任意多边形: 形状 8"/>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1" name="矩形 10"/>
          <p:cNvSpPr/>
          <p:nvPr/>
        </p:nvSpPr>
        <p:spPr>
          <a:xfrm>
            <a:off x="1359000" y="647713"/>
            <a:ext cx="2771913"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项目技术流程</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4" name="图片 33"/>
          <p:cNvPicPr>
            <a:picLocks noChangeAspect="1"/>
          </p:cNvPicPr>
          <p:nvPr/>
        </p:nvPicPr>
        <p:blipFill>
          <a:blip r:embed="rId5"/>
          <a:srcRect l="2621" t="5412" r="5612" b="8983"/>
          <a:stretch>
            <a:fillRect/>
          </a:stretch>
        </p:blipFill>
        <p:spPr>
          <a:xfrm>
            <a:off x="1814146" y="1653175"/>
            <a:ext cx="8420100" cy="460268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circle(in)">
                                      <p:cBhvr>
                                        <p:cTn id="7"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
        <p:nvSpPr>
          <p:cNvPr id="3" name="矩形 2"/>
          <p:cNvSpPr/>
          <p:nvPr/>
        </p:nvSpPr>
        <p:spPr>
          <a:xfrm>
            <a:off x="3229708" y="3271730"/>
            <a:ext cx="5750169"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kumimoji="0" lang="zh-CN" altLang="en-US"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项目</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进程</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519" y="1282143"/>
            <a:ext cx="618131" cy="618131"/>
          </a:xfrm>
          <a:prstGeom prst="rect">
            <a:avLst/>
          </a:prstGeom>
        </p:spPr>
      </p:pic>
      <p:sp>
        <p:nvSpPr>
          <p:cNvPr id="5" name="矩形 4"/>
          <p:cNvSpPr/>
          <p:nvPr/>
        </p:nvSpPr>
        <p:spPr>
          <a:xfrm>
            <a:off x="4212075" y="1957195"/>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流程图: 接点 1"/>
          <p:cNvSpPr/>
          <p:nvPr/>
        </p:nvSpPr>
        <p:spPr>
          <a:xfrm>
            <a:off x="-484391" y="680980"/>
            <a:ext cx="4793672" cy="5496039"/>
          </a:xfrm>
          <a:prstGeom prst="flowChartConnector">
            <a:avLst/>
          </a:prstGeom>
          <a:noFill/>
          <a:ln w="31750" cmpd="sng">
            <a:gradFill flip="none" rotWithShape="1">
              <a:gsLst>
                <a:gs pos="100000">
                  <a:schemeClr val="accent1">
                    <a:lumMod val="75000"/>
                  </a:schemeClr>
                </a:gs>
                <a:gs pos="83000">
                  <a:schemeClr val="accent1">
                    <a:lumMod val="60000"/>
                    <a:lumOff val="40000"/>
                  </a:schemeClr>
                </a:gs>
                <a:gs pos="52000">
                  <a:schemeClr val="bg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139168" y="2262800"/>
            <a:ext cx="2205643" cy="2158538"/>
          </a:xfrm>
          <a:prstGeom prst="ellipse">
            <a:avLst/>
          </a:prstGeom>
          <a:solidFill>
            <a:srgbClr val="005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304991" y="3007205"/>
            <a:ext cx="1873995" cy="581057"/>
          </a:xfrm>
          <a:prstGeom prst="rect">
            <a:avLst/>
          </a:prstGeom>
          <a:noFill/>
        </p:spPr>
        <p:txBody>
          <a:bodyPr wrap="square" rtlCol="0">
            <a:spAutoFit/>
          </a:bodyPr>
          <a:lstStyle/>
          <a:p>
            <a:pPr algn="ctr">
              <a:lnSpc>
                <a:spcPct val="150000"/>
              </a:lnSpc>
              <a:spcAft>
                <a:spcPts val="600"/>
              </a:spcAft>
            </a:pP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项目进程</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a:off x="3474435" y="1139629"/>
            <a:ext cx="247996" cy="58105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文本框 37"/>
          <p:cNvSpPr txBox="1"/>
          <p:nvPr/>
        </p:nvSpPr>
        <p:spPr>
          <a:xfrm>
            <a:off x="1344085" y="1206102"/>
            <a:ext cx="2076317" cy="646331"/>
          </a:xfrm>
          <a:prstGeom prst="rect">
            <a:avLst/>
          </a:prstGeom>
          <a:noFill/>
        </p:spPr>
        <p:txBody>
          <a:bodyPr wrap="square" rtlCol="0">
            <a:spAutoFit/>
          </a:bodyPr>
          <a:lstStyle/>
          <a:p>
            <a:pPr algn="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 </a:t>
            </a:r>
            <a:r>
              <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2025.4~2025.7</a:t>
            </a:r>
            <a:endParaRPr lang="zh-CN" altLang="en-US" dirty="0"/>
          </a:p>
        </p:txBody>
      </p:sp>
      <p:sp>
        <p:nvSpPr>
          <p:cNvPr id="39" name="矩形 38"/>
          <p:cNvSpPr/>
          <p:nvPr/>
        </p:nvSpPr>
        <p:spPr>
          <a:xfrm>
            <a:off x="4123155" y="2352463"/>
            <a:ext cx="247996" cy="499624"/>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0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000"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文本框 39"/>
          <p:cNvSpPr txBox="1"/>
          <p:nvPr/>
        </p:nvSpPr>
        <p:spPr>
          <a:xfrm>
            <a:off x="2195127" y="2418936"/>
            <a:ext cx="1873995" cy="584775"/>
          </a:xfrm>
          <a:prstGeom prst="rect">
            <a:avLst/>
          </a:prstGeom>
          <a:noFill/>
        </p:spPr>
        <p:txBody>
          <a:bodyPr wrap="square" rtlCol="0">
            <a:spAutoFit/>
          </a:bodyPr>
          <a:lstStyle/>
          <a:p>
            <a:pPr algn="r"/>
            <a:r>
              <a:rPr lang="zh-CN" altLang="en-US" sz="16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阶段二 </a:t>
            </a:r>
            <a:r>
              <a:rPr lang="en-US" altLang="zh-CN" sz="16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2025.8~2025.11</a:t>
            </a:r>
            <a:endParaRPr lang="zh-CN" altLang="en-US" sz="1600" dirty="0">
              <a:solidFill>
                <a:schemeClr val="tx2">
                  <a:lumMod val="60000"/>
                  <a:lumOff val="40000"/>
                </a:schemeClr>
              </a:solidFill>
            </a:endParaRPr>
          </a:p>
        </p:txBody>
      </p:sp>
      <p:sp>
        <p:nvSpPr>
          <p:cNvPr id="41" name="矩形 40"/>
          <p:cNvSpPr/>
          <p:nvPr/>
        </p:nvSpPr>
        <p:spPr>
          <a:xfrm>
            <a:off x="4177187" y="3766123"/>
            <a:ext cx="247996" cy="499624"/>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0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000"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文本框 41"/>
          <p:cNvSpPr txBox="1"/>
          <p:nvPr/>
        </p:nvSpPr>
        <p:spPr>
          <a:xfrm>
            <a:off x="2313007" y="3832596"/>
            <a:ext cx="1810148" cy="523220"/>
          </a:xfrm>
          <a:prstGeom prst="rect">
            <a:avLst/>
          </a:prstGeom>
          <a:noFill/>
        </p:spPr>
        <p:txBody>
          <a:bodyPr wrap="square" rtlCol="0">
            <a:spAutoFit/>
          </a:bodyPr>
          <a:lstStyle/>
          <a:p>
            <a:pPr algn="r"/>
            <a:r>
              <a:rPr lang="zh-CN" altLang="en-US" sz="14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阶段三 </a:t>
            </a:r>
            <a:r>
              <a:rPr lang="en-US" altLang="zh-CN" sz="14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2025.12~2026.1</a:t>
            </a:r>
            <a:endParaRPr lang="zh-CN" altLang="en-US" sz="1400" dirty="0">
              <a:solidFill>
                <a:schemeClr val="tx2">
                  <a:lumMod val="60000"/>
                  <a:lumOff val="40000"/>
                </a:schemeClr>
              </a:solidFill>
            </a:endParaRPr>
          </a:p>
        </p:txBody>
      </p:sp>
      <p:sp>
        <p:nvSpPr>
          <p:cNvPr id="43" name="矩形 42"/>
          <p:cNvSpPr/>
          <p:nvPr/>
        </p:nvSpPr>
        <p:spPr>
          <a:xfrm>
            <a:off x="3458374" y="5128678"/>
            <a:ext cx="247996" cy="499624"/>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000" b="1" dirty="0">
                <a:solidFill>
                  <a:schemeClr val="tx2">
                    <a:lumMod val="40000"/>
                    <a:lumOff val="6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000" dirty="0">
              <a:solidFill>
                <a:schemeClr val="tx2">
                  <a:lumMod val="40000"/>
                  <a:lumOff val="6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文本框 43"/>
          <p:cNvSpPr txBox="1"/>
          <p:nvPr/>
        </p:nvSpPr>
        <p:spPr>
          <a:xfrm>
            <a:off x="1780588" y="5195151"/>
            <a:ext cx="1623753" cy="523220"/>
          </a:xfrm>
          <a:prstGeom prst="rect">
            <a:avLst/>
          </a:prstGeom>
          <a:noFill/>
        </p:spPr>
        <p:txBody>
          <a:bodyPr wrap="square" rtlCol="0">
            <a:spAutoFit/>
          </a:bodyPr>
          <a:lstStyle/>
          <a:p>
            <a:pPr algn="r"/>
            <a:r>
              <a:rPr lang="zh-CN" altLang="en-US" sz="1400" b="1" dirty="0">
                <a:solidFill>
                  <a:schemeClr val="tx2">
                    <a:lumMod val="40000"/>
                    <a:lumOff val="6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阶段四 </a:t>
            </a:r>
            <a:r>
              <a:rPr lang="en-US" altLang="zh-CN" sz="1400" b="1" dirty="0">
                <a:solidFill>
                  <a:schemeClr val="tx2">
                    <a:lumMod val="40000"/>
                    <a:lumOff val="6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2026.2~2026.3</a:t>
            </a:r>
            <a:endParaRPr lang="zh-CN" altLang="en-US" sz="1400" dirty="0">
              <a:solidFill>
                <a:schemeClr val="tx2">
                  <a:lumMod val="40000"/>
                  <a:lumOff val="60000"/>
                </a:schemeClr>
              </a:solidFill>
            </a:endParaRPr>
          </a:p>
        </p:txBody>
      </p:sp>
      <p:sp>
        <p:nvSpPr>
          <p:cNvPr id="3" name="矩形 2"/>
          <p:cNvSpPr/>
          <p:nvPr/>
        </p:nvSpPr>
        <p:spPr>
          <a:xfrm>
            <a:off x="4496622" y="1581701"/>
            <a:ext cx="3469016" cy="1023742"/>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项目首先对国内外主流视觉语言模型进行系统性调研，从部署成本、推理速度、场景适配性等多维度进行评估。</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组合 5"/>
          <p:cNvGrpSpPr/>
          <p:nvPr/>
        </p:nvGrpSpPr>
        <p:grpSpPr>
          <a:xfrm>
            <a:off x="4540957" y="943555"/>
            <a:ext cx="3008539" cy="590651"/>
            <a:chOff x="1929221" y="2315922"/>
            <a:chExt cx="3008539" cy="590651"/>
          </a:xfrm>
        </p:grpSpPr>
        <p:sp>
          <p:nvSpPr>
            <p:cNvPr id="7" name="任意多边形: 形状 6"/>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矩形 9"/>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主流大模型调研</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12" name="矩形 11"/>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矩形 12"/>
          <p:cNvSpPr/>
          <p:nvPr/>
        </p:nvSpPr>
        <p:spPr>
          <a:xfrm>
            <a:off x="4540957" y="4281395"/>
            <a:ext cx="3412313" cy="1346907"/>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基于</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Qwen3-VL</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在轻量化部署、推理速度和驾驶场景识别准确率上综合表现均衡的优势，项目采用</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Docker</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容器解决依赖问题，成功将</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Qwen3-VL</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进行本地部署。</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4" name="组合 13"/>
          <p:cNvGrpSpPr/>
          <p:nvPr/>
        </p:nvGrpSpPr>
        <p:grpSpPr>
          <a:xfrm>
            <a:off x="4585293" y="3643249"/>
            <a:ext cx="3008539" cy="590651"/>
            <a:chOff x="1929221" y="2315922"/>
            <a:chExt cx="3008539" cy="590651"/>
          </a:xfrm>
        </p:grpSpPr>
        <p:sp>
          <p:nvSpPr>
            <p:cNvPr id="16" name="任意多边形: 形状 15"/>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本地部署大模型</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pic>
        <p:nvPicPr>
          <p:cNvPr id="20" name="图片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20851" y="552519"/>
            <a:ext cx="2132628" cy="2962405"/>
          </a:xfrm>
          <a:prstGeom prst="rect">
            <a:avLst/>
          </a:prstGeom>
        </p:spPr>
      </p:pic>
      <p:pic>
        <p:nvPicPr>
          <p:cNvPr id="22" name="图片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962775" y="552519"/>
            <a:ext cx="2090057" cy="2924558"/>
          </a:xfrm>
          <a:prstGeom prst="rect">
            <a:avLst/>
          </a:prstGeom>
        </p:spPr>
      </p:pic>
      <p:pic>
        <p:nvPicPr>
          <p:cNvPr id="24" name="图片 23"/>
          <p:cNvPicPr>
            <a:picLocks noChangeAspect="1"/>
          </p:cNvPicPr>
          <p:nvPr/>
        </p:nvPicPr>
        <p:blipFill>
          <a:blip r:embed="rId8"/>
          <a:stretch>
            <a:fillRect/>
          </a:stretch>
        </p:blipFill>
        <p:spPr>
          <a:xfrm>
            <a:off x="7994432" y="4015935"/>
            <a:ext cx="4058400" cy="22256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5076" y="1282143"/>
            <a:ext cx="618131" cy="618131"/>
          </a:xfrm>
          <a:prstGeom prst="rect">
            <a:avLst/>
          </a:prstGeom>
        </p:spPr>
      </p:pic>
      <p:sp>
        <p:nvSpPr>
          <p:cNvPr id="5" name="矩形 4"/>
          <p:cNvSpPr/>
          <p:nvPr/>
        </p:nvSpPr>
        <p:spPr>
          <a:xfrm>
            <a:off x="4310900" y="1957195"/>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流程图: 接点 1"/>
          <p:cNvSpPr/>
          <p:nvPr/>
        </p:nvSpPr>
        <p:spPr>
          <a:xfrm>
            <a:off x="-489834" y="680980"/>
            <a:ext cx="4793672" cy="5496039"/>
          </a:xfrm>
          <a:prstGeom prst="flowChartConnector">
            <a:avLst/>
          </a:prstGeom>
          <a:noFill/>
          <a:ln w="31750" cmpd="sng">
            <a:gradFill flip="none" rotWithShape="1">
              <a:gsLst>
                <a:gs pos="100000">
                  <a:schemeClr val="accent1">
                    <a:lumMod val="75000"/>
                  </a:schemeClr>
                </a:gs>
                <a:gs pos="83000">
                  <a:schemeClr val="accent1">
                    <a:lumMod val="60000"/>
                    <a:lumOff val="40000"/>
                  </a:schemeClr>
                </a:gs>
                <a:gs pos="52000">
                  <a:schemeClr val="bg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133725" y="2262800"/>
            <a:ext cx="2205643" cy="2158538"/>
          </a:xfrm>
          <a:prstGeom prst="ellipse">
            <a:avLst/>
          </a:prstGeom>
          <a:solidFill>
            <a:srgbClr val="005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299548" y="3007205"/>
            <a:ext cx="1873995" cy="581057"/>
          </a:xfrm>
          <a:prstGeom prst="rect">
            <a:avLst/>
          </a:prstGeom>
          <a:noFill/>
        </p:spPr>
        <p:txBody>
          <a:bodyPr wrap="square" rtlCol="0">
            <a:spAutoFit/>
          </a:bodyPr>
          <a:lstStyle/>
          <a:p>
            <a:pPr algn="ctr">
              <a:lnSpc>
                <a:spcPct val="150000"/>
              </a:lnSpc>
              <a:spcAft>
                <a:spcPts val="600"/>
              </a:spcAft>
            </a:pP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项目进程</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a:off x="3468992" y="1139629"/>
            <a:ext cx="247996" cy="58105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文本框 37"/>
          <p:cNvSpPr txBox="1"/>
          <p:nvPr/>
        </p:nvSpPr>
        <p:spPr>
          <a:xfrm>
            <a:off x="1338642" y="1206102"/>
            <a:ext cx="2076317" cy="646331"/>
          </a:xfrm>
          <a:prstGeom prst="rect">
            <a:avLst/>
          </a:prstGeom>
          <a:noFill/>
        </p:spPr>
        <p:txBody>
          <a:bodyPr wrap="square" rtlCol="0">
            <a:spAutoFit/>
          </a:bodyPr>
          <a:lstStyle/>
          <a:p>
            <a:pPr algn="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阶段二 </a:t>
            </a:r>
            <a:r>
              <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2025.8~2025.11</a:t>
            </a:r>
            <a:endParaRPr lang="zh-CN" altLang="en-US" dirty="0"/>
          </a:p>
        </p:txBody>
      </p:sp>
      <p:sp>
        <p:nvSpPr>
          <p:cNvPr id="39" name="矩形 38"/>
          <p:cNvSpPr/>
          <p:nvPr/>
        </p:nvSpPr>
        <p:spPr>
          <a:xfrm>
            <a:off x="4117712" y="2352463"/>
            <a:ext cx="247996" cy="499624"/>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0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000"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文本框 39"/>
          <p:cNvSpPr txBox="1"/>
          <p:nvPr/>
        </p:nvSpPr>
        <p:spPr>
          <a:xfrm>
            <a:off x="2189684" y="2418936"/>
            <a:ext cx="1873995" cy="584775"/>
          </a:xfrm>
          <a:prstGeom prst="rect">
            <a:avLst/>
          </a:prstGeom>
          <a:noFill/>
        </p:spPr>
        <p:txBody>
          <a:bodyPr wrap="square" rtlCol="0">
            <a:spAutoFit/>
          </a:bodyPr>
          <a:lstStyle/>
          <a:p>
            <a:pPr algn="r"/>
            <a:r>
              <a:rPr lang="zh-CN" altLang="en-US" sz="16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阶段三 </a:t>
            </a:r>
            <a:r>
              <a:rPr lang="en-US" altLang="zh-CN" sz="16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2025.12~2026.1</a:t>
            </a:r>
            <a:endParaRPr lang="zh-CN" altLang="en-US" sz="1600" dirty="0">
              <a:solidFill>
                <a:schemeClr val="tx2">
                  <a:lumMod val="60000"/>
                  <a:lumOff val="40000"/>
                </a:schemeClr>
              </a:solidFill>
            </a:endParaRPr>
          </a:p>
        </p:txBody>
      </p:sp>
      <p:sp>
        <p:nvSpPr>
          <p:cNvPr id="41" name="矩形 40"/>
          <p:cNvSpPr/>
          <p:nvPr/>
        </p:nvSpPr>
        <p:spPr>
          <a:xfrm>
            <a:off x="4171744" y="3766123"/>
            <a:ext cx="247996" cy="458908"/>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文本框 41"/>
          <p:cNvSpPr txBox="1"/>
          <p:nvPr/>
        </p:nvSpPr>
        <p:spPr>
          <a:xfrm>
            <a:off x="2307564" y="3832596"/>
            <a:ext cx="1810148" cy="523220"/>
          </a:xfrm>
          <a:prstGeom prst="rect">
            <a:avLst/>
          </a:prstGeom>
          <a:noFill/>
        </p:spPr>
        <p:txBody>
          <a:bodyPr wrap="square" rtlCol="0">
            <a:spAutoFit/>
          </a:bodyPr>
          <a:lstStyle/>
          <a:p>
            <a:pPr algn="r"/>
            <a:r>
              <a:rPr lang="zh-CN" altLang="en-US" sz="14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阶段四 </a:t>
            </a:r>
            <a:r>
              <a:rPr lang="en-US" altLang="zh-CN" sz="14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2026.2~2026.3</a:t>
            </a:r>
            <a:endParaRPr lang="zh-CN" altLang="en-US" sz="1400" dirty="0">
              <a:solidFill>
                <a:schemeClr val="tx2">
                  <a:lumMod val="60000"/>
                  <a:lumOff val="40000"/>
                </a:schemeClr>
              </a:solidFill>
            </a:endParaRPr>
          </a:p>
        </p:txBody>
      </p:sp>
      <p:sp>
        <p:nvSpPr>
          <p:cNvPr id="12" name="矩形 11"/>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4496622" y="1581701"/>
            <a:ext cx="3469016" cy="1023742"/>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编写算法实现将车载摄像头视频转成一帧帧图片，针对不同光照、天气及道路场景，构建高质量图像数据集。</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p:cNvGrpSpPr/>
          <p:nvPr/>
        </p:nvGrpSpPr>
        <p:grpSpPr>
          <a:xfrm>
            <a:off x="4540957" y="943555"/>
            <a:ext cx="3008539" cy="590651"/>
            <a:chOff x="1929221" y="2315922"/>
            <a:chExt cx="3008539" cy="590651"/>
          </a:xfrm>
        </p:grpSpPr>
        <p:sp>
          <p:nvSpPr>
            <p:cNvPr id="21" name="任意多边形: 形状 20"/>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数据采集与处理</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24" name="矩形 23"/>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4540957" y="4281395"/>
            <a:ext cx="3412313" cy="1023742"/>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设计标准化提示词库用于大模型对驾驶环境进行分析，重复实验并确定最优组合策略，将大模型输出的语义信息数字化。</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6" name="组合 25"/>
          <p:cNvGrpSpPr/>
          <p:nvPr/>
        </p:nvGrpSpPr>
        <p:grpSpPr>
          <a:xfrm>
            <a:off x="4585293" y="3643249"/>
            <a:ext cx="3367977" cy="896930"/>
            <a:chOff x="1929221" y="2315922"/>
            <a:chExt cx="3008539" cy="896930"/>
          </a:xfrm>
        </p:grpSpPr>
        <p:sp>
          <p:nvSpPr>
            <p:cNvPr id="27" name="任意多边形: 形状 26"/>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a:xfrm>
              <a:off x="2897086" y="2338445"/>
              <a:ext cx="1800493" cy="874407"/>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提示词设计与优化</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9" name="图片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pic>
        <p:nvPicPr>
          <p:cNvPr id="30" name="图片 29"/>
          <p:cNvPicPr>
            <a:picLocks noChangeAspect="1"/>
          </p:cNvPicPr>
          <p:nvPr/>
        </p:nvPicPr>
        <p:blipFill>
          <a:blip r:embed="rId6"/>
          <a:stretch>
            <a:fillRect/>
          </a:stretch>
        </p:blipFill>
        <p:spPr>
          <a:xfrm>
            <a:off x="8190389" y="3000246"/>
            <a:ext cx="3073205" cy="3284820"/>
          </a:xfrm>
          <a:prstGeom prst="rect">
            <a:avLst/>
          </a:prstGeom>
          <a:blipFill>
            <a:blip r:embed="rId7"/>
            <a:stretch>
              <a:fillRect/>
            </a:stretch>
          </a:blipFill>
        </p:spPr>
      </p:pic>
      <p:pic>
        <p:nvPicPr>
          <p:cNvPr id="32" name="图片 31"/>
          <p:cNvPicPr>
            <a:picLocks noChangeAspect="1"/>
          </p:cNvPicPr>
          <p:nvPr/>
        </p:nvPicPr>
        <p:blipFill>
          <a:blip r:embed="rId8"/>
          <a:stretch>
            <a:fillRect/>
          </a:stretch>
        </p:blipFill>
        <p:spPr>
          <a:xfrm>
            <a:off x="8118823" y="3566782"/>
            <a:ext cx="3844080" cy="2820760"/>
          </a:xfrm>
          <a:prstGeom prst="rect">
            <a:avLst/>
          </a:prstGeom>
        </p:spPr>
      </p:pic>
      <p:pic>
        <p:nvPicPr>
          <p:cNvPr id="33" name="图片 32"/>
          <p:cNvPicPr>
            <a:picLocks noChangeAspect="1"/>
          </p:cNvPicPr>
          <p:nvPr/>
        </p:nvPicPr>
        <p:blipFill>
          <a:blip r:embed="rId9"/>
          <a:stretch>
            <a:fillRect/>
          </a:stretch>
        </p:blipFill>
        <p:spPr>
          <a:xfrm>
            <a:off x="8151360" y="616582"/>
            <a:ext cx="3627465" cy="2178710"/>
          </a:xfrm>
          <a:prstGeom prst="rect">
            <a:avLst/>
          </a:prstGeom>
          <a:blipFill>
            <a:blip r:embed="rId10"/>
            <a:stretch>
              <a:fillRect/>
            </a:stretch>
          </a:blipFill>
        </p:spPr>
      </p:pic>
      <p:pic>
        <p:nvPicPr>
          <p:cNvPr id="34" name="图片 33"/>
          <p:cNvPicPr>
            <a:picLocks noChangeAspect="1"/>
          </p:cNvPicPr>
          <p:nvPr/>
        </p:nvPicPr>
        <p:blipFill>
          <a:blip r:embed="rId11"/>
          <a:stretch>
            <a:fillRect/>
          </a:stretch>
        </p:blipFill>
        <p:spPr>
          <a:xfrm>
            <a:off x="8151360" y="616582"/>
            <a:ext cx="3848934" cy="224243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5076" y="1282143"/>
            <a:ext cx="618131" cy="618131"/>
          </a:xfrm>
          <a:prstGeom prst="rect">
            <a:avLst/>
          </a:prstGeom>
        </p:spPr>
      </p:pic>
      <p:sp>
        <p:nvSpPr>
          <p:cNvPr id="5" name="矩形 4"/>
          <p:cNvSpPr/>
          <p:nvPr/>
        </p:nvSpPr>
        <p:spPr>
          <a:xfrm>
            <a:off x="4379643" y="1509261"/>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流程图: 接点 1"/>
          <p:cNvSpPr/>
          <p:nvPr/>
        </p:nvSpPr>
        <p:spPr>
          <a:xfrm>
            <a:off x="-489834" y="680980"/>
            <a:ext cx="4793672" cy="5496039"/>
          </a:xfrm>
          <a:prstGeom prst="flowChartConnector">
            <a:avLst/>
          </a:prstGeom>
          <a:noFill/>
          <a:ln w="31750" cmpd="sng">
            <a:gradFill flip="none" rotWithShape="1">
              <a:gsLst>
                <a:gs pos="100000">
                  <a:schemeClr val="accent1">
                    <a:lumMod val="75000"/>
                  </a:schemeClr>
                </a:gs>
                <a:gs pos="83000">
                  <a:schemeClr val="accent1">
                    <a:lumMod val="60000"/>
                    <a:lumOff val="40000"/>
                  </a:schemeClr>
                </a:gs>
                <a:gs pos="52000">
                  <a:schemeClr val="bg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133725" y="2262800"/>
            <a:ext cx="2205643" cy="2158538"/>
          </a:xfrm>
          <a:prstGeom prst="ellipse">
            <a:avLst/>
          </a:prstGeom>
          <a:solidFill>
            <a:srgbClr val="005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299548" y="3007205"/>
            <a:ext cx="1873995" cy="581057"/>
          </a:xfrm>
          <a:prstGeom prst="rect">
            <a:avLst/>
          </a:prstGeom>
          <a:noFill/>
        </p:spPr>
        <p:txBody>
          <a:bodyPr wrap="square" rtlCol="0">
            <a:spAutoFit/>
          </a:bodyPr>
          <a:lstStyle/>
          <a:p>
            <a:pPr algn="ctr">
              <a:lnSpc>
                <a:spcPct val="150000"/>
              </a:lnSpc>
              <a:spcAft>
                <a:spcPts val="600"/>
              </a:spcAft>
            </a:pP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项目进程</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a:off x="3468992" y="1139629"/>
            <a:ext cx="247996" cy="58105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文本框 37"/>
          <p:cNvSpPr txBox="1"/>
          <p:nvPr/>
        </p:nvSpPr>
        <p:spPr>
          <a:xfrm>
            <a:off x="1338642" y="1206102"/>
            <a:ext cx="2076317" cy="646331"/>
          </a:xfrm>
          <a:prstGeom prst="rect">
            <a:avLst/>
          </a:prstGeom>
          <a:noFill/>
        </p:spPr>
        <p:txBody>
          <a:bodyPr wrap="square" rtlCol="0">
            <a:spAutoFit/>
          </a:bodyPr>
          <a:lstStyle/>
          <a:p>
            <a:pPr algn="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阶段三 </a:t>
            </a:r>
            <a:r>
              <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2025.12~2026.1</a:t>
            </a:r>
            <a:endParaRPr lang="zh-CN" altLang="en-US" dirty="0"/>
          </a:p>
        </p:txBody>
      </p:sp>
      <p:sp>
        <p:nvSpPr>
          <p:cNvPr id="39" name="矩形 38"/>
          <p:cNvSpPr/>
          <p:nvPr/>
        </p:nvSpPr>
        <p:spPr>
          <a:xfrm>
            <a:off x="4117712" y="2352463"/>
            <a:ext cx="247996" cy="499624"/>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0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000"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文本框 39"/>
          <p:cNvSpPr txBox="1"/>
          <p:nvPr/>
        </p:nvSpPr>
        <p:spPr>
          <a:xfrm>
            <a:off x="2189684" y="2418936"/>
            <a:ext cx="1873995" cy="584775"/>
          </a:xfrm>
          <a:prstGeom prst="rect">
            <a:avLst/>
          </a:prstGeom>
          <a:noFill/>
        </p:spPr>
        <p:txBody>
          <a:bodyPr wrap="square" rtlCol="0">
            <a:spAutoFit/>
          </a:bodyPr>
          <a:lstStyle/>
          <a:p>
            <a:pPr algn="r"/>
            <a:r>
              <a:rPr lang="zh-CN" altLang="en-US" sz="16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阶段四 </a:t>
            </a:r>
            <a:r>
              <a:rPr lang="en-US" altLang="zh-CN" sz="1600" b="1" dirty="0">
                <a:solidFill>
                  <a:schemeClr val="tx2">
                    <a:lumMod val="60000"/>
                    <a:lumOff val="4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2026.2~2026.3</a:t>
            </a:r>
            <a:endParaRPr lang="zh-CN" altLang="en-US" sz="1600" dirty="0">
              <a:solidFill>
                <a:schemeClr val="tx2">
                  <a:lumMod val="60000"/>
                  <a:lumOff val="40000"/>
                </a:schemeClr>
              </a:solidFill>
            </a:endParaRPr>
          </a:p>
        </p:txBody>
      </p:sp>
      <p:sp>
        <p:nvSpPr>
          <p:cNvPr id="12" name="矩形 11"/>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a:xfrm>
            <a:off x="4496622" y="1581701"/>
            <a:ext cx="3469016" cy="1346907"/>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将数据集压缩包下载到本地，获取大模型</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API key</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后调用，成功建立图像集与大模型的集成接口，实现帧图像连续输入。设计算法对图像进行处理并存储输出结果。</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9" name="组合 28"/>
          <p:cNvGrpSpPr/>
          <p:nvPr/>
        </p:nvGrpSpPr>
        <p:grpSpPr>
          <a:xfrm>
            <a:off x="4540957" y="943555"/>
            <a:ext cx="3008539" cy="590651"/>
            <a:chOff x="1929221" y="2315922"/>
            <a:chExt cx="3008539" cy="590651"/>
          </a:xfrm>
        </p:grpSpPr>
        <p:sp>
          <p:nvSpPr>
            <p:cNvPr id="30" name="任意多边形: 形状 29"/>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大模型接口</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33" name="矩形 32"/>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矩形 33"/>
          <p:cNvSpPr/>
          <p:nvPr/>
        </p:nvSpPr>
        <p:spPr>
          <a:xfrm>
            <a:off x="4540957" y="4281395"/>
            <a:ext cx="3412313" cy="1670073"/>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复现</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GitHub</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上多传感器融合算法代码，以</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IMU</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GNSS</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Camera</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等多传感器测试数据集作为约束和推算基础，核心采用卡尔曼滤波融合与误差修正，最终输出位置、速度、姿态结果。</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5" name="组合 34"/>
          <p:cNvGrpSpPr/>
          <p:nvPr/>
        </p:nvGrpSpPr>
        <p:grpSpPr>
          <a:xfrm>
            <a:off x="4585293" y="3643249"/>
            <a:ext cx="3367977" cy="590651"/>
            <a:chOff x="1929221" y="2315922"/>
            <a:chExt cx="3008539" cy="590651"/>
          </a:xfrm>
        </p:grpSpPr>
        <p:sp>
          <p:nvSpPr>
            <p:cNvPr id="37" name="任意多边形: 形状 36"/>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矩形 42"/>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多传感器融合算法</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4" name="图片 4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pic>
        <p:nvPicPr>
          <p:cNvPr id="45" name="图片 44"/>
          <p:cNvPicPr>
            <a:picLocks noChangeAspect="1"/>
          </p:cNvPicPr>
          <p:nvPr/>
        </p:nvPicPr>
        <p:blipFill>
          <a:blip r:embed="rId6"/>
          <a:srcRect l="4910" r="1225"/>
          <a:stretch>
            <a:fillRect/>
          </a:stretch>
        </p:blipFill>
        <p:spPr>
          <a:xfrm>
            <a:off x="8008830" y="4108694"/>
            <a:ext cx="4027411" cy="2068325"/>
          </a:xfrm>
          <a:prstGeom prst="rect">
            <a:avLst/>
          </a:prstGeom>
        </p:spPr>
      </p:pic>
      <p:pic>
        <p:nvPicPr>
          <p:cNvPr id="46" name="图片 45"/>
          <p:cNvPicPr>
            <a:picLocks noChangeAspect="1"/>
          </p:cNvPicPr>
          <p:nvPr/>
        </p:nvPicPr>
        <p:blipFill>
          <a:blip r:embed="rId7"/>
          <a:stretch>
            <a:fillRect/>
          </a:stretch>
        </p:blipFill>
        <p:spPr>
          <a:xfrm>
            <a:off x="7956683" y="596112"/>
            <a:ext cx="4182353" cy="26968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5076" y="1282143"/>
            <a:ext cx="618131" cy="618131"/>
          </a:xfrm>
          <a:prstGeom prst="rect">
            <a:avLst/>
          </a:prstGeom>
        </p:spPr>
      </p:pic>
      <p:sp>
        <p:nvSpPr>
          <p:cNvPr id="5" name="矩形 4"/>
          <p:cNvSpPr/>
          <p:nvPr/>
        </p:nvSpPr>
        <p:spPr>
          <a:xfrm>
            <a:off x="4379643" y="1509261"/>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流程图: 接点 1"/>
          <p:cNvSpPr/>
          <p:nvPr/>
        </p:nvSpPr>
        <p:spPr>
          <a:xfrm>
            <a:off x="-489834" y="680980"/>
            <a:ext cx="4793672" cy="5496039"/>
          </a:xfrm>
          <a:prstGeom prst="flowChartConnector">
            <a:avLst/>
          </a:prstGeom>
          <a:noFill/>
          <a:ln w="31750" cmpd="sng">
            <a:gradFill flip="none" rotWithShape="1">
              <a:gsLst>
                <a:gs pos="100000">
                  <a:schemeClr val="accent1">
                    <a:lumMod val="75000"/>
                  </a:schemeClr>
                </a:gs>
                <a:gs pos="83000">
                  <a:schemeClr val="accent1">
                    <a:lumMod val="60000"/>
                    <a:lumOff val="40000"/>
                  </a:schemeClr>
                </a:gs>
                <a:gs pos="52000">
                  <a:schemeClr val="bg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133725" y="2262800"/>
            <a:ext cx="2205643" cy="2158538"/>
          </a:xfrm>
          <a:prstGeom prst="ellipse">
            <a:avLst/>
          </a:prstGeom>
          <a:solidFill>
            <a:srgbClr val="005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299548" y="3007205"/>
            <a:ext cx="1873995" cy="581057"/>
          </a:xfrm>
          <a:prstGeom prst="rect">
            <a:avLst/>
          </a:prstGeom>
          <a:noFill/>
        </p:spPr>
        <p:txBody>
          <a:bodyPr wrap="square" rtlCol="0">
            <a:spAutoFit/>
          </a:bodyPr>
          <a:lstStyle/>
          <a:p>
            <a:pPr algn="ctr">
              <a:lnSpc>
                <a:spcPct val="150000"/>
              </a:lnSpc>
              <a:spcAft>
                <a:spcPts val="600"/>
              </a:spcAft>
            </a:pP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项目进程</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矩形 14"/>
          <p:cNvSpPr/>
          <p:nvPr/>
        </p:nvSpPr>
        <p:spPr>
          <a:xfrm>
            <a:off x="3468992" y="1139629"/>
            <a:ext cx="247996" cy="58105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endParaRPr lang="en-US" altLang="zh-CN" sz="2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文本框 37"/>
          <p:cNvSpPr txBox="1"/>
          <p:nvPr/>
        </p:nvSpPr>
        <p:spPr>
          <a:xfrm>
            <a:off x="1338642" y="1206102"/>
            <a:ext cx="2076317" cy="646331"/>
          </a:xfrm>
          <a:prstGeom prst="rect">
            <a:avLst/>
          </a:prstGeom>
          <a:noFill/>
        </p:spPr>
        <p:txBody>
          <a:bodyPr wrap="square" rtlCol="0">
            <a:spAutoFit/>
          </a:bodyPr>
          <a:lstStyle/>
          <a:p>
            <a:pPr algn="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阶段四 </a:t>
            </a:r>
            <a:r>
              <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2026.2~2026.3</a:t>
            </a:r>
            <a:endParaRPr lang="zh-CN" altLang="en-US" dirty="0"/>
          </a:p>
        </p:txBody>
      </p:sp>
      <p:sp>
        <p:nvSpPr>
          <p:cNvPr id="12" name="矩形 11"/>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4403411" y="5015288"/>
            <a:ext cx="1848583"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a:xfrm>
            <a:off x="4496622" y="1581701"/>
            <a:ext cx="3469016" cy="1670073"/>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基于复现的多传感器融合定位算法，创新性引入大语言模型对车载摄像头采集的图像进行语义解析，提前对复杂环境下信号质量变化规律进行预测，从而优化多传感器融合权重的自适应调整。</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9" name="组合 28"/>
          <p:cNvGrpSpPr/>
          <p:nvPr/>
        </p:nvGrpSpPr>
        <p:grpSpPr>
          <a:xfrm>
            <a:off x="4540957" y="943555"/>
            <a:ext cx="3008539" cy="590651"/>
            <a:chOff x="1929221" y="2315922"/>
            <a:chExt cx="3008539" cy="590651"/>
          </a:xfrm>
        </p:grpSpPr>
        <p:sp>
          <p:nvSpPr>
            <p:cNvPr id="30" name="任意多边形: 形状 29"/>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大模型融入算法</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34" name="矩形 33"/>
          <p:cNvSpPr/>
          <p:nvPr/>
        </p:nvSpPr>
        <p:spPr>
          <a:xfrm>
            <a:off x="4540957" y="4281395"/>
            <a:ext cx="3412313" cy="1346907"/>
          </a:xfrm>
          <a:prstGeom prst="rect">
            <a:avLst/>
          </a:prstGeom>
        </p:spPr>
        <p:txBody>
          <a:bodyPr wrap="square">
            <a:spAutoFit/>
          </a:bodyPr>
          <a:lstStyle/>
          <a:p>
            <a:pPr algn="ctr">
              <a:lnSpc>
                <a:spcPct val="150000"/>
              </a:lnSpc>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选用部分路径</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GNSS</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传感器数据失锁的数据集分别对加入大模型前后的算法进行实验，得到最终定位结果并进行可视化处理。总结项目成果并撰写结项报告。</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5" name="组合 34"/>
          <p:cNvGrpSpPr/>
          <p:nvPr/>
        </p:nvGrpSpPr>
        <p:grpSpPr>
          <a:xfrm>
            <a:off x="4585293" y="3643249"/>
            <a:ext cx="3367977" cy="590651"/>
            <a:chOff x="1929221" y="2315922"/>
            <a:chExt cx="3008539" cy="590651"/>
          </a:xfrm>
        </p:grpSpPr>
        <p:sp>
          <p:nvSpPr>
            <p:cNvPr id="37" name="任意多边形: 形状 36"/>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矩形 42"/>
            <p:cNvSpPr/>
            <p:nvPr/>
          </p:nvSpPr>
          <p:spPr>
            <a:xfrm>
              <a:off x="2897086" y="2338445"/>
              <a:ext cx="1800493" cy="458908"/>
            </a:xfrm>
            <a:prstGeom prst="rect">
              <a:avLst/>
            </a:prstGeom>
          </p:spPr>
          <p:txBody>
            <a:bodyPr wrap="squar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总结成果与报告</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4" name="图片 4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3938954" y="3271730"/>
            <a:ext cx="4325815"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3.</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  项目成果</a:t>
            </a:r>
          </a:p>
        </p:txBody>
      </p:sp>
      <p:pic>
        <p:nvPicPr>
          <p:cNvPr id="6" name="图片 5"/>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7" name="图片 6"/>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1" name="矩形 20"/>
          <p:cNvSpPr/>
          <p:nvPr/>
        </p:nvSpPr>
        <p:spPr>
          <a:xfrm>
            <a:off x="1359000" y="647713"/>
            <a:ext cx="2771913"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视觉定位模块</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1359000" y="4614343"/>
            <a:ext cx="9483054" cy="1674176"/>
          </a:xfrm>
          <a:prstGeom prst="rect">
            <a:avLst/>
          </a:prstGeom>
        </p:spPr>
        <p:txBody>
          <a:bodyPr wrap="square">
            <a:spAutoFit/>
          </a:bodyPr>
          <a:lstStyle/>
          <a:p>
            <a:pPr>
              <a:lnSpc>
                <a:spcPct val="150000"/>
              </a:lnSpc>
            </a:pPr>
            <a:r>
              <a:rPr lang="zh-CN" altLang="en-US" sz="1400" dirty="0">
                <a:ea typeface="字魂105号-简雅黑" panose="00000500000000000000" pitchFamily="2" charset="-122"/>
                <a:sym typeface="字魂105号-简雅黑" panose="00000500000000000000" pitchFamily="2" charset="-122"/>
              </a:rPr>
              <a:t>分析：</a:t>
            </a:r>
            <a:endParaRPr lang="en-US" altLang="zh-CN" sz="1400" dirty="0">
              <a:ea typeface="字魂105号-简雅黑" panose="00000500000000000000" pitchFamily="2" charset="-122"/>
              <a:sym typeface="字魂105号-简雅黑" panose="00000500000000000000" pitchFamily="2" charset="-122"/>
            </a:endParaRPr>
          </a:p>
          <a:p>
            <a:pPr>
              <a:lnSpc>
                <a:spcPct val="150000"/>
              </a:lnSpc>
            </a:pPr>
            <a:r>
              <a:rPr lang="zh-CN" altLang="en-US" sz="1400" dirty="0">
                <a:ea typeface="字魂105号-简雅黑" panose="00000500000000000000" pitchFamily="2" charset="-122"/>
                <a:sym typeface="字魂105号-简雅黑" panose="00000500000000000000" pitchFamily="2" charset="-122"/>
              </a:rPr>
              <a:t>算法的视觉定位模块成功提取并稳定跟踪了大量优质视觉特征点，特征跟踪率</a:t>
            </a:r>
            <a:r>
              <a:rPr lang="zh-CN" altLang="en-US" sz="1400">
                <a:ea typeface="字魂105号-简雅黑" panose="00000500000000000000" pitchFamily="2" charset="-122"/>
                <a:sym typeface="字魂105号-简雅黑" panose="00000500000000000000" pitchFamily="2" charset="-122"/>
              </a:rPr>
              <a:t>高达百分之九十以上，</a:t>
            </a:r>
            <a:r>
              <a:rPr lang="zh-CN" altLang="en-US" sz="1400" dirty="0">
                <a:ea typeface="字魂105号-简雅黑" panose="00000500000000000000" pitchFamily="2" charset="-122"/>
                <a:sym typeface="字魂105号-简雅黑" panose="00000500000000000000" pitchFamily="2" charset="-122"/>
              </a:rPr>
              <a:t>有效保证了视觉里程计在连续帧间的</a:t>
            </a:r>
            <a:r>
              <a:rPr lang="zh-CN" altLang="en-US" sz="1400" b="1" dirty="0">
                <a:ea typeface="字魂105号-简雅黑" panose="00000500000000000000" pitchFamily="2" charset="-122"/>
                <a:sym typeface="字魂105号-简雅黑" panose="00000500000000000000" pitchFamily="2" charset="-122"/>
              </a:rPr>
              <a:t>跟踪稳定性</a:t>
            </a:r>
            <a:r>
              <a:rPr lang="zh-CN" altLang="en-US" sz="1400" dirty="0">
                <a:ea typeface="字魂105号-简雅黑" panose="00000500000000000000" pitchFamily="2" charset="-122"/>
                <a:sym typeface="字魂105号-简雅黑" panose="00000500000000000000" pitchFamily="2" charset="-122"/>
              </a:rPr>
              <a:t>与</a:t>
            </a:r>
            <a:r>
              <a:rPr lang="zh-CN" altLang="en-US" sz="1400" b="1" dirty="0">
                <a:ea typeface="字魂105号-简雅黑" panose="00000500000000000000" pitchFamily="2" charset="-122"/>
                <a:sym typeface="字魂105号-简雅黑" panose="00000500000000000000" pitchFamily="2" charset="-122"/>
              </a:rPr>
              <a:t>位姿估计精度</a:t>
            </a:r>
            <a:r>
              <a:rPr lang="zh-CN" altLang="en-US" sz="1400" dirty="0">
                <a:ea typeface="字魂105号-简雅黑" panose="00000500000000000000" pitchFamily="2" charset="-122"/>
                <a:sym typeface="字魂105号-简雅黑" panose="00000500000000000000" pitchFamily="2" charset="-122"/>
              </a:rPr>
              <a:t>；</a:t>
            </a:r>
            <a:endParaRPr lang="en-US" altLang="zh-CN" sz="1400" dirty="0">
              <a:ea typeface="字魂105号-简雅黑" panose="00000500000000000000" pitchFamily="2" charset="-122"/>
              <a:sym typeface="字魂105号-简雅黑" panose="00000500000000000000" pitchFamily="2" charset="-122"/>
            </a:endParaRPr>
          </a:p>
          <a:p>
            <a:pPr>
              <a:lnSpc>
                <a:spcPct val="150000"/>
              </a:lnSpc>
            </a:pPr>
            <a:r>
              <a:rPr lang="zh-CN" altLang="en-US" sz="1400" dirty="0">
                <a:ea typeface="字魂105号-简雅黑" panose="00000500000000000000" pitchFamily="2" charset="-122"/>
                <a:sym typeface="字魂105号-简雅黑" panose="00000500000000000000" pitchFamily="2" charset="-122"/>
              </a:rPr>
              <a:t>同时，特征点在图像中</a:t>
            </a:r>
            <a:r>
              <a:rPr lang="zh-CN" altLang="en-US" sz="1400" b="1" dirty="0">
                <a:ea typeface="字魂105号-简雅黑" panose="00000500000000000000" pitchFamily="2" charset="-122"/>
                <a:sym typeface="字魂105号-简雅黑" panose="00000500000000000000" pitchFamily="2" charset="-122"/>
              </a:rPr>
              <a:t>分布均匀合理</a:t>
            </a:r>
            <a:r>
              <a:rPr lang="zh-CN" altLang="en-US" sz="1400" dirty="0">
                <a:ea typeface="字魂105号-简雅黑" panose="00000500000000000000" pitchFamily="2" charset="-122"/>
                <a:sym typeface="字魂105号-简雅黑" panose="00000500000000000000" pitchFamily="2" charset="-122"/>
              </a:rPr>
              <a:t>，充分覆盖道路、建筑、树木等典型环境结构，为相机运动估计提供了充足且可靠的</a:t>
            </a:r>
            <a:r>
              <a:rPr lang="zh-CN" altLang="en-US" sz="1400" b="1" dirty="0">
                <a:ea typeface="字魂105号-简雅黑" panose="00000500000000000000" pitchFamily="2" charset="-122"/>
                <a:sym typeface="字魂105号-简雅黑" panose="00000500000000000000" pitchFamily="2" charset="-122"/>
              </a:rPr>
              <a:t>几何约束</a:t>
            </a:r>
            <a:r>
              <a:rPr lang="zh-CN" altLang="en-US" sz="1400" dirty="0">
                <a:ea typeface="字魂105号-简雅黑" panose="00000500000000000000" pitchFamily="2" charset="-122"/>
                <a:sym typeface="字魂105号-简雅黑" panose="00000500000000000000" pitchFamily="2" charset="-122"/>
              </a:rPr>
              <a:t>，显著提升了视觉定位模块的</a:t>
            </a:r>
            <a:r>
              <a:rPr lang="zh-CN" altLang="en-US" sz="1400" b="1" dirty="0">
                <a:ea typeface="字魂105号-简雅黑" panose="00000500000000000000" pitchFamily="2" charset="-122"/>
                <a:sym typeface="字魂105号-简雅黑" panose="00000500000000000000" pitchFamily="2" charset="-122"/>
              </a:rPr>
              <a:t>鲁棒性</a:t>
            </a:r>
            <a:r>
              <a:rPr lang="zh-CN" altLang="en-US" sz="1400" dirty="0">
                <a:ea typeface="字魂105号-简雅黑" panose="00000500000000000000" pitchFamily="2" charset="-122"/>
                <a:sym typeface="字魂105号-简雅黑" panose="00000500000000000000" pitchFamily="2" charset="-122"/>
              </a:rPr>
              <a:t>与</a:t>
            </a:r>
            <a:r>
              <a:rPr lang="zh-CN" altLang="en-US" sz="1400" b="1" dirty="0">
                <a:ea typeface="字魂105号-简雅黑" panose="00000500000000000000" pitchFamily="2" charset="-122"/>
                <a:sym typeface="字魂105号-简雅黑" panose="00000500000000000000" pitchFamily="2" charset="-122"/>
              </a:rPr>
              <a:t>输出连续性</a:t>
            </a:r>
            <a:r>
              <a:rPr lang="zh-CN" altLang="en-US" sz="1400" dirty="0">
                <a:ea typeface="字魂105号-简雅黑" panose="00000500000000000000" pitchFamily="2" charset="-122"/>
                <a:sym typeface="字魂105号-简雅黑" panose="00000500000000000000" pitchFamily="2" charset="-122"/>
              </a:rPr>
              <a:t>。</a:t>
            </a:r>
            <a:endParaRPr lang="en-US" altLang="zh-CN" sz="1400" dirty="0">
              <a:ea typeface="字魂105号-简雅黑" panose="00000500000000000000" pitchFamily="2" charset="-122"/>
              <a:sym typeface="字魂105号-简雅黑" panose="00000500000000000000" pitchFamily="2" charset="-122"/>
            </a:endParaRP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pic>
        <p:nvPicPr>
          <p:cNvPr id="9" name="图片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1359000" y="1999976"/>
            <a:ext cx="3044190" cy="2267585"/>
          </a:xfrm>
          <a:prstGeom prst="rect">
            <a:avLst/>
          </a:prstGeom>
          <a:noFill/>
          <a:ln>
            <a:noFill/>
          </a:ln>
        </p:spPr>
      </p:pic>
      <p:sp>
        <p:nvSpPr>
          <p:cNvPr id="10" name="文本框 9"/>
          <p:cNvSpPr txBox="1"/>
          <p:nvPr/>
        </p:nvSpPr>
        <p:spPr>
          <a:xfrm>
            <a:off x="985654" y="1514542"/>
            <a:ext cx="2996565" cy="454660"/>
          </a:xfrm>
          <a:prstGeom prst="rect">
            <a:avLst/>
          </a:prstGeom>
        </p:spPr>
        <p:txBody>
          <a:bodyPr wrap="square">
            <a:noAutofit/>
          </a:bodyPr>
          <a:lstStyle/>
          <a:p>
            <a:pPr defTabSz="266700"/>
            <a:r>
              <a:rPr lang="zh-CN" altLang="en-US" dirty="0">
                <a:ea typeface="字魂105号-简雅黑" panose="00000500000000000000" pitchFamily="2" charset="-122"/>
              </a:rPr>
              <a:t>相机特征追踪效果：</a:t>
            </a:r>
          </a:p>
        </p:txBody>
      </p:sp>
      <p:pic>
        <p:nvPicPr>
          <p:cNvPr id="13" name="图片 1"/>
          <p:cNvPicPr>
            <a:picLocks noChangeAspect="1"/>
          </p:cNvPicPr>
          <p:nvPr/>
        </p:nvPicPr>
        <p:blipFill>
          <a:blip r:embed="rId6"/>
          <a:stretch>
            <a:fillRect/>
          </a:stretch>
        </p:blipFill>
        <p:spPr>
          <a:xfrm>
            <a:off x="5255963" y="1999975"/>
            <a:ext cx="3016964" cy="2267585"/>
          </a:xfrm>
          <a:prstGeom prst="rect">
            <a:avLst/>
          </a:prstGeom>
        </p:spPr>
      </p:pic>
      <p:sp>
        <p:nvSpPr>
          <p:cNvPr id="14" name="文本框 13"/>
          <p:cNvSpPr txBox="1"/>
          <p:nvPr/>
        </p:nvSpPr>
        <p:spPr>
          <a:xfrm>
            <a:off x="1049216" y="4383155"/>
            <a:ext cx="7326923" cy="276999"/>
          </a:xfrm>
          <a:prstGeom prst="rect">
            <a:avLst/>
          </a:prstGeom>
        </p:spPr>
        <p:txBody>
          <a:bodyPr wrap="square">
            <a:spAutoFit/>
          </a:bodyPr>
          <a:lstStyle/>
          <a:p>
            <a:pPr marL="0" indent="304800" defTabSz="266700">
              <a:spcBef>
                <a:spcPts val="500"/>
              </a:spcBef>
              <a:spcAft>
                <a:spcPts val="500"/>
              </a:spcAft>
            </a:pPr>
            <a:r>
              <a:rPr lang="zh-CN" altLang="en-US" sz="1200" dirty="0">
                <a:ea typeface="字魂105号-简雅黑" panose="00000500000000000000" pitchFamily="2" charset="-122"/>
              </a:rPr>
              <a:t>左下角：如当前帧号、时间戳、特征点总数（</a:t>
            </a:r>
            <a:r>
              <a:rPr lang="en-US" altLang="zh-CN" sz="1200" dirty="0">
                <a:ea typeface="字魂105号-简雅黑" panose="00000500000000000000" pitchFamily="2" charset="-122"/>
              </a:rPr>
              <a:t>point number</a:t>
            </a:r>
            <a:r>
              <a:rPr lang="zh-CN" altLang="en-US" sz="1200" dirty="0">
                <a:ea typeface="字魂105号-简雅黑" panose="00000500000000000000" pitchFamily="2" charset="-122"/>
              </a:rPr>
              <a:t>）和追踪成功率（</a:t>
            </a:r>
            <a:r>
              <a:rPr lang="en-US" altLang="zh-CN" sz="1200" dirty="0" err="1">
                <a:ea typeface="字魂105号-简雅黑" panose="00000500000000000000" pitchFamily="2" charset="-122"/>
              </a:rPr>
              <a:t>track_rate</a:t>
            </a:r>
            <a:r>
              <a:rPr lang="zh-CN" altLang="en-US" sz="1200" dirty="0">
                <a:ea typeface="字魂105号-简雅黑" panose="00000500000000000000" pitchFamily="2" charset="-122"/>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1000"/>
                                        <p:tgtEl>
                                          <p:spTgt spid="10"/>
                                        </p:tgtEl>
                                      </p:cBhvr>
                                    </p:animEffect>
                                  </p:childTnLst>
                                </p:cTn>
                              </p:par>
                              <p:par>
                                <p:cTn id="8" presetID="6" presetClass="entr" presetSubtype="16"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1000"/>
                                        <p:tgtEl>
                                          <p:spTgt spid="9"/>
                                        </p:tgtEl>
                                      </p:cBhvr>
                                    </p:animEffect>
                                  </p:childTnLst>
                                </p:cTn>
                              </p:par>
                              <p:par>
                                <p:cTn id="11" presetID="6" presetClass="entr" presetSubtype="16"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1000"/>
                                        <p:tgtEl>
                                          <p:spTgt spid="13"/>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circle(in)">
                                      <p:cBhvr>
                                        <p:cTn id="16" dur="1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circle(in)">
                                      <p:cBhvr>
                                        <p:cTn id="2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0"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p:cNvSpPr/>
          <p:nvPr/>
        </p:nvSpPr>
        <p:spPr>
          <a:xfrm>
            <a:off x="1359000" y="647713"/>
            <a:ext cx="2680542"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融合定位模块</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2548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460758" y="3300061"/>
            <a:ext cx="1270485" cy="1075159"/>
            <a:chOff x="4475136" y="2266879"/>
            <a:chExt cx="3241727" cy="2743342"/>
          </a:xfrm>
        </p:grpSpPr>
        <p:cxnSp>
          <p:nvCxnSpPr>
            <p:cNvPr id="11" name="直接连接符 10"/>
            <p:cNvCxnSpPr/>
            <p:nvPr/>
          </p:nvCxnSpPr>
          <p:spPr>
            <a:xfrm>
              <a:off x="4475136" y="2482451"/>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475136" y="4434007"/>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3" name="îṡļiḋê"/>
            <p:cNvGrpSpPr/>
            <p:nvPr/>
          </p:nvGrpSpPr>
          <p:grpSpPr>
            <a:xfrm>
              <a:off x="4724400" y="2266879"/>
              <a:ext cx="2743200" cy="2743342"/>
              <a:chOff x="4724400" y="2266879"/>
              <a:chExt cx="2743200" cy="2743342"/>
            </a:xfrm>
          </p:grpSpPr>
          <p:sp>
            <p:nvSpPr>
              <p:cNvPr id="14" name="íṣļîḋê"/>
              <p:cNvSpPr/>
              <p:nvPr/>
            </p:nvSpPr>
            <p:spPr>
              <a:xfrm>
                <a:off x="4724400" y="2266879"/>
                <a:ext cx="2743200" cy="2743342"/>
              </a:xfrm>
              <a:prstGeom prst="ellipse">
                <a:avLst/>
              </a:prstGeom>
              <a:solidFill>
                <a:schemeClr val="bg1"/>
              </a:solidFill>
              <a:ln w="12700" cap="flat">
                <a:solidFill>
                  <a:schemeClr val="bg1">
                    <a:lumMod val="85000"/>
                  </a:schemeClr>
                </a:solid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 name="îṩļiḓê"/>
              <p:cNvGrpSpPr/>
              <p:nvPr/>
            </p:nvGrpSpPr>
            <p:grpSpPr>
              <a:xfrm>
                <a:off x="4853165" y="2393144"/>
                <a:ext cx="2485670" cy="2490813"/>
                <a:chOff x="4853165" y="2393143"/>
                <a:chExt cx="2485670" cy="2490813"/>
              </a:xfrm>
            </p:grpSpPr>
            <p:sp>
              <p:nvSpPr>
                <p:cNvPr id="16" name="ísļíḍè"/>
                <p:cNvSpPr/>
                <p:nvPr/>
              </p:nvSpPr>
              <p:spPr>
                <a:xfrm>
                  <a:off x="4853165" y="2398156"/>
                  <a:ext cx="2485670" cy="2485800"/>
                </a:xfrm>
                <a:prstGeom prst="ellipse">
                  <a:avLst/>
                </a:prstGeom>
                <a:solidFill>
                  <a:srgbClr val="EEECE1">
                    <a:alpha val="40000"/>
                  </a:srgbClr>
                </a:solidFill>
                <a:ln w="12700" cap="flat">
                  <a:no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íslíḑé"/>
                <p:cNvSpPr/>
                <p:nvPr/>
              </p:nvSpPr>
              <p:spPr>
                <a:xfrm>
                  <a:off x="5141603" y="2393143"/>
                  <a:ext cx="846358" cy="513895"/>
                </a:xfrm>
                <a:custGeom>
                  <a:avLst/>
                  <a:gdLst/>
                  <a:ahLst/>
                  <a:cxnLst>
                    <a:cxn ang="0">
                      <a:pos x="wd2" y="hd2"/>
                    </a:cxn>
                    <a:cxn ang="5400000">
                      <a:pos x="wd2" y="hd2"/>
                    </a:cxn>
                    <a:cxn ang="10800000">
                      <a:pos x="wd2" y="hd2"/>
                    </a:cxn>
                    <a:cxn ang="16200000">
                      <a:pos x="wd2" y="hd2"/>
                    </a:cxn>
                  </a:cxnLst>
                  <a:rect l="0" t="0" r="r" b="b"/>
                  <a:pathLst>
                    <a:path w="21600" h="21600" extrusionOk="0">
                      <a:moveTo>
                        <a:pt x="0" y="19197"/>
                      </a:moveTo>
                      <a:lnTo>
                        <a:pt x="279" y="19602"/>
                      </a:lnTo>
                      <a:lnTo>
                        <a:pt x="761" y="19842"/>
                      </a:lnTo>
                      <a:lnTo>
                        <a:pt x="1034" y="19808"/>
                      </a:lnTo>
                      <a:lnTo>
                        <a:pt x="1143" y="19521"/>
                      </a:lnTo>
                      <a:lnTo>
                        <a:pt x="1306" y="19521"/>
                      </a:lnTo>
                      <a:lnTo>
                        <a:pt x="1339" y="19790"/>
                      </a:lnTo>
                      <a:lnTo>
                        <a:pt x="729" y="20236"/>
                      </a:lnTo>
                      <a:lnTo>
                        <a:pt x="630" y="20605"/>
                      </a:lnTo>
                      <a:lnTo>
                        <a:pt x="548" y="20901"/>
                      </a:lnTo>
                      <a:lnTo>
                        <a:pt x="821" y="21000"/>
                      </a:lnTo>
                      <a:lnTo>
                        <a:pt x="1067" y="20703"/>
                      </a:lnTo>
                      <a:lnTo>
                        <a:pt x="1438" y="20649"/>
                      </a:lnTo>
                      <a:cubicBezTo>
                        <a:pt x="1465" y="20754"/>
                        <a:pt x="1528" y="20822"/>
                        <a:pt x="1597" y="20819"/>
                      </a:cubicBezTo>
                      <a:cubicBezTo>
                        <a:pt x="1723" y="20813"/>
                        <a:pt x="1792" y="20605"/>
                        <a:pt x="1865" y="20432"/>
                      </a:cubicBezTo>
                      <a:cubicBezTo>
                        <a:pt x="1938" y="20257"/>
                        <a:pt x="2033" y="20110"/>
                        <a:pt x="2143" y="20001"/>
                      </a:cubicBezTo>
                      <a:lnTo>
                        <a:pt x="2335" y="19615"/>
                      </a:lnTo>
                      <a:cubicBezTo>
                        <a:pt x="2286" y="19572"/>
                        <a:pt x="2231" y="19554"/>
                        <a:pt x="2176" y="19563"/>
                      </a:cubicBezTo>
                      <a:cubicBezTo>
                        <a:pt x="2095" y="19577"/>
                        <a:pt x="2021" y="19649"/>
                        <a:pt x="1974" y="19760"/>
                      </a:cubicBezTo>
                      <a:lnTo>
                        <a:pt x="1784" y="19921"/>
                      </a:lnTo>
                      <a:cubicBezTo>
                        <a:pt x="1738" y="19809"/>
                        <a:pt x="1732" y="19665"/>
                        <a:pt x="1768" y="19543"/>
                      </a:cubicBezTo>
                      <a:cubicBezTo>
                        <a:pt x="1811" y="19393"/>
                        <a:pt x="1907" y="19313"/>
                        <a:pt x="1981" y="19201"/>
                      </a:cubicBezTo>
                      <a:cubicBezTo>
                        <a:pt x="2054" y="19090"/>
                        <a:pt x="2107" y="18946"/>
                        <a:pt x="2132" y="18787"/>
                      </a:cubicBezTo>
                      <a:cubicBezTo>
                        <a:pt x="2131" y="18693"/>
                        <a:pt x="2142" y="18598"/>
                        <a:pt x="2165" y="18512"/>
                      </a:cubicBezTo>
                      <a:cubicBezTo>
                        <a:pt x="2220" y="18310"/>
                        <a:pt x="2333" y="18167"/>
                        <a:pt x="2466" y="18133"/>
                      </a:cubicBezTo>
                      <a:cubicBezTo>
                        <a:pt x="2536" y="18047"/>
                        <a:pt x="2607" y="17961"/>
                        <a:pt x="2678" y="17875"/>
                      </a:cubicBezTo>
                      <a:cubicBezTo>
                        <a:pt x="2780" y="17751"/>
                        <a:pt x="2882" y="17627"/>
                        <a:pt x="2984" y="17503"/>
                      </a:cubicBezTo>
                      <a:lnTo>
                        <a:pt x="3005" y="16902"/>
                      </a:lnTo>
                      <a:cubicBezTo>
                        <a:pt x="2891" y="17035"/>
                        <a:pt x="2732" y="16966"/>
                        <a:pt x="2672" y="16759"/>
                      </a:cubicBezTo>
                      <a:cubicBezTo>
                        <a:pt x="2475" y="16078"/>
                        <a:pt x="3279" y="15698"/>
                        <a:pt x="3332" y="16447"/>
                      </a:cubicBezTo>
                      <a:lnTo>
                        <a:pt x="3479" y="16655"/>
                      </a:lnTo>
                      <a:lnTo>
                        <a:pt x="3369" y="16925"/>
                      </a:lnTo>
                      <a:lnTo>
                        <a:pt x="3206" y="17113"/>
                      </a:lnTo>
                      <a:lnTo>
                        <a:pt x="3075" y="17740"/>
                      </a:lnTo>
                      <a:lnTo>
                        <a:pt x="3026" y="18089"/>
                      </a:lnTo>
                      <a:lnTo>
                        <a:pt x="3501" y="17890"/>
                      </a:lnTo>
                      <a:lnTo>
                        <a:pt x="3665" y="17522"/>
                      </a:lnTo>
                      <a:lnTo>
                        <a:pt x="3926" y="17522"/>
                      </a:lnTo>
                      <a:lnTo>
                        <a:pt x="4122" y="17549"/>
                      </a:lnTo>
                      <a:lnTo>
                        <a:pt x="4062" y="17890"/>
                      </a:lnTo>
                      <a:lnTo>
                        <a:pt x="3680" y="18151"/>
                      </a:lnTo>
                      <a:lnTo>
                        <a:pt x="3369" y="18565"/>
                      </a:lnTo>
                      <a:lnTo>
                        <a:pt x="3113" y="18851"/>
                      </a:lnTo>
                      <a:lnTo>
                        <a:pt x="2889" y="19076"/>
                      </a:lnTo>
                      <a:lnTo>
                        <a:pt x="2692" y="19463"/>
                      </a:lnTo>
                      <a:lnTo>
                        <a:pt x="2600" y="19804"/>
                      </a:lnTo>
                      <a:lnTo>
                        <a:pt x="2730" y="20467"/>
                      </a:lnTo>
                      <a:lnTo>
                        <a:pt x="2604" y="20629"/>
                      </a:lnTo>
                      <a:lnTo>
                        <a:pt x="2604" y="20986"/>
                      </a:lnTo>
                      <a:lnTo>
                        <a:pt x="2945" y="20877"/>
                      </a:lnTo>
                      <a:lnTo>
                        <a:pt x="2717" y="21335"/>
                      </a:lnTo>
                      <a:lnTo>
                        <a:pt x="2761" y="21600"/>
                      </a:lnTo>
                      <a:lnTo>
                        <a:pt x="3123" y="21332"/>
                      </a:lnTo>
                      <a:lnTo>
                        <a:pt x="3449" y="20768"/>
                      </a:lnTo>
                      <a:lnTo>
                        <a:pt x="3433" y="20391"/>
                      </a:lnTo>
                      <a:lnTo>
                        <a:pt x="3542" y="20068"/>
                      </a:lnTo>
                      <a:lnTo>
                        <a:pt x="3590" y="19745"/>
                      </a:lnTo>
                      <a:lnTo>
                        <a:pt x="3867" y="19378"/>
                      </a:lnTo>
                      <a:lnTo>
                        <a:pt x="3738" y="19127"/>
                      </a:lnTo>
                      <a:lnTo>
                        <a:pt x="3770" y="18750"/>
                      </a:lnTo>
                      <a:lnTo>
                        <a:pt x="3917" y="18588"/>
                      </a:lnTo>
                      <a:lnTo>
                        <a:pt x="4217" y="18408"/>
                      </a:lnTo>
                      <a:cubicBezTo>
                        <a:pt x="4334" y="18303"/>
                        <a:pt x="4447" y="18185"/>
                        <a:pt x="4556" y="18057"/>
                      </a:cubicBezTo>
                      <a:cubicBezTo>
                        <a:pt x="4729" y="17853"/>
                        <a:pt x="4890" y="17621"/>
                        <a:pt x="5037" y="17365"/>
                      </a:cubicBezTo>
                      <a:cubicBezTo>
                        <a:pt x="5070" y="17294"/>
                        <a:pt x="5102" y="17222"/>
                        <a:pt x="5135" y="17150"/>
                      </a:cubicBezTo>
                      <a:cubicBezTo>
                        <a:pt x="5222" y="16957"/>
                        <a:pt x="5307" y="16762"/>
                        <a:pt x="5391" y="16565"/>
                      </a:cubicBezTo>
                      <a:cubicBezTo>
                        <a:pt x="5358" y="16341"/>
                        <a:pt x="5388" y="16103"/>
                        <a:pt x="5473" y="15920"/>
                      </a:cubicBezTo>
                      <a:cubicBezTo>
                        <a:pt x="5525" y="15808"/>
                        <a:pt x="5595" y="15723"/>
                        <a:pt x="5676" y="15674"/>
                      </a:cubicBezTo>
                      <a:lnTo>
                        <a:pt x="5877" y="15549"/>
                      </a:lnTo>
                      <a:lnTo>
                        <a:pt x="5969" y="14964"/>
                      </a:lnTo>
                      <a:lnTo>
                        <a:pt x="6035" y="14622"/>
                      </a:lnTo>
                      <a:lnTo>
                        <a:pt x="6133" y="14307"/>
                      </a:lnTo>
                      <a:lnTo>
                        <a:pt x="6719" y="13396"/>
                      </a:lnTo>
                      <a:lnTo>
                        <a:pt x="7232" y="12680"/>
                      </a:lnTo>
                      <a:lnTo>
                        <a:pt x="7560" y="12357"/>
                      </a:lnTo>
                      <a:cubicBezTo>
                        <a:pt x="7614" y="12268"/>
                        <a:pt x="7665" y="12175"/>
                        <a:pt x="7713" y="12079"/>
                      </a:cubicBezTo>
                      <a:cubicBezTo>
                        <a:pt x="7806" y="11895"/>
                        <a:pt x="7890" y="11699"/>
                        <a:pt x="7964" y="11493"/>
                      </a:cubicBezTo>
                      <a:lnTo>
                        <a:pt x="8046" y="11222"/>
                      </a:lnTo>
                      <a:lnTo>
                        <a:pt x="7786" y="11374"/>
                      </a:lnTo>
                      <a:lnTo>
                        <a:pt x="7333" y="11803"/>
                      </a:lnTo>
                      <a:lnTo>
                        <a:pt x="7131" y="11803"/>
                      </a:lnTo>
                      <a:cubicBezTo>
                        <a:pt x="7075" y="11748"/>
                        <a:pt x="7036" y="11656"/>
                        <a:pt x="7023" y="11551"/>
                      </a:cubicBezTo>
                      <a:cubicBezTo>
                        <a:pt x="6984" y="11244"/>
                        <a:pt x="7147" y="10972"/>
                        <a:pt x="7334" y="11030"/>
                      </a:cubicBezTo>
                      <a:lnTo>
                        <a:pt x="7525" y="10885"/>
                      </a:lnTo>
                      <a:cubicBezTo>
                        <a:pt x="7639" y="10761"/>
                        <a:pt x="7752" y="10635"/>
                        <a:pt x="7863" y="10507"/>
                      </a:cubicBezTo>
                      <a:cubicBezTo>
                        <a:pt x="7938" y="10421"/>
                        <a:pt x="8013" y="10333"/>
                        <a:pt x="8087" y="10245"/>
                      </a:cubicBezTo>
                      <a:lnTo>
                        <a:pt x="8310" y="10003"/>
                      </a:lnTo>
                      <a:lnTo>
                        <a:pt x="8706" y="9491"/>
                      </a:lnTo>
                      <a:cubicBezTo>
                        <a:pt x="8725" y="9459"/>
                        <a:pt x="8745" y="9426"/>
                        <a:pt x="8764" y="9394"/>
                      </a:cubicBezTo>
                      <a:cubicBezTo>
                        <a:pt x="8783" y="9361"/>
                        <a:pt x="8802" y="9327"/>
                        <a:pt x="8820" y="9293"/>
                      </a:cubicBezTo>
                      <a:cubicBezTo>
                        <a:pt x="8883" y="9178"/>
                        <a:pt x="8943" y="9058"/>
                        <a:pt x="9000" y="8934"/>
                      </a:cubicBezTo>
                      <a:lnTo>
                        <a:pt x="9115" y="8311"/>
                      </a:lnTo>
                      <a:lnTo>
                        <a:pt x="8689" y="8594"/>
                      </a:lnTo>
                      <a:cubicBezTo>
                        <a:pt x="8587" y="8694"/>
                        <a:pt x="8477" y="8773"/>
                        <a:pt x="8362" y="8829"/>
                      </a:cubicBezTo>
                      <a:cubicBezTo>
                        <a:pt x="8219" y="8899"/>
                        <a:pt x="8070" y="8932"/>
                        <a:pt x="7920" y="8928"/>
                      </a:cubicBezTo>
                      <a:lnTo>
                        <a:pt x="8653" y="8344"/>
                      </a:lnTo>
                      <a:lnTo>
                        <a:pt x="8790" y="8156"/>
                      </a:lnTo>
                      <a:lnTo>
                        <a:pt x="9362" y="8117"/>
                      </a:lnTo>
                      <a:lnTo>
                        <a:pt x="9536" y="8066"/>
                      </a:lnTo>
                      <a:lnTo>
                        <a:pt x="9858" y="8092"/>
                      </a:lnTo>
                      <a:lnTo>
                        <a:pt x="9776" y="8370"/>
                      </a:lnTo>
                      <a:cubicBezTo>
                        <a:pt x="9695" y="8428"/>
                        <a:pt x="9617" y="8495"/>
                        <a:pt x="9541" y="8568"/>
                      </a:cubicBezTo>
                      <a:cubicBezTo>
                        <a:pt x="9427" y="8680"/>
                        <a:pt x="9319" y="8809"/>
                        <a:pt x="9219" y="8954"/>
                      </a:cubicBezTo>
                      <a:lnTo>
                        <a:pt x="8928" y="9569"/>
                      </a:lnTo>
                      <a:lnTo>
                        <a:pt x="8913" y="9857"/>
                      </a:lnTo>
                      <a:lnTo>
                        <a:pt x="8766" y="10016"/>
                      </a:lnTo>
                      <a:lnTo>
                        <a:pt x="8487" y="10313"/>
                      </a:lnTo>
                      <a:lnTo>
                        <a:pt x="8323" y="10682"/>
                      </a:lnTo>
                      <a:lnTo>
                        <a:pt x="8433" y="10916"/>
                      </a:lnTo>
                      <a:cubicBezTo>
                        <a:pt x="8525" y="10831"/>
                        <a:pt x="8616" y="10741"/>
                        <a:pt x="8706" y="10646"/>
                      </a:cubicBezTo>
                      <a:cubicBezTo>
                        <a:pt x="8787" y="10560"/>
                        <a:pt x="8868" y="10470"/>
                        <a:pt x="8946" y="10376"/>
                      </a:cubicBezTo>
                      <a:lnTo>
                        <a:pt x="9126" y="10268"/>
                      </a:lnTo>
                      <a:lnTo>
                        <a:pt x="9459" y="10214"/>
                      </a:lnTo>
                      <a:lnTo>
                        <a:pt x="9634" y="10061"/>
                      </a:lnTo>
                      <a:lnTo>
                        <a:pt x="9980" y="9670"/>
                      </a:lnTo>
                      <a:lnTo>
                        <a:pt x="9964" y="9328"/>
                      </a:lnTo>
                      <a:lnTo>
                        <a:pt x="10319" y="8905"/>
                      </a:lnTo>
                      <a:lnTo>
                        <a:pt x="10516" y="8716"/>
                      </a:lnTo>
                      <a:lnTo>
                        <a:pt x="10876" y="8401"/>
                      </a:lnTo>
                      <a:lnTo>
                        <a:pt x="10973" y="8697"/>
                      </a:lnTo>
                      <a:lnTo>
                        <a:pt x="10729" y="8912"/>
                      </a:lnTo>
                      <a:lnTo>
                        <a:pt x="10407" y="9155"/>
                      </a:lnTo>
                      <a:lnTo>
                        <a:pt x="10287" y="9415"/>
                      </a:lnTo>
                      <a:lnTo>
                        <a:pt x="10697" y="9541"/>
                      </a:lnTo>
                      <a:lnTo>
                        <a:pt x="10926" y="9379"/>
                      </a:lnTo>
                      <a:lnTo>
                        <a:pt x="11128" y="9199"/>
                      </a:lnTo>
                      <a:lnTo>
                        <a:pt x="11450" y="8668"/>
                      </a:lnTo>
                      <a:lnTo>
                        <a:pt x="11613" y="8353"/>
                      </a:lnTo>
                      <a:lnTo>
                        <a:pt x="11832" y="7930"/>
                      </a:lnTo>
                      <a:lnTo>
                        <a:pt x="12056" y="7583"/>
                      </a:lnTo>
                      <a:lnTo>
                        <a:pt x="12269" y="7395"/>
                      </a:lnTo>
                      <a:lnTo>
                        <a:pt x="12661" y="7101"/>
                      </a:lnTo>
                      <a:lnTo>
                        <a:pt x="13071" y="6859"/>
                      </a:lnTo>
                      <a:lnTo>
                        <a:pt x="13366" y="6535"/>
                      </a:lnTo>
                      <a:cubicBezTo>
                        <a:pt x="13397" y="6455"/>
                        <a:pt x="13431" y="6380"/>
                        <a:pt x="13469" y="6309"/>
                      </a:cubicBezTo>
                      <a:cubicBezTo>
                        <a:pt x="13590" y="6082"/>
                        <a:pt x="13742" y="5905"/>
                        <a:pt x="13912" y="5793"/>
                      </a:cubicBezTo>
                      <a:lnTo>
                        <a:pt x="14289" y="5635"/>
                      </a:lnTo>
                      <a:lnTo>
                        <a:pt x="14562" y="5392"/>
                      </a:lnTo>
                      <a:cubicBezTo>
                        <a:pt x="14638" y="5313"/>
                        <a:pt x="14709" y="5223"/>
                        <a:pt x="14775" y="5121"/>
                      </a:cubicBezTo>
                      <a:cubicBezTo>
                        <a:pt x="14866" y="4980"/>
                        <a:pt x="14945" y="4820"/>
                        <a:pt x="15010" y="4644"/>
                      </a:cubicBezTo>
                      <a:lnTo>
                        <a:pt x="15091" y="4237"/>
                      </a:lnTo>
                      <a:lnTo>
                        <a:pt x="15091" y="3937"/>
                      </a:lnTo>
                      <a:lnTo>
                        <a:pt x="14786" y="3960"/>
                      </a:lnTo>
                      <a:lnTo>
                        <a:pt x="14295" y="3946"/>
                      </a:lnTo>
                      <a:lnTo>
                        <a:pt x="14617" y="3596"/>
                      </a:lnTo>
                      <a:lnTo>
                        <a:pt x="15228" y="3333"/>
                      </a:lnTo>
                      <a:lnTo>
                        <a:pt x="15599" y="3182"/>
                      </a:lnTo>
                      <a:cubicBezTo>
                        <a:pt x="15695" y="3140"/>
                        <a:pt x="15792" y="3104"/>
                        <a:pt x="15889" y="3074"/>
                      </a:cubicBezTo>
                      <a:cubicBezTo>
                        <a:pt x="15969" y="3049"/>
                        <a:pt x="16049" y="3028"/>
                        <a:pt x="16129" y="3011"/>
                      </a:cubicBezTo>
                      <a:lnTo>
                        <a:pt x="15992" y="3494"/>
                      </a:lnTo>
                      <a:lnTo>
                        <a:pt x="15721" y="3736"/>
                      </a:lnTo>
                      <a:lnTo>
                        <a:pt x="15586" y="3913"/>
                      </a:lnTo>
                      <a:lnTo>
                        <a:pt x="15444" y="4210"/>
                      </a:lnTo>
                      <a:lnTo>
                        <a:pt x="15728" y="4523"/>
                      </a:lnTo>
                      <a:lnTo>
                        <a:pt x="16105" y="4118"/>
                      </a:lnTo>
                      <a:lnTo>
                        <a:pt x="16198" y="3803"/>
                      </a:lnTo>
                      <a:lnTo>
                        <a:pt x="16378" y="3480"/>
                      </a:lnTo>
                      <a:lnTo>
                        <a:pt x="16613" y="3561"/>
                      </a:lnTo>
                      <a:lnTo>
                        <a:pt x="16487" y="3831"/>
                      </a:lnTo>
                      <a:lnTo>
                        <a:pt x="16330" y="4233"/>
                      </a:lnTo>
                      <a:lnTo>
                        <a:pt x="16674" y="4277"/>
                      </a:lnTo>
                      <a:lnTo>
                        <a:pt x="16997" y="4169"/>
                      </a:lnTo>
                      <a:cubicBezTo>
                        <a:pt x="17148" y="4174"/>
                        <a:pt x="17299" y="4174"/>
                        <a:pt x="17450" y="4169"/>
                      </a:cubicBezTo>
                      <a:cubicBezTo>
                        <a:pt x="17580" y="4164"/>
                        <a:pt x="17709" y="4155"/>
                        <a:pt x="17838" y="4142"/>
                      </a:cubicBezTo>
                      <a:lnTo>
                        <a:pt x="18314" y="4142"/>
                      </a:lnTo>
                      <a:cubicBezTo>
                        <a:pt x="18432" y="4145"/>
                        <a:pt x="18551" y="4154"/>
                        <a:pt x="18669" y="4169"/>
                      </a:cubicBezTo>
                      <a:cubicBezTo>
                        <a:pt x="18836" y="4190"/>
                        <a:pt x="19001" y="4223"/>
                        <a:pt x="19166" y="4268"/>
                      </a:cubicBezTo>
                      <a:cubicBezTo>
                        <a:pt x="19189" y="4369"/>
                        <a:pt x="19177" y="4482"/>
                        <a:pt x="19133" y="4564"/>
                      </a:cubicBezTo>
                      <a:cubicBezTo>
                        <a:pt x="19048" y="4724"/>
                        <a:pt x="18893" y="4706"/>
                        <a:pt x="18822" y="4528"/>
                      </a:cubicBezTo>
                      <a:lnTo>
                        <a:pt x="18587" y="4528"/>
                      </a:lnTo>
                      <a:lnTo>
                        <a:pt x="18320" y="4555"/>
                      </a:lnTo>
                      <a:lnTo>
                        <a:pt x="17758" y="4492"/>
                      </a:lnTo>
                      <a:lnTo>
                        <a:pt x="17034" y="4484"/>
                      </a:lnTo>
                      <a:lnTo>
                        <a:pt x="16860" y="4619"/>
                      </a:lnTo>
                      <a:cubicBezTo>
                        <a:pt x="16796" y="4609"/>
                        <a:pt x="16732" y="4609"/>
                        <a:pt x="16668" y="4619"/>
                      </a:cubicBezTo>
                      <a:cubicBezTo>
                        <a:pt x="16549" y="4638"/>
                        <a:pt x="16433" y="4692"/>
                        <a:pt x="16325" y="4780"/>
                      </a:cubicBezTo>
                      <a:cubicBezTo>
                        <a:pt x="16237" y="4812"/>
                        <a:pt x="16154" y="4873"/>
                        <a:pt x="16080" y="4959"/>
                      </a:cubicBezTo>
                      <a:cubicBezTo>
                        <a:pt x="16031" y="5015"/>
                        <a:pt x="15987" y="5081"/>
                        <a:pt x="15949" y="5157"/>
                      </a:cubicBezTo>
                      <a:lnTo>
                        <a:pt x="16161" y="5614"/>
                      </a:lnTo>
                      <a:cubicBezTo>
                        <a:pt x="16108" y="5784"/>
                        <a:pt x="16029" y="5928"/>
                        <a:pt x="15932" y="6034"/>
                      </a:cubicBezTo>
                      <a:cubicBezTo>
                        <a:pt x="15816" y="6161"/>
                        <a:pt x="15679" y="6227"/>
                        <a:pt x="15539" y="6223"/>
                      </a:cubicBezTo>
                      <a:cubicBezTo>
                        <a:pt x="15445" y="6250"/>
                        <a:pt x="15352" y="6286"/>
                        <a:pt x="15261" y="6331"/>
                      </a:cubicBezTo>
                      <a:cubicBezTo>
                        <a:pt x="15108" y="6406"/>
                        <a:pt x="14960" y="6506"/>
                        <a:pt x="14819" y="6628"/>
                      </a:cubicBezTo>
                      <a:lnTo>
                        <a:pt x="14640" y="6870"/>
                      </a:lnTo>
                      <a:lnTo>
                        <a:pt x="14460" y="7112"/>
                      </a:lnTo>
                      <a:lnTo>
                        <a:pt x="14208" y="7319"/>
                      </a:lnTo>
                      <a:lnTo>
                        <a:pt x="13756" y="7481"/>
                      </a:lnTo>
                      <a:lnTo>
                        <a:pt x="13820" y="7830"/>
                      </a:lnTo>
                      <a:lnTo>
                        <a:pt x="14034" y="7857"/>
                      </a:lnTo>
                      <a:lnTo>
                        <a:pt x="13941" y="8205"/>
                      </a:lnTo>
                      <a:lnTo>
                        <a:pt x="13717" y="8385"/>
                      </a:lnTo>
                      <a:lnTo>
                        <a:pt x="13445" y="8412"/>
                      </a:lnTo>
                      <a:lnTo>
                        <a:pt x="13364" y="8653"/>
                      </a:lnTo>
                      <a:lnTo>
                        <a:pt x="13268" y="8869"/>
                      </a:lnTo>
                      <a:lnTo>
                        <a:pt x="12811" y="8922"/>
                      </a:lnTo>
                      <a:lnTo>
                        <a:pt x="12570" y="9102"/>
                      </a:lnTo>
                      <a:lnTo>
                        <a:pt x="12195" y="9291"/>
                      </a:lnTo>
                      <a:lnTo>
                        <a:pt x="11921" y="9471"/>
                      </a:lnTo>
                      <a:lnTo>
                        <a:pt x="11676" y="9579"/>
                      </a:lnTo>
                      <a:lnTo>
                        <a:pt x="11311" y="9839"/>
                      </a:lnTo>
                      <a:lnTo>
                        <a:pt x="11099" y="10135"/>
                      </a:lnTo>
                      <a:lnTo>
                        <a:pt x="10817" y="10562"/>
                      </a:lnTo>
                      <a:lnTo>
                        <a:pt x="10632" y="10892"/>
                      </a:lnTo>
                      <a:lnTo>
                        <a:pt x="10446" y="11306"/>
                      </a:lnTo>
                      <a:lnTo>
                        <a:pt x="10108" y="11629"/>
                      </a:lnTo>
                      <a:lnTo>
                        <a:pt x="9862" y="12124"/>
                      </a:lnTo>
                      <a:lnTo>
                        <a:pt x="9670" y="12403"/>
                      </a:lnTo>
                      <a:lnTo>
                        <a:pt x="9414" y="12943"/>
                      </a:lnTo>
                      <a:lnTo>
                        <a:pt x="9217" y="13240"/>
                      </a:lnTo>
                      <a:lnTo>
                        <a:pt x="9151" y="13717"/>
                      </a:lnTo>
                      <a:lnTo>
                        <a:pt x="9244" y="14140"/>
                      </a:lnTo>
                      <a:lnTo>
                        <a:pt x="9097" y="14743"/>
                      </a:lnTo>
                      <a:lnTo>
                        <a:pt x="9299" y="14940"/>
                      </a:lnTo>
                      <a:cubicBezTo>
                        <a:pt x="9407" y="14817"/>
                        <a:pt x="9519" y="14707"/>
                        <a:pt x="9636" y="14608"/>
                      </a:cubicBezTo>
                      <a:cubicBezTo>
                        <a:pt x="9735" y="14524"/>
                        <a:pt x="9837" y="14449"/>
                        <a:pt x="9941" y="14384"/>
                      </a:cubicBezTo>
                      <a:lnTo>
                        <a:pt x="10459" y="13980"/>
                      </a:lnTo>
                      <a:lnTo>
                        <a:pt x="10842" y="13719"/>
                      </a:lnTo>
                      <a:cubicBezTo>
                        <a:pt x="10939" y="13641"/>
                        <a:pt x="11032" y="13551"/>
                        <a:pt x="11121" y="13449"/>
                      </a:cubicBezTo>
                      <a:cubicBezTo>
                        <a:pt x="11244" y="13308"/>
                        <a:pt x="11357" y="13145"/>
                        <a:pt x="11460" y="12963"/>
                      </a:cubicBezTo>
                      <a:lnTo>
                        <a:pt x="11727" y="12531"/>
                      </a:lnTo>
                      <a:lnTo>
                        <a:pt x="11891" y="12477"/>
                      </a:lnTo>
                      <a:lnTo>
                        <a:pt x="12408" y="12477"/>
                      </a:lnTo>
                      <a:lnTo>
                        <a:pt x="12817" y="12612"/>
                      </a:lnTo>
                      <a:cubicBezTo>
                        <a:pt x="12860" y="12543"/>
                        <a:pt x="12908" y="12483"/>
                        <a:pt x="12960" y="12432"/>
                      </a:cubicBezTo>
                      <a:cubicBezTo>
                        <a:pt x="13118" y="12277"/>
                        <a:pt x="13301" y="12222"/>
                        <a:pt x="13479" y="12144"/>
                      </a:cubicBezTo>
                      <a:cubicBezTo>
                        <a:pt x="13641" y="12074"/>
                        <a:pt x="13799" y="11983"/>
                        <a:pt x="13953" y="11874"/>
                      </a:cubicBezTo>
                      <a:lnTo>
                        <a:pt x="14281" y="11793"/>
                      </a:lnTo>
                      <a:cubicBezTo>
                        <a:pt x="14360" y="11825"/>
                        <a:pt x="14440" y="11849"/>
                        <a:pt x="14521" y="11865"/>
                      </a:cubicBezTo>
                      <a:cubicBezTo>
                        <a:pt x="14767" y="11916"/>
                        <a:pt x="15017" y="11898"/>
                        <a:pt x="15259" y="11811"/>
                      </a:cubicBezTo>
                      <a:lnTo>
                        <a:pt x="16161" y="11757"/>
                      </a:lnTo>
                      <a:lnTo>
                        <a:pt x="16531" y="11622"/>
                      </a:lnTo>
                      <a:lnTo>
                        <a:pt x="16723" y="11227"/>
                      </a:lnTo>
                      <a:cubicBezTo>
                        <a:pt x="16800" y="11082"/>
                        <a:pt x="16871" y="10929"/>
                        <a:pt x="16936" y="10768"/>
                      </a:cubicBezTo>
                      <a:cubicBezTo>
                        <a:pt x="17005" y="10598"/>
                        <a:pt x="17067" y="10421"/>
                        <a:pt x="17122" y="10237"/>
                      </a:cubicBezTo>
                      <a:cubicBezTo>
                        <a:pt x="17212" y="10207"/>
                        <a:pt x="17300" y="10162"/>
                        <a:pt x="17384" y="10102"/>
                      </a:cubicBezTo>
                      <a:cubicBezTo>
                        <a:pt x="17505" y="10017"/>
                        <a:pt x="17617" y="9902"/>
                        <a:pt x="17717" y="9761"/>
                      </a:cubicBezTo>
                      <a:lnTo>
                        <a:pt x="17947" y="9761"/>
                      </a:lnTo>
                      <a:cubicBezTo>
                        <a:pt x="18045" y="9773"/>
                        <a:pt x="18142" y="9725"/>
                        <a:pt x="18220" y="9626"/>
                      </a:cubicBezTo>
                      <a:cubicBezTo>
                        <a:pt x="18279" y="9552"/>
                        <a:pt x="18324" y="9453"/>
                        <a:pt x="18351" y="9338"/>
                      </a:cubicBezTo>
                      <a:lnTo>
                        <a:pt x="18711" y="9176"/>
                      </a:lnTo>
                      <a:lnTo>
                        <a:pt x="18853" y="8915"/>
                      </a:lnTo>
                      <a:lnTo>
                        <a:pt x="18963" y="8726"/>
                      </a:lnTo>
                      <a:cubicBezTo>
                        <a:pt x="18976" y="8683"/>
                        <a:pt x="18978" y="8633"/>
                        <a:pt x="18969" y="8587"/>
                      </a:cubicBezTo>
                      <a:cubicBezTo>
                        <a:pt x="18896" y="8213"/>
                        <a:pt x="18532" y="8454"/>
                        <a:pt x="18637" y="8807"/>
                      </a:cubicBezTo>
                      <a:lnTo>
                        <a:pt x="19215" y="8144"/>
                      </a:lnTo>
                      <a:lnTo>
                        <a:pt x="19558" y="8144"/>
                      </a:lnTo>
                      <a:lnTo>
                        <a:pt x="19689" y="7866"/>
                      </a:lnTo>
                      <a:lnTo>
                        <a:pt x="19770" y="7491"/>
                      </a:lnTo>
                      <a:lnTo>
                        <a:pt x="19999" y="7060"/>
                      </a:lnTo>
                      <a:lnTo>
                        <a:pt x="20381" y="6735"/>
                      </a:lnTo>
                      <a:lnTo>
                        <a:pt x="20691" y="6600"/>
                      </a:lnTo>
                      <a:lnTo>
                        <a:pt x="21040" y="6465"/>
                      </a:lnTo>
                      <a:lnTo>
                        <a:pt x="21334" y="6336"/>
                      </a:lnTo>
                      <a:lnTo>
                        <a:pt x="21600" y="6123"/>
                      </a:lnTo>
                      <a:lnTo>
                        <a:pt x="21257" y="5980"/>
                      </a:lnTo>
                      <a:lnTo>
                        <a:pt x="21138" y="5575"/>
                      </a:lnTo>
                      <a:lnTo>
                        <a:pt x="21284" y="5251"/>
                      </a:lnTo>
                      <a:lnTo>
                        <a:pt x="21284" y="4963"/>
                      </a:lnTo>
                      <a:lnTo>
                        <a:pt x="21071" y="4694"/>
                      </a:lnTo>
                      <a:lnTo>
                        <a:pt x="20667" y="4613"/>
                      </a:lnTo>
                      <a:lnTo>
                        <a:pt x="20339" y="4586"/>
                      </a:lnTo>
                      <a:lnTo>
                        <a:pt x="20051" y="4613"/>
                      </a:lnTo>
                      <a:lnTo>
                        <a:pt x="19859" y="4613"/>
                      </a:lnTo>
                      <a:lnTo>
                        <a:pt x="19603" y="4586"/>
                      </a:lnTo>
                      <a:lnTo>
                        <a:pt x="19603" y="4272"/>
                      </a:lnTo>
                      <a:lnTo>
                        <a:pt x="19396" y="4353"/>
                      </a:lnTo>
                      <a:lnTo>
                        <a:pt x="19894" y="4038"/>
                      </a:lnTo>
                      <a:lnTo>
                        <a:pt x="20146" y="3642"/>
                      </a:lnTo>
                      <a:lnTo>
                        <a:pt x="20155" y="3249"/>
                      </a:lnTo>
                      <a:lnTo>
                        <a:pt x="19903" y="3356"/>
                      </a:lnTo>
                      <a:lnTo>
                        <a:pt x="19778" y="2934"/>
                      </a:lnTo>
                      <a:lnTo>
                        <a:pt x="19385" y="2765"/>
                      </a:lnTo>
                      <a:lnTo>
                        <a:pt x="18988" y="2727"/>
                      </a:lnTo>
                      <a:lnTo>
                        <a:pt x="18732" y="2753"/>
                      </a:lnTo>
                      <a:lnTo>
                        <a:pt x="18557" y="2807"/>
                      </a:lnTo>
                      <a:lnTo>
                        <a:pt x="18114" y="2834"/>
                      </a:lnTo>
                      <a:lnTo>
                        <a:pt x="17852" y="2969"/>
                      </a:lnTo>
                      <a:lnTo>
                        <a:pt x="17727" y="3230"/>
                      </a:lnTo>
                      <a:lnTo>
                        <a:pt x="17400" y="3436"/>
                      </a:lnTo>
                      <a:lnTo>
                        <a:pt x="17126" y="3436"/>
                      </a:lnTo>
                      <a:lnTo>
                        <a:pt x="16984" y="3275"/>
                      </a:lnTo>
                      <a:lnTo>
                        <a:pt x="17191" y="2871"/>
                      </a:lnTo>
                      <a:lnTo>
                        <a:pt x="17469" y="3023"/>
                      </a:lnTo>
                      <a:lnTo>
                        <a:pt x="17948" y="2637"/>
                      </a:lnTo>
                      <a:lnTo>
                        <a:pt x="18303" y="2501"/>
                      </a:lnTo>
                      <a:lnTo>
                        <a:pt x="18615" y="2408"/>
                      </a:lnTo>
                      <a:lnTo>
                        <a:pt x="19053" y="2336"/>
                      </a:lnTo>
                      <a:lnTo>
                        <a:pt x="19146" y="1959"/>
                      </a:lnTo>
                      <a:lnTo>
                        <a:pt x="19551" y="1618"/>
                      </a:lnTo>
                      <a:lnTo>
                        <a:pt x="20266" y="0"/>
                      </a:lnTo>
                      <a:cubicBezTo>
                        <a:pt x="16269" y="714"/>
                        <a:pt x="12406" y="2786"/>
                        <a:pt x="8920" y="6085"/>
                      </a:cubicBezTo>
                      <a:cubicBezTo>
                        <a:pt x="5427" y="9390"/>
                        <a:pt x="2390" y="13855"/>
                        <a:pt x="0" y="19197"/>
                      </a:cubicBezTo>
                      <a:close/>
                    </a:path>
                  </a:pathLst>
                </a:custGeom>
                <a:solidFill>
                  <a:srgbClr val="005A8A"/>
                </a:solidFill>
                <a:ln w="12700" cap="flat">
                  <a:noFill/>
                  <a:miter lim="400000"/>
                </a:ln>
                <a:effectLst/>
              </p:spPr>
              <p:txBody>
                <a:bodyPr wrap="square" lIns="91440" tIns="45720" rIns="91440" bIns="45720" anchor="ctr">
                  <a:normAutofit fontScale="475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ïṣļiďé"/>
                <p:cNvSpPr/>
                <p:nvPr/>
              </p:nvSpPr>
              <p:spPr>
                <a:xfrm>
                  <a:off x="5334061" y="2423083"/>
                  <a:ext cx="1990803" cy="2323756"/>
                </a:xfrm>
                <a:custGeom>
                  <a:avLst/>
                  <a:gdLst/>
                  <a:ahLst/>
                  <a:cxnLst>
                    <a:cxn ang="0">
                      <a:pos x="wd2" y="hd2"/>
                    </a:cxn>
                    <a:cxn ang="5400000">
                      <a:pos x="wd2" y="hd2"/>
                    </a:cxn>
                    <a:cxn ang="10800000">
                      <a:pos x="wd2" y="hd2"/>
                    </a:cxn>
                    <a:cxn ang="16200000">
                      <a:pos x="wd2" y="hd2"/>
                    </a:cxn>
                  </a:cxnLst>
                  <a:rect l="0" t="0" r="r" b="b"/>
                  <a:pathLst>
                    <a:path w="21600" h="21600" extrusionOk="0">
                      <a:moveTo>
                        <a:pt x="5144" y="4147"/>
                      </a:moveTo>
                      <a:lnTo>
                        <a:pt x="5022" y="4189"/>
                      </a:lnTo>
                      <a:lnTo>
                        <a:pt x="4921" y="4242"/>
                      </a:lnTo>
                      <a:lnTo>
                        <a:pt x="4947" y="4142"/>
                      </a:lnTo>
                      <a:lnTo>
                        <a:pt x="4925" y="4073"/>
                      </a:lnTo>
                      <a:lnTo>
                        <a:pt x="4841" y="4150"/>
                      </a:lnTo>
                      <a:cubicBezTo>
                        <a:pt x="4817" y="4180"/>
                        <a:pt x="4789" y="4208"/>
                        <a:pt x="4757" y="4233"/>
                      </a:cubicBezTo>
                      <a:cubicBezTo>
                        <a:pt x="4719" y="4264"/>
                        <a:pt x="4676" y="4291"/>
                        <a:pt x="4630" y="4312"/>
                      </a:cubicBezTo>
                      <a:lnTo>
                        <a:pt x="4701" y="4380"/>
                      </a:lnTo>
                      <a:lnTo>
                        <a:pt x="4729" y="4509"/>
                      </a:lnTo>
                      <a:lnTo>
                        <a:pt x="4667" y="4606"/>
                      </a:lnTo>
                      <a:cubicBezTo>
                        <a:pt x="4610" y="4594"/>
                        <a:pt x="4551" y="4596"/>
                        <a:pt x="4495" y="4612"/>
                      </a:cubicBezTo>
                      <a:cubicBezTo>
                        <a:pt x="4452" y="4625"/>
                        <a:pt x="4412" y="4647"/>
                        <a:pt x="4380" y="4676"/>
                      </a:cubicBezTo>
                      <a:lnTo>
                        <a:pt x="4285" y="4733"/>
                      </a:lnTo>
                      <a:lnTo>
                        <a:pt x="4124" y="4743"/>
                      </a:lnTo>
                      <a:lnTo>
                        <a:pt x="4018" y="4813"/>
                      </a:lnTo>
                      <a:lnTo>
                        <a:pt x="3992" y="4903"/>
                      </a:lnTo>
                      <a:lnTo>
                        <a:pt x="3998" y="4972"/>
                      </a:lnTo>
                      <a:cubicBezTo>
                        <a:pt x="3949" y="4989"/>
                        <a:pt x="3903" y="5012"/>
                        <a:pt x="3861" y="5040"/>
                      </a:cubicBezTo>
                      <a:cubicBezTo>
                        <a:pt x="3834" y="5058"/>
                        <a:pt x="3808" y="5079"/>
                        <a:pt x="3797" y="5107"/>
                      </a:cubicBezTo>
                      <a:cubicBezTo>
                        <a:pt x="3780" y="5151"/>
                        <a:pt x="3800" y="5198"/>
                        <a:pt x="3840" y="5231"/>
                      </a:cubicBezTo>
                      <a:cubicBezTo>
                        <a:pt x="3893" y="5273"/>
                        <a:pt x="3969" y="5284"/>
                        <a:pt x="4036" y="5260"/>
                      </a:cubicBezTo>
                      <a:lnTo>
                        <a:pt x="4147" y="5219"/>
                      </a:lnTo>
                      <a:lnTo>
                        <a:pt x="4259" y="5181"/>
                      </a:lnTo>
                      <a:cubicBezTo>
                        <a:pt x="4305" y="5178"/>
                        <a:pt x="4349" y="5167"/>
                        <a:pt x="4389" y="5147"/>
                      </a:cubicBezTo>
                      <a:cubicBezTo>
                        <a:pt x="4433" y="5125"/>
                        <a:pt x="4469" y="5094"/>
                        <a:pt x="4495" y="5057"/>
                      </a:cubicBezTo>
                      <a:lnTo>
                        <a:pt x="4528" y="4922"/>
                      </a:lnTo>
                      <a:lnTo>
                        <a:pt x="4602" y="4789"/>
                      </a:lnTo>
                      <a:lnTo>
                        <a:pt x="4706" y="4696"/>
                      </a:lnTo>
                      <a:lnTo>
                        <a:pt x="4801" y="4666"/>
                      </a:lnTo>
                      <a:lnTo>
                        <a:pt x="4870" y="4761"/>
                      </a:lnTo>
                      <a:lnTo>
                        <a:pt x="4817" y="4795"/>
                      </a:lnTo>
                      <a:lnTo>
                        <a:pt x="4866" y="4872"/>
                      </a:lnTo>
                      <a:cubicBezTo>
                        <a:pt x="4896" y="4876"/>
                        <a:pt x="4923" y="4886"/>
                        <a:pt x="4947" y="4902"/>
                      </a:cubicBezTo>
                      <a:cubicBezTo>
                        <a:pt x="4984" y="4926"/>
                        <a:pt x="5008" y="4963"/>
                        <a:pt x="5014" y="5003"/>
                      </a:cubicBezTo>
                      <a:lnTo>
                        <a:pt x="4919" y="5045"/>
                      </a:lnTo>
                      <a:lnTo>
                        <a:pt x="4794" y="5009"/>
                      </a:lnTo>
                      <a:lnTo>
                        <a:pt x="4722" y="5090"/>
                      </a:lnTo>
                      <a:lnTo>
                        <a:pt x="4748" y="5193"/>
                      </a:lnTo>
                      <a:lnTo>
                        <a:pt x="4694" y="5242"/>
                      </a:lnTo>
                      <a:lnTo>
                        <a:pt x="4577" y="5246"/>
                      </a:lnTo>
                      <a:lnTo>
                        <a:pt x="4551" y="5334"/>
                      </a:lnTo>
                      <a:cubicBezTo>
                        <a:pt x="4589" y="5327"/>
                        <a:pt x="4629" y="5340"/>
                        <a:pt x="4651" y="5367"/>
                      </a:cubicBezTo>
                      <a:cubicBezTo>
                        <a:pt x="4698" y="5426"/>
                        <a:pt x="4656" y="5506"/>
                        <a:pt x="4574" y="5514"/>
                      </a:cubicBezTo>
                      <a:cubicBezTo>
                        <a:pt x="4539" y="5512"/>
                        <a:pt x="4505" y="5514"/>
                        <a:pt x="4471" y="5520"/>
                      </a:cubicBezTo>
                      <a:cubicBezTo>
                        <a:pt x="4426" y="5529"/>
                        <a:pt x="4384" y="5545"/>
                        <a:pt x="4346" y="5568"/>
                      </a:cubicBezTo>
                      <a:lnTo>
                        <a:pt x="4467" y="5663"/>
                      </a:lnTo>
                      <a:cubicBezTo>
                        <a:pt x="4481" y="5632"/>
                        <a:pt x="4509" y="5606"/>
                        <a:pt x="4544" y="5591"/>
                      </a:cubicBezTo>
                      <a:cubicBezTo>
                        <a:pt x="4573" y="5579"/>
                        <a:pt x="4606" y="5575"/>
                        <a:pt x="4639" y="5579"/>
                      </a:cubicBezTo>
                      <a:lnTo>
                        <a:pt x="4787" y="5587"/>
                      </a:lnTo>
                      <a:lnTo>
                        <a:pt x="4940" y="5545"/>
                      </a:lnTo>
                      <a:cubicBezTo>
                        <a:pt x="4985" y="5544"/>
                        <a:pt x="5030" y="5544"/>
                        <a:pt x="5075" y="5545"/>
                      </a:cubicBezTo>
                      <a:cubicBezTo>
                        <a:pt x="5116" y="5546"/>
                        <a:pt x="5157" y="5548"/>
                        <a:pt x="5198" y="5551"/>
                      </a:cubicBezTo>
                      <a:lnTo>
                        <a:pt x="5364" y="5557"/>
                      </a:lnTo>
                      <a:lnTo>
                        <a:pt x="5453" y="5557"/>
                      </a:lnTo>
                      <a:lnTo>
                        <a:pt x="5501" y="5630"/>
                      </a:lnTo>
                      <a:cubicBezTo>
                        <a:pt x="5483" y="5643"/>
                        <a:pt x="5465" y="5655"/>
                        <a:pt x="5446" y="5666"/>
                      </a:cubicBezTo>
                      <a:cubicBezTo>
                        <a:pt x="5383" y="5703"/>
                        <a:pt x="5314" y="5733"/>
                        <a:pt x="5242" y="5755"/>
                      </a:cubicBezTo>
                      <a:cubicBezTo>
                        <a:pt x="5191" y="5771"/>
                        <a:pt x="5138" y="5782"/>
                        <a:pt x="5084" y="5789"/>
                      </a:cubicBezTo>
                      <a:lnTo>
                        <a:pt x="4996" y="5696"/>
                      </a:lnTo>
                      <a:lnTo>
                        <a:pt x="4920" y="5779"/>
                      </a:lnTo>
                      <a:lnTo>
                        <a:pt x="4899" y="5838"/>
                      </a:lnTo>
                      <a:lnTo>
                        <a:pt x="4472" y="5838"/>
                      </a:lnTo>
                      <a:lnTo>
                        <a:pt x="4346" y="5880"/>
                      </a:lnTo>
                      <a:lnTo>
                        <a:pt x="4405" y="5971"/>
                      </a:lnTo>
                      <a:lnTo>
                        <a:pt x="4495" y="6056"/>
                      </a:lnTo>
                      <a:lnTo>
                        <a:pt x="4565" y="6112"/>
                      </a:lnTo>
                      <a:lnTo>
                        <a:pt x="4646" y="6235"/>
                      </a:lnTo>
                      <a:lnTo>
                        <a:pt x="4679" y="6340"/>
                      </a:lnTo>
                      <a:lnTo>
                        <a:pt x="4749" y="6524"/>
                      </a:lnTo>
                      <a:lnTo>
                        <a:pt x="4709" y="6662"/>
                      </a:lnTo>
                      <a:lnTo>
                        <a:pt x="4656" y="6763"/>
                      </a:lnTo>
                      <a:lnTo>
                        <a:pt x="4599" y="6820"/>
                      </a:lnTo>
                      <a:lnTo>
                        <a:pt x="4468" y="6826"/>
                      </a:lnTo>
                      <a:cubicBezTo>
                        <a:pt x="4438" y="6822"/>
                        <a:pt x="4408" y="6818"/>
                        <a:pt x="4378" y="6814"/>
                      </a:cubicBezTo>
                      <a:cubicBezTo>
                        <a:pt x="4311" y="6806"/>
                        <a:pt x="4243" y="6799"/>
                        <a:pt x="4176" y="6794"/>
                      </a:cubicBezTo>
                      <a:lnTo>
                        <a:pt x="3983" y="6770"/>
                      </a:lnTo>
                      <a:lnTo>
                        <a:pt x="3864" y="6735"/>
                      </a:lnTo>
                      <a:lnTo>
                        <a:pt x="3725" y="6699"/>
                      </a:lnTo>
                      <a:lnTo>
                        <a:pt x="3614" y="6669"/>
                      </a:lnTo>
                      <a:cubicBezTo>
                        <a:pt x="3559" y="6646"/>
                        <a:pt x="3495" y="6644"/>
                        <a:pt x="3438" y="6663"/>
                      </a:cubicBezTo>
                      <a:cubicBezTo>
                        <a:pt x="3398" y="6676"/>
                        <a:pt x="3364" y="6699"/>
                        <a:pt x="3340" y="6728"/>
                      </a:cubicBezTo>
                      <a:lnTo>
                        <a:pt x="3273" y="6889"/>
                      </a:lnTo>
                      <a:cubicBezTo>
                        <a:pt x="3278" y="6911"/>
                        <a:pt x="3280" y="6934"/>
                        <a:pt x="3280" y="6956"/>
                      </a:cubicBezTo>
                      <a:cubicBezTo>
                        <a:pt x="3280" y="6995"/>
                        <a:pt x="3273" y="7034"/>
                        <a:pt x="3259" y="7072"/>
                      </a:cubicBezTo>
                      <a:lnTo>
                        <a:pt x="3185" y="7197"/>
                      </a:lnTo>
                      <a:cubicBezTo>
                        <a:pt x="3167" y="7226"/>
                        <a:pt x="3147" y="7255"/>
                        <a:pt x="3125" y="7282"/>
                      </a:cubicBezTo>
                      <a:cubicBezTo>
                        <a:pt x="3083" y="7333"/>
                        <a:pt x="3034" y="7380"/>
                        <a:pt x="2985" y="7427"/>
                      </a:cubicBezTo>
                      <a:cubicBezTo>
                        <a:pt x="2936" y="7474"/>
                        <a:pt x="2886" y="7522"/>
                        <a:pt x="2836" y="7569"/>
                      </a:cubicBezTo>
                      <a:lnTo>
                        <a:pt x="2883" y="7672"/>
                      </a:lnTo>
                      <a:lnTo>
                        <a:pt x="2932" y="7729"/>
                      </a:lnTo>
                      <a:lnTo>
                        <a:pt x="2879" y="7819"/>
                      </a:lnTo>
                      <a:cubicBezTo>
                        <a:pt x="2851" y="7849"/>
                        <a:pt x="2851" y="7891"/>
                        <a:pt x="2879" y="7921"/>
                      </a:cubicBezTo>
                      <a:cubicBezTo>
                        <a:pt x="2905" y="7948"/>
                        <a:pt x="2949" y="7958"/>
                        <a:pt x="2988" y="7944"/>
                      </a:cubicBezTo>
                      <a:lnTo>
                        <a:pt x="3102" y="7962"/>
                      </a:lnTo>
                      <a:lnTo>
                        <a:pt x="3278" y="8014"/>
                      </a:lnTo>
                      <a:lnTo>
                        <a:pt x="3301" y="8122"/>
                      </a:lnTo>
                      <a:lnTo>
                        <a:pt x="3368" y="8235"/>
                      </a:lnTo>
                      <a:lnTo>
                        <a:pt x="3464" y="8235"/>
                      </a:lnTo>
                      <a:lnTo>
                        <a:pt x="3571" y="8205"/>
                      </a:lnTo>
                      <a:cubicBezTo>
                        <a:pt x="3620" y="8187"/>
                        <a:pt x="3671" y="8173"/>
                        <a:pt x="3724" y="8163"/>
                      </a:cubicBezTo>
                      <a:cubicBezTo>
                        <a:pt x="3799" y="8149"/>
                        <a:pt x="3876" y="8143"/>
                        <a:pt x="3954" y="8146"/>
                      </a:cubicBezTo>
                      <a:lnTo>
                        <a:pt x="4160" y="8110"/>
                      </a:lnTo>
                      <a:lnTo>
                        <a:pt x="4323" y="8064"/>
                      </a:lnTo>
                      <a:lnTo>
                        <a:pt x="4543" y="8024"/>
                      </a:lnTo>
                      <a:cubicBezTo>
                        <a:pt x="4582" y="8000"/>
                        <a:pt x="4618" y="7972"/>
                        <a:pt x="4648" y="7941"/>
                      </a:cubicBezTo>
                      <a:cubicBezTo>
                        <a:pt x="4693" y="7894"/>
                        <a:pt x="4726" y="7841"/>
                        <a:pt x="4747" y="7784"/>
                      </a:cubicBezTo>
                      <a:cubicBezTo>
                        <a:pt x="4697" y="7762"/>
                        <a:pt x="4663" y="7720"/>
                        <a:pt x="4657" y="7672"/>
                      </a:cubicBezTo>
                      <a:cubicBezTo>
                        <a:pt x="4646" y="7592"/>
                        <a:pt x="4712" y="7519"/>
                        <a:pt x="4806" y="7507"/>
                      </a:cubicBezTo>
                      <a:cubicBezTo>
                        <a:pt x="4818" y="7473"/>
                        <a:pt x="4844" y="7444"/>
                        <a:pt x="4880" y="7426"/>
                      </a:cubicBezTo>
                      <a:cubicBezTo>
                        <a:pt x="4971" y="7379"/>
                        <a:pt x="5085" y="7414"/>
                        <a:pt x="5186" y="7392"/>
                      </a:cubicBezTo>
                      <a:cubicBezTo>
                        <a:pt x="5242" y="7380"/>
                        <a:pt x="5289" y="7351"/>
                        <a:pt x="5333" y="7320"/>
                      </a:cubicBezTo>
                      <a:cubicBezTo>
                        <a:pt x="5374" y="7291"/>
                        <a:pt x="5413" y="7259"/>
                        <a:pt x="5449" y="7225"/>
                      </a:cubicBezTo>
                      <a:lnTo>
                        <a:pt x="5498" y="7058"/>
                      </a:lnTo>
                      <a:cubicBezTo>
                        <a:pt x="5502" y="7021"/>
                        <a:pt x="5529" y="6989"/>
                        <a:pt x="5567" y="6974"/>
                      </a:cubicBezTo>
                      <a:cubicBezTo>
                        <a:pt x="5607" y="6958"/>
                        <a:pt x="5653" y="6962"/>
                        <a:pt x="5695" y="6972"/>
                      </a:cubicBezTo>
                      <a:cubicBezTo>
                        <a:pt x="5767" y="6989"/>
                        <a:pt x="5831" y="7025"/>
                        <a:pt x="5880" y="7073"/>
                      </a:cubicBezTo>
                      <a:cubicBezTo>
                        <a:pt x="5912" y="7079"/>
                        <a:pt x="5945" y="7079"/>
                        <a:pt x="5977" y="7073"/>
                      </a:cubicBezTo>
                      <a:cubicBezTo>
                        <a:pt x="6027" y="7064"/>
                        <a:pt x="6071" y="7041"/>
                        <a:pt x="6117" y="7023"/>
                      </a:cubicBezTo>
                      <a:cubicBezTo>
                        <a:pt x="6235" y="6978"/>
                        <a:pt x="6368" y="6966"/>
                        <a:pt x="6495" y="6990"/>
                      </a:cubicBezTo>
                      <a:lnTo>
                        <a:pt x="6521" y="6918"/>
                      </a:lnTo>
                      <a:lnTo>
                        <a:pt x="6732" y="6930"/>
                      </a:lnTo>
                      <a:lnTo>
                        <a:pt x="6759" y="7000"/>
                      </a:lnTo>
                      <a:lnTo>
                        <a:pt x="6725" y="7115"/>
                      </a:lnTo>
                      <a:lnTo>
                        <a:pt x="6845" y="7228"/>
                      </a:lnTo>
                      <a:cubicBezTo>
                        <a:pt x="6898" y="7250"/>
                        <a:pt x="6947" y="7275"/>
                        <a:pt x="6994" y="7304"/>
                      </a:cubicBezTo>
                      <a:cubicBezTo>
                        <a:pt x="7034" y="7328"/>
                        <a:pt x="7071" y="7355"/>
                        <a:pt x="7110" y="7379"/>
                      </a:cubicBezTo>
                      <a:cubicBezTo>
                        <a:pt x="7205" y="7438"/>
                        <a:pt x="7309" y="7485"/>
                        <a:pt x="7419" y="7517"/>
                      </a:cubicBezTo>
                      <a:cubicBezTo>
                        <a:pt x="7439" y="7569"/>
                        <a:pt x="7471" y="7617"/>
                        <a:pt x="7514" y="7658"/>
                      </a:cubicBezTo>
                      <a:cubicBezTo>
                        <a:pt x="7555" y="7697"/>
                        <a:pt x="7605" y="7728"/>
                        <a:pt x="7660" y="7749"/>
                      </a:cubicBezTo>
                      <a:lnTo>
                        <a:pt x="7716" y="7827"/>
                      </a:lnTo>
                      <a:cubicBezTo>
                        <a:pt x="7731" y="7845"/>
                        <a:pt x="7742" y="7866"/>
                        <a:pt x="7746" y="7889"/>
                      </a:cubicBezTo>
                      <a:cubicBezTo>
                        <a:pt x="7754" y="7933"/>
                        <a:pt x="7739" y="7977"/>
                        <a:pt x="7704" y="8010"/>
                      </a:cubicBezTo>
                      <a:cubicBezTo>
                        <a:pt x="7711" y="8035"/>
                        <a:pt x="7703" y="8060"/>
                        <a:pt x="7684" y="8079"/>
                      </a:cubicBezTo>
                      <a:cubicBezTo>
                        <a:pt x="7661" y="8102"/>
                        <a:pt x="7626" y="8112"/>
                        <a:pt x="7592" y="8105"/>
                      </a:cubicBezTo>
                      <a:lnTo>
                        <a:pt x="7504" y="8069"/>
                      </a:lnTo>
                      <a:lnTo>
                        <a:pt x="7416" y="8093"/>
                      </a:lnTo>
                      <a:lnTo>
                        <a:pt x="7344" y="8081"/>
                      </a:lnTo>
                      <a:lnTo>
                        <a:pt x="7272" y="8022"/>
                      </a:lnTo>
                      <a:cubicBezTo>
                        <a:pt x="7246" y="8014"/>
                        <a:pt x="7219" y="8010"/>
                        <a:pt x="7191" y="8010"/>
                      </a:cubicBezTo>
                      <a:cubicBezTo>
                        <a:pt x="7151" y="8010"/>
                        <a:pt x="7112" y="8018"/>
                        <a:pt x="7077" y="8033"/>
                      </a:cubicBezTo>
                      <a:lnTo>
                        <a:pt x="6982" y="8107"/>
                      </a:lnTo>
                      <a:lnTo>
                        <a:pt x="7119" y="8177"/>
                      </a:lnTo>
                      <a:lnTo>
                        <a:pt x="7252" y="8238"/>
                      </a:lnTo>
                      <a:lnTo>
                        <a:pt x="7395" y="8302"/>
                      </a:lnTo>
                      <a:cubicBezTo>
                        <a:pt x="7419" y="8293"/>
                        <a:pt x="7446" y="8296"/>
                        <a:pt x="7467" y="8308"/>
                      </a:cubicBezTo>
                      <a:cubicBezTo>
                        <a:pt x="7512" y="8333"/>
                        <a:pt x="7518" y="8393"/>
                        <a:pt x="7570" y="8409"/>
                      </a:cubicBezTo>
                      <a:cubicBezTo>
                        <a:pt x="7646" y="8434"/>
                        <a:pt x="7713" y="8358"/>
                        <a:pt x="7665" y="8302"/>
                      </a:cubicBezTo>
                      <a:lnTo>
                        <a:pt x="7688" y="8173"/>
                      </a:lnTo>
                      <a:lnTo>
                        <a:pt x="7814" y="8125"/>
                      </a:lnTo>
                      <a:lnTo>
                        <a:pt x="7888" y="8068"/>
                      </a:lnTo>
                      <a:lnTo>
                        <a:pt x="7921" y="7980"/>
                      </a:lnTo>
                      <a:cubicBezTo>
                        <a:pt x="7961" y="7970"/>
                        <a:pt x="7995" y="7944"/>
                        <a:pt x="8011" y="7911"/>
                      </a:cubicBezTo>
                      <a:cubicBezTo>
                        <a:pt x="8034" y="7863"/>
                        <a:pt x="8020" y="7808"/>
                        <a:pt x="7976" y="7773"/>
                      </a:cubicBezTo>
                      <a:lnTo>
                        <a:pt x="7969" y="7668"/>
                      </a:lnTo>
                      <a:lnTo>
                        <a:pt x="8034" y="7636"/>
                      </a:lnTo>
                      <a:lnTo>
                        <a:pt x="8111" y="7738"/>
                      </a:lnTo>
                      <a:lnTo>
                        <a:pt x="8185" y="7782"/>
                      </a:lnTo>
                      <a:lnTo>
                        <a:pt x="8274" y="7698"/>
                      </a:lnTo>
                      <a:lnTo>
                        <a:pt x="8177" y="7550"/>
                      </a:lnTo>
                      <a:lnTo>
                        <a:pt x="8026" y="7504"/>
                      </a:lnTo>
                      <a:cubicBezTo>
                        <a:pt x="7981" y="7483"/>
                        <a:pt x="7939" y="7457"/>
                        <a:pt x="7903" y="7426"/>
                      </a:cubicBezTo>
                      <a:cubicBezTo>
                        <a:pt x="7871" y="7399"/>
                        <a:pt x="7843" y="7369"/>
                        <a:pt x="7820" y="7337"/>
                      </a:cubicBezTo>
                      <a:lnTo>
                        <a:pt x="7687" y="7259"/>
                      </a:lnTo>
                      <a:lnTo>
                        <a:pt x="7555" y="7176"/>
                      </a:lnTo>
                      <a:lnTo>
                        <a:pt x="7362" y="7110"/>
                      </a:lnTo>
                      <a:lnTo>
                        <a:pt x="7313" y="6985"/>
                      </a:lnTo>
                      <a:lnTo>
                        <a:pt x="7272" y="6885"/>
                      </a:lnTo>
                      <a:lnTo>
                        <a:pt x="7191" y="6861"/>
                      </a:lnTo>
                      <a:lnTo>
                        <a:pt x="7163" y="6748"/>
                      </a:lnTo>
                      <a:lnTo>
                        <a:pt x="7217" y="6657"/>
                      </a:lnTo>
                      <a:lnTo>
                        <a:pt x="7296" y="6663"/>
                      </a:lnTo>
                      <a:lnTo>
                        <a:pt x="7351" y="6722"/>
                      </a:lnTo>
                      <a:lnTo>
                        <a:pt x="7402" y="6812"/>
                      </a:lnTo>
                      <a:lnTo>
                        <a:pt x="7467" y="6883"/>
                      </a:lnTo>
                      <a:lnTo>
                        <a:pt x="7585" y="6901"/>
                      </a:lnTo>
                      <a:lnTo>
                        <a:pt x="7687" y="6960"/>
                      </a:lnTo>
                      <a:cubicBezTo>
                        <a:pt x="7723" y="6966"/>
                        <a:pt x="7753" y="6987"/>
                        <a:pt x="7766" y="7016"/>
                      </a:cubicBezTo>
                      <a:cubicBezTo>
                        <a:pt x="7786" y="7059"/>
                        <a:pt x="7766" y="7108"/>
                        <a:pt x="7720" y="7131"/>
                      </a:cubicBezTo>
                      <a:lnTo>
                        <a:pt x="7873" y="7173"/>
                      </a:lnTo>
                      <a:lnTo>
                        <a:pt x="7964" y="7179"/>
                      </a:lnTo>
                      <a:cubicBezTo>
                        <a:pt x="7997" y="7183"/>
                        <a:pt x="8030" y="7191"/>
                        <a:pt x="8061" y="7202"/>
                      </a:cubicBezTo>
                      <a:cubicBezTo>
                        <a:pt x="8116" y="7222"/>
                        <a:pt x="8165" y="7250"/>
                        <a:pt x="8207" y="7286"/>
                      </a:cubicBezTo>
                      <a:lnTo>
                        <a:pt x="8289" y="7322"/>
                      </a:lnTo>
                      <a:lnTo>
                        <a:pt x="8386" y="7363"/>
                      </a:lnTo>
                      <a:lnTo>
                        <a:pt x="8383" y="7544"/>
                      </a:lnTo>
                      <a:lnTo>
                        <a:pt x="8427" y="7763"/>
                      </a:lnTo>
                      <a:lnTo>
                        <a:pt x="8606" y="7823"/>
                      </a:lnTo>
                      <a:lnTo>
                        <a:pt x="8675" y="7900"/>
                      </a:lnTo>
                      <a:lnTo>
                        <a:pt x="8670" y="8036"/>
                      </a:lnTo>
                      <a:lnTo>
                        <a:pt x="8670" y="8130"/>
                      </a:lnTo>
                      <a:lnTo>
                        <a:pt x="8707" y="8199"/>
                      </a:lnTo>
                      <a:lnTo>
                        <a:pt x="8791" y="8203"/>
                      </a:lnTo>
                      <a:lnTo>
                        <a:pt x="8837" y="8317"/>
                      </a:lnTo>
                      <a:lnTo>
                        <a:pt x="8949" y="8380"/>
                      </a:lnTo>
                      <a:lnTo>
                        <a:pt x="9095" y="8380"/>
                      </a:lnTo>
                      <a:cubicBezTo>
                        <a:pt x="9061" y="8420"/>
                        <a:pt x="9079" y="8476"/>
                        <a:pt x="9132" y="8496"/>
                      </a:cubicBezTo>
                      <a:cubicBezTo>
                        <a:pt x="9205" y="8523"/>
                        <a:pt x="9283" y="8467"/>
                        <a:pt x="9264" y="8400"/>
                      </a:cubicBezTo>
                      <a:cubicBezTo>
                        <a:pt x="9182" y="8393"/>
                        <a:pt x="9146" y="8308"/>
                        <a:pt x="9204" y="8257"/>
                      </a:cubicBezTo>
                      <a:cubicBezTo>
                        <a:pt x="9233" y="8232"/>
                        <a:pt x="9278" y="8227"/>
                        <a:pt x="9313" y="8247"/>
                      </a:cubicBezTo>
                      <a:lnTo>
                        <a:pt x="9396" y="8300"/>
                      </a:lnTo>
                      <a:lnTo>
                        <a:pt x="9417" y="8362"/>
                      </a:lnTo>
                      <a:lnTo>
                        <a:pt x="9424" y="8427"/>
                      </a:lnTo>
                      <a:lnTo>
                        <a:pt x="9473" y="8562"/>
                      </a:lnTo>
                      <a:lnTo>
                        <a:pt x="9347" y="8521"/>
                      </a:lnTo>
                      <a:lnTo>
                        <a:pt x="9262" y="8546"/>
                      </a:lnTo>
                      <a:cubicBezTo>
                        <a:pt x="9232" y="8570"/>
                        <a:pt x="9221" y="8607"/>
                        <a:pt x="9234" y="8639"/>
                      </a:cubicBezTo>
                      <a:cubicBezTo>
                        <a:pt x="9264" y="8714"/>
                        <a:pt x="9379" y="8731"/>
                        <a:pt x="9436" y="8669"/>
                      </a:cubicBezTo>
                      <a:cubicBezTo>
                        <a:pt x="9491" y="8679"/>
                        <a:pt x="9547" y="8685"/>
                        <a:pt x="9603" y="8687"/>
                      </a:cubicBezTo>
                      <a:cubicBezTo>
                        <a:pt x="9667" y="8690"/>
                        <a:pt x="9732" y="8688"/>
                        <a:pt x="9795" y="8681"/>
                      </a:cubicBezTo>
                      <a:cubicBezTo>
                        <a:pt x="9818" y="8655"/>
                        <a:pt x="9820" y="8620"/>
                        <a:pt x="9802" y="8592"/>
                      </a:cubicBezTo>
                      <a:cubicBezTo>
                        <a:pt x="9758" y="8522"/>
                        <a:pt x="9641" y="8525"/>
                        <a:pt x="9600" y="8596"/>
                      </a:cubicBezTo>
                      <a:lnTo>
                        <a:pt x="9556" y="8542"/>
                      </a:lnTo>
                      <a:lnTo>
                        <a:pt x="9517" y="8371"/>
                      </a:lnTo>
                      <a:lnTo>
                        <a:pt x="9605" y="8389"/>
                      </a:lnTo>
                      <a:lnTo>
                        <a:pt x="9728" y="8348"/>
                      </a:lnTo>
                      <a:cubicBezTo>
                        <a:pt x="9730" y="8326"/>
                        <a:pt x="9730" y="8304"/>
                        <a:pt x="9728" y="8282"/>
                      </a:cubicBezTo>
                      <a:cubicBezTo>
                        <a:pt x="9726" y="8251"/>
                        <a:pt x="9721" y="8219"/>
                        <a:pt x="9712" y="8189"/>
                      </a:cubicBezTo>
                      <a:cubicBezTo>
                        <a:pt x="9684" y="8165"/>
                        <a:pt x="9656" y="8141"/>
                        <a:pt x="9629" y="8117"/>
                      </a:cubicBezTo>
                      <a:cubicBezTo>
                        <a:pt x="9593" y="8085"/>
                        <a:pt x="9557" y="8052"/>
                        <a:pt x="9523" y="8018"/>
                      </a:cubicBezTo>
                      <a:lnTo>
                        <a:pt x="9370" y="7929"/>
                      </a:lnTo>
                      <a:lnTo>
                        <a:pt x="9363" y="7811"/>
                      </a:lnTo>
                      <a:lnTo>
                        <a:pt x="9294" y="7746"/>
                      </a:lnTo>
                      <a:lnTo>
                        <a:pt x="9199" y="7764"/>
                      </a:lnTo>
                      <a:lnTo>
                        <a:pt x="9211" y="7623"/>
                      </a:lnTo>
                      <a:cubicBezTo>
                        <a:pt x="9244" y="7625"/>
                        <a:pt x="9277" y="7621"/>
                        <a:pt x="9308" y="7613"/>
                      </a:cubicBezTo>
                      <a:cubicBezTo>
                        <a:pt x="9352" y="7600"/>
                        <a:pt x="9391" y="7578"/>
                        <a:pt x="9421" y="7548"/>
                      </a:cubicBezTo>
                      <a:cubicBezTo>
                        <a:pt x="9473" y="7506"/>
                        <a:pt x="9555" y="7515"/>
                        <a:pt x="9593" y="7566"/>
                      </a:cubicBezTo>
                      <a:cubicBezTo>
                        <a:pt x="9630" y="7615"/>
                        <a:pt x="9607" y="7681"/>
                        <a:pt x="9545" y="7705"/>
                      </a:cubicBezTo>
                      <a:lnTo>
                        <a:pt x="9577" y="7828"/>
                      </a:lnTo>
                      <a:lnTo>
                        <a:pt x="9658" y="7943"/>
                      </a:lnTo>
                      <a:lnTo>
                        <a:pt x="9718" y="8047"/>
                      </a:lnTo>
                      <a:lnTo>
                        <a:pt x="9790" y="8216"/>
                      </a:lnTo>
                      <a:lnTo>
                        <a:pt x="9808" y="8277"/>
                      </a:lnTo>
                      <a:lnTo>
                        <a:pt x="9903" y="8307"/>
                      </a:lnTo>
                      <a:lnTo>
                        <a:pt x="9999" y="8418"/>
                      </a:lnTo>
                      <a:lnTo>
                        <a:pt x="10017" y="8518"/>
                      </a:lnTo>
                      <a:lnTo>
                        <a:pt x="9953" y="8571"/>
                      </a:lnTo>
                      <a:lnTo>
                        <a:pt x="9980" y="8648"/>
                      </a:lnTo>
                      <a:lnTo>
                        <a:pt x="10080" y="8603"/>
                      </a:lnTo>
                      <a:lnTo>
                        <a:pt x="10080" y="8479"/>
                      </a:lnTo>
                      <a:lnTo>
                        <a:pt x="10168" y="8474"/>
                      </a:lnTo>
                      <a:lnTo>
                        <a:pt x="10161" y="8355"/>
                      </a:lnTo>
                      <a:lnTo>
                        <a:pt x="10272" y="8307"/>
                      </a:lnTo>
                      <a:lnTo>
                        <a:pt x="10362" y="8361"/>
                      </a:lnTo>
                      <a:lnTo>
                        <a:pt x="10409" y="8421"/>
                      </a:lnTo>
                      <a:lnTo>
                        <a:pt x="10530" y="8420"/>
                      </a:lnTo>
                      <a:lnTo>
                        <a:pt x="10578" y="8372"/>
                      </a:lnTo>
                      <a:lnTo>
                        <a:pt x="10643" y="8320"/>
                      </a:lnTo>
                      <a:lnTo>
                        <a:pt x="10752" y="8266"/>
                      </a:lnTo>
                      <a:lnTo>
                        <a:pt x="10856" y="8290"/>
                      </a:lnTo>
                      <a:lnTo>
                        <a:pt x="10965" y="8361"/>
                      </a:lnTo>
                      <a:lnTo>
                        <a:pt x="11181" y="8368"/>
                      </a:lnTo>
                      <a:lnTo>
                        <a:pt x="11236" y="8290"/>
                      </a:lnTo>
                      <a:cubicBezTo>
                        <a:pt x="11264" y="8253"/>
                        <a:pt x="11302" y="8223"/>
                        <a:pt x="11347" y="8201"/>
                      </a:cubicBezTo>
                      <a:cubicBezTo>
                        <a:pt x="11422" y="8166"/>
                        <a:pt x="11510" y="8157"/>
                        <a:pt x="11591" y="8177"/>
                      </a:cubicBezTo>
                      <a:cubicBezTo>
                        <a:pt x="11622" y="8188"/>
                        <a:pt x="11645" y="8210"/>
                        <a:pt x="11654" y="8237"/>
                      </a:cubicBezTo>
                      <a:cubicBezTo>
                        <a:pt x="11678" y="8305"/>
                        <a:pt x="11615" y="8365"/>
                        <a:pt x="11587" y="8430"/>
                      </a:cubicBezTo>
                      <a:cubicBezTo>
                        <a:pt x="11561" y="8490"/>
                        <a:pt x="11566" y="8555"/>
                        <a:pt x="11561" y="8619"/>
                      </a:cubicBezTo>
                      <a:cubicBezTo>
                        <a:pt x="11558" y="8669"/>
                        <a:pt x="11547" y="8719"/>
                        <a:pt x="11531" y="8768"/>
                      </a:cubicBezTo>
                      <a:cubicBezTo>
                        <a:pt x="11539" y="8811"/>
                        <a:pt x="11544" y="8854"/>
                        <a:pt x="11545" y="8897"/>
                      </a:cubicBezTo>
                      <a:cubicBezTo>
                        <a:pt x="11546" y="8941"/>
                        <a:pt x="11544" y="8984"/>
                        <a:pt x="11538" y="9027"/>
                      </a:cubicBezTo>
                      <a:lnTo>
                        <a:pt x="11494" y="9148"/>
                      </a:lnTo>
                      <a:cubicBezTo>
                        <a:pt x="11479" y="9174"/>
                        <a:pt x="11459" y="9197"/>
                        <a:pt x="11434" y="9217"/>
                      </a:cubicBezTo>
                      <a:cubicBezTo>
                        <a:pt x="11399" y="9246"/>
                        <a:pt x="11357" y="9266"/>
                        <a:pt x="11311" y="9277"/>
                      </a:cubicBezTo>
                      <a:cubicBezTo>
                        <a:pt x="11269" y="9279"/>
                        <a:pt x="11227" y="9279"/>
                        <a:pt x="11185" y="9277"/>
                      </a:cubicBezTo>
                      <a:cubicBezTo>
                        <a:pt x="11141" y="9275"/>
                        <a:pt x="11097" y="9271"/>
                        <a:pt x="11053" y="9265"/>
                      </a:cubicBezTo>
                      <a:lnTo>
                        <a:pt x="10926" y="9271"/>
                      </a:lnTo>
                      <a:lnTo>
                        <a:pt x="10687" y="9309"/>
                      </a:lnTo>
                      <a:lnTo>
                        <a:pt x="10621" y="9380"/>
                      </a:lnTo>
                      <a:lnTo>
                        <a:pt x="10437" y="9414"/>
                      </a:lnTo>
                      <a:lnTo>
                        <a:pt x="10300" y="9420"/>
                      </a:lnTo>
                      <a:lnTo>
                        <a:pt x="10112" y="9354"/>
                      </a:lnTo>
                      <a:lnTo>
                        <a:pt x="9997" y="9324"/>
                      </a:lnTo>
                      <a:lnTo>
                        <a:pt x="9811" y="9263"/>
                      </a:lnTo>
                      <a:lnTo>
                        <a:pt x="9562" y="9263"/>
                      </a:lnTo>
                      <a:lnTo>
                        <a:pt x="9360" y="9251"/>
                      </a:lnTo>
                      <a:lnTo>
                        <a:pt x="9244" y="9169"/>
                      </a:lnTo>
                      <a:lnTo>
                        <a:pt x="9108" y="9128"/>
                      </a:lnTo>
                      <a:lnTo>
                        <a:pt x="8892" y="9134"/>
                      </a:lnTo>
                      <a:cubicBezTo>
                        <a:pt x="8877" y="9154"/>
                        <a:pt x="8861" y="9173"/>
                        <a:pt x="8843" y="9191"/>
                      </a:cubicBezTo>
                      <a:cubicBezTo>
                        <a:pt x="8802" y="9233"/>
                        <a:pt x="8752" y="9269"/>
                        <a:pt x="8725" y="9319"/>
                      </a:cubicBezTo>
                      <a:cubicBezTo>
                        <a:pt x="8704" y="9356"/>
                        <a:pt x="8698" y="9398"/>
                        <a:pt x="8676" y="9434"/>
                      </a:cubicBezTo>
                      <a:cubicBezTo>
                        <a:pt x="8653" y="9472"/>
                        <a:pt x="8615" y="9502"/>
                        <a:pt x="8569" y="9518"/>
                      </a:cubicBezTo>
                      <a:cubicBezTo>
                        <a:pt x="8531" y="9533"/>
                        <a:pt x="8490" y="9545"/>
                        <a:pt x="8449" y="9551"/>
                      </a:cubicBezTo>
                      <a:cubicBezTo>
                        <a:pt x="8390" y="9561"/>
                        <a:pt x="8331" y="9561"/>
                        <a:pt x="8272" y="9551"/>
                      </a:cubicBezTo>
                      <a:lnTo>
                        <a:pt x="8140" y="9498"/>
                      </a:lnTo>
                      <a:lnTo>
                        <a:pt x="8029" y="9450"/>
                      </a:lnTo>
                      <a:cubicBezTo>
                        <a:pt x="7975" y="9422"/>
                        <a:pt x="7919" y="9397"/>
                        <a:pt x="7862" y="9374"/>
                      </a:cubicBezTo>
                      <a:cubicBezTo>
                        <a:pt x="7799" y="9349"/>
                        <a:pt x="7734" y="9327"/>
                        <a:pt x="7672" y="9301"/>
                      </a:cubicBezTo>
                      <a:cubicBezTo>
                        <a:pt x="7621" y="9280"/>
                        <a:pt x="7571" y="9257"/>
                        <a:pt x="7523" y="9231"/>
                      </a:cubicBezTo>
                      <a:lnTo>
                        <a:pt x="7310" y="9178"/>
                      </a:lnTo>
                      <a:lnTo>
                        <a:pt x="7080" y="9172"/>
                      </a:lnTo>
                      <a:lnTo>
                        <a:pt x="6883" y="9066"/>
                      </a:lnTo>
                      <a:lnTo>
                        <a:pt x="6783" y="8975"/>
                      </a:lnTo>
                      <a:lnTo>
                        <a:pt x="6688" y="8886"/>
                      </a:lnTo>
                      <a:lnTo>
                        <a:pt x="6542" y="8904"/>
                      </a:lnTo>
                      <a:lnTo>
                        <a:pt x="6584" y="8826"/>
                      </a:lnTo>
                      <a:lnTo>
                        <a:pt x="6743" y="8789"/>
                      </a:lnTo>
                      <a:lnTo>
                        <a:pt x="6771" y="8660"/>
                      </a:lnTo>
                      <a:lnTo>
                        <a:pt x="6668" y="8527"/>
                      </a:lnTo>
                      <a:lnTo>
                        <a:pt x="6675" y="8463"/>
                      </a:lnTo>
                      <a:lnTo>
                        <a:pt x="6768" y="8342"/>
                      </a:lnTo>
                      <a:lnTo>
                        <a:pt x="6788" y="8231"/>
                      </a:lnTo>
                      <a:lnTo>
                        <a:pt x="6680" y="8231"/>
                      </a:lnTo>
                      <a:lnTo>
                        <a:pt x="6594" y="8196"/>
                      </a:lnTo>
                      <a:lnTo>
                        <a:pt x="6481" y="8150"/>
                      </a:lnTo>
                      <a:cubicBezTo>
                        <a:pt x="6412" y="8162"/>
                        <a:pt x="6343" y="8172"/>
                        <a:pt x="6274" y="8180"/>
                      </a:cubicBezTo>
                      <a:cubicBezTo>
                        <a:pt x="6150" y="8194"/>
                        <a:pt x="6025" y="8201"/>
                        <a:pt x="5900" y="8202"/>
                      </a:cubicBezTo>
                      <a:cubicBezTo>
                        <a:pt x="5805" y="8232"/>
                        <a:pt x="5704" y="8248"/>
                        <a:pt x="5603" y="8248"/>
                      </a:cubicBezTo>
                      <a:cubicBezTo>
                        <a:pt x="5489" y="8249"/>
                        <a:pt x="5376" y="8231"/>
                        <a:pt x="5270" y="8196"/>
                      </a:cubicBezTo>
                      <a:lnTo>
                        <a:pt x="5193" y="8196"/>
                      </a:lnTo>
                      <a:lnTo>
                        <a:pt x="5146" y="8242"/>
                      </a:lnTo>
                      <a:lnTo>
                        <a:pt x="5079" y="8260"/>
                      </a:lnTo>
                      <a:lnTo>
                        <a:pt x="4991" y="8252"/>
                      </a:lnTo>
                      <a:lnTo>
                        <a:pt x="4864" y="8240"/>
                      </a:lnTo>
                      <a:lnTo>
                        <a:pt x="4787" y="8246"/>
                      </a:lnTo>
                      <a:lnTo>
                        <a:pt x="4657" y="8281"/>
                      </a:lnTo>
                      <a:cubicBezTo>
                        <a:pt x="4570" y="8294"/>
                        <a:pt x="4482" y="8306"/>
                        <a:pt x="4395" y="8317"/>
                      </a:cubicBezTo>
                      <a:cubicBezTo>
                        <a:pt x="4323" y="8326"/>
                        <a:pt x="4251" y="8334"/>
                        <a:pt x="4179" y="8341"/>
                      </a:cubicBezTo>
                      <a:lnTo>
                        <a:pt x="3952" y="8347"/>
                      </a:lnTo>
                      <a:lnTo>
                        <a:pt x="3820" y="8347"/>
                      </a:lnTo>
                      <a:cubicBezTo>
                        <a:pt x="3784" y="8349"/>
                        <a:pt x="3748" y="8351"/>
                        <a:pt x="3713" y="8353"/>
                      </a:cubicBezTo>
                      <a:cubicBezTo>
                        <a:pt x="3654" y="8356"/>
                        <a:pt x="3595" y="8358"/>
                        <a:pt x="3536" y="8359"/>
                      </a:cubicBezTo>
                      <a:lnTo>
                        <a:pt x="3437" y="8315"/>
                      </a:lnTo>
                      <a:lnTo>
                        <a:pt x="3340" y="8305"/>
                      </a:lnTo>
                      <a:lnTo>
                        <a:pt x="3278" y="8335"/>
                      </a:lnTo>
                      <a:lnTo>
                        <a:pt x="3238" y="8407"/>
                      </a:lnTo>
                      <a:lnTo>
                        <a:pt x="3141" y="8472"/>
                      </a:lnTo>
                      <a:lnTo>
                        <a:pt x="3004" y="8506"/>
                      </a:lnTo>
                      <a:lnTo>
                        <a:pt x="2927" y="8536"/>
                      </a:lnTo>
                      <a:cubicBezTo>
                        <a:pt x="2874" y="8552"/>
                        <a:pt x="2823" y="8573"/>
                        <a:pt x="2774" y="8597"/>
                      </a:cubicBezTo>
                      <a:cubicBezTo>
                        <a:pt x="2733" y="8618"/>
                        <a:pt x="2694" y="8641"/>
                        <a:pt x="2657" y="8667"/>
                      </a:cubicBezTo>
                      <a:lnTo>
                        <a:pt x="2544" y="8743"/>
                      </a:lnTo>
                      <a:lnTo>
                        <a:pt x="2433" y="8802"/>
                      </a:lnTo>
                      <a:lnTo>
                        <a:pt x="2405" y="8893"/>
                      </a:lnTo>
                      <a:lnTo>
                        <a:pt x="2385" y="8969"/>
                      </a:lnTo>
                      <a:lnTo>
                        <a:pt x="2357" y="9078"/>
                      </a:lnTo>
                      <a:lnTo>
                        <a:pt x="2344" y="9136"/>
                      </a:lnTo>
                      <a:lnTo>
                        <a:pt x="2316" y="9215"/>
                      </a:lnTo>
                      <a:lnTo>
                        <a:pt x="2250" y="9333"/>
                      </a:lnTo>
                      <a:lnTo>
                        <a:pt x="2132" y="9386"/>
                      </a:lnTo>
                      <a:lnTo>
                        <a:pt x="2070" y="9446"/>
                      </a:lnTo>
                      <a:lnTo>
                        <a:pt x="1927" y="9485"/>
                      </a:lnTo>
                      <a:cubicBezTo>
                        <a:pt x="1902" y="9497"/>
                        <a:pt x="1875" y="9507"/>
                        <a:pt x="1848" y="9515"/>
                      </a:cubicBezTo>
                      <a:cubicBezTo>
                        <a:pt x="1778" y="9536"/>
                        <a:pt x="1706" y="9547"/>
                        <a:pt x="1632" y="9549"/>
                      </a:cubicBezTo>
                      <a:cubicBezTo>
                        <a:pt x="1601" y="9560"/>
                        <a:pt x="1573" y="9576"/>
                        <a:pt x="1550" y="9596"/>
                      </a:cubicBezTo>
                      <a:cubicBezTo>
                        <a:pt x="1510" y="9631"/>
                        <a:pt x="1486" y="9676"/>
                        <a:pt x="1480" y="9724"/>
                      </a:cubicBezTo>
                      <a:lnTo>
                        <a:pt x="1397" y="9805"/>
                      </a:lnTo>
                      <a:cubicBezTo>
                        <a:pt x="1377" y="9829"/>
                        <a:pt x="1353" y="9851"/>
                        <a:pt x="1327" y="9871"/>
                      </a:cubicBezTo>
                      <a:cubicBezTo>
                        <a:pt x="1287" y="9901"/>
                        <a:pt x="1241" y="9925"/>
                        <a:pt x="1201" y="9956"/>
                      </a:cubicBezTo>
                      <a:cubicBezTo>
                        <a:pt x="1138" y="10007"/>
                        <a:pt x="1094" y="10072"/>
                        <a:pt x="1040" y="10130"/>
                      </a:cubicBezTo>
                      <a:cubicBezTo>
                        <a:pt x="1009" y="10164"/>
                        <a:pt x="973" y="10195"/>
                        <a:pt x="935" y="10223"/>
                      </a:cubicBezTo>
                      <a:lnTo>
                        <a:pt x="753" y="10376"/>
                      </a:lnTo>
                      <a:lnTo>
                        <a:pt x="648" y="10441"/>
                      </a:lnTo>
                      <a:lnTo>
                        <a:pt x="578" y="10530"/>
                      </a:lnTo>
                      <a:lnTo>
                        <a:pt x="458" y="10707"/>
                      </a:lnTo>
                      <a:lnTo>
                        <a:pt x="382" y="10802"/>
                      </a:lnTo>
                      <a:lnTo>
                        <a:pt x="333" y="10927"/>
                      </a:lnTo>
                      <a:lnTo>
                        <a:pt x="410" y="10995"/>
                      </a:lnTo>
                      <a:lnTo>
                        <a:pt x="473" y="11120"/>
                      </a:lnTo>
                      <a:lnTo>
                        <a:pt x="480" y="11270"/>
                      </a:lnTo>
                      <a:lnTo>
                        <a:pt x="466" y="11419"/>
                      </a:lnTo>
                      <a:lnTo>
                        <a:pt x="396" y="11530"/>
                      </a:lnTo>
                      <a:lnTo>
                        <a:pt x="349" y="11709"/>
                      </a:lnTo>
                      <a:lnTo>
                        <a:pt x="308" y="11811"/>
                      </a:lnTo>
                      <a:lnTo>
                        <a:pt x="254" y="11891"/>
                      </a:lnTo>
                      <a:cubicBezTo>
                        <a:pt x="227" y="11921"/>
                        <a:pt x="198" y="11951"/>
                        <a:pt x="168" y="11980"/>
                      </a:cubicBezTo>
                      <a:cubicBezTo>
                        <a:pt x="116" y="12030"/>
                        <a:pt x="60" y="12078"/>
                        <a:pt x="0" y="12123"/>
                      </a:cubicBezTo>
                      <a:lnTo>
                        <a:pt x="0" y="12208"/>
                      </a:lnTo>
                      <a:lnTo>
                        <a:pt x="124" y="12302"/>
                      </a:lnTo>
                      <a:lnTo>
                        <a:pt x="173" y="12529"/>
                      </a:lnTo>
                      <a:lnTo>
                        <a:pt x="201" y="12674"/>
                      </a:lnTo>
                      <a:lnTo>
                        <a:pt x="233" y="12738"/>
                      </a:lnTo>
                      <a:lnTo>
                        <a:pt x="280" y="12867"/>
                      </a:lnTo>
                      <a:lnTo>
                        <a:pt x="319" y="12955"/>
                      </a:lnTo>
                      <a:lnTo>
                        <a:pt x="375" y="13042"/>
                      </a:lnTo>
                      <a:lnTo>
                        <a:pt x="416" y="13209"/>
                      </a:lnTo>
                      <a:lnTo>
                        <a:pt x="483" y="13312"/>
                      </a:lnTo>
                      <a:lnTo>
                        <a:pt x="553" y="13407"/>
                      </a:lnTo>
                      <a:lnTo>
                        <a:pt x="685" y="13467"/>
                      </a:lnTo>
                      <a:lnTo>
                        <a:pt x="697" y="13560"/>
                      </a:lnTo>
                      <a:lnTo>
                        <a:pt x="683" y="13628"/>
                      </a:lnTo>
                      <a:lnTo>
                        <a:pt x="708" y="13697"/>
                      </a:lnTo>
                      <a:lnTo>
                        <a:pt x="755" y="13827"/>
                      </a:lnTo>
                      <a:lnTo>
                        <a:pt x="775" y="13921"/>
                      </a:lnTo>
                      <a:lnTo>
                        <a:pt x="887" y="13973"/>
                      </a:lnTo>
                      <a:lnTo>
                        <a:pt x="1070" y="14168"/>
                      </a:lnTo>
                      <a:lnTo>
                        <a:pt x="1119" y="14322"/>
                      </a:lnTo>
                      <a:lnTo>
                        <a:pt x="1210" y="14412"/>
                      </a:lnTo>
                      <a:lnTo>
                        <a:pt x="1326" y="14511"/>
                      </a:lnTo>
                      <a:lnTo>
                        <a:pt x="1500" y="14637"/>
                      </a:lnTo>
                      <a:lnTo>
                        <a:pt x="1661" y="14726"/>
                      </a:lnTo>
                      <a:lnTo>
                        <a:pt x="1870" y="14780"/>
                      </a:lnTo>
                      <a:lnTo>
                        <a:pt x="2000" y="14762"/>
                      </a:lnTo>
                      <a:lnTo>
                        <a:pt x="2176" y="14726"/>
                      </a:lnTo>
                      <a:lnTo>
                        <a:pt x="2450" y="14693"/>
                      </a:lnTo>
                      <a:cubicBezTo>
                        <a:pt x="2546" y="14679"/>
                        <a:pt x="2643" y="14683"/>
                        <a:pt x="2736" y="14704"/>
                      </a:cubicBezTo>
                      <a:cubicBezTo>
                        <a:pt x="2826" y="14725"/>
                        <a:pt x="2910" y="14762"/>
                        <a:pt x="2982" y="14811"/>
                      </a:cubicBezTo>
                      <a:lnTo>
                        <a:pt x="3156" y="14815"/>
                      </a:lnTo>
                      <a:lnTo>
                        <a:pt x="3344" y="14815"/>
                      </a:lnTo>
                      <a:lnTo>
                        <a:pt x="3553" y="14779"/>
                      </a:lnTo>
                      <a:lnTo>
                        <a:pt x="3802" y="14726"/>
                      </a:lnTo>
                      <a:lnTo>
                        <a:pt x="3976" y="14680"/>
                      </a:lnTo>
                      <a:cubicBezTo>
                        <a:pt x="4042" y="14682"/>
                        <a:pt x="4109" y="14679"/>
                        <a:pt x="4175" y="14670"/>
                      </a:cubicBezTo>
                      <a:cubicBezTo>
                        <a:pt x="4231" y="14663"/>
                        <a:pt x="4287" y="14651"/>
                        <a:pt x="4340" y="14636"/>
                      </a:cubicBezTo>
                      <a:cubicBezTo>
                        <a:pt x="4389" y="14640"/>
                        <a:pt x="4438" y="14640"/>
                        <a:pt x="4486" y="14636"/>
                      </a:cubicBezTo>
                      <a:cubicBezTo>
                        <a:pt x="4525" y="14633"/>
                        <a:pt x="4565" y="14627"/>
                        <a:pt x="4603" y="14636"/>
                      </a:cubicBezTo>
                      <a:cubicBezTo>
                        <a:pt x="4642" y="14646"/>
                        <a:pt x="4675" y="14670"/>
                        <a:pt x="4691" y="14702"/>
                      </a:cubicBezTo>
                      <a:lnTo>
                        <a:pt x="4886" y="14776"/>
                      </a:lnTo>
                      <a:lnTo>
                        <a:pt x="4944" y="14899"/>
                      </a:lnTo>
                      <a:lnTo>
                        <a:pt x="5006" y="14964"/>
                      </a:lnTo>
                      <a:lnTo>
                        <a:pt x="5089" y="15071"/>
                      </a:lnTo>
                      <a:lnTo>
                        <a:pt x="5286" y="15130"/>
                      </a:lnTo>
                      <a:lnTo>
                        <a:pt x="5532" y="15138"/>
                      </a:lnTo>
                      <a:lnTo>
                        <a:pt x="5669" y="15099"/>
                      </a:lnTo>
                      <a:lnTo>
                        <a:pt x="5810" y="15111"/>
                      </a:lnTo>
                      <a:lnTo>
                        <a:pt x="5952" y="15169"/>
                      </a:lnTo>
                      <a:lnTo>
                        <a:pt x="6087" y="15248"/>
                      </a:lnTo>
                      <a:lnTo>
                        <a:pt x="6098" y="15379"/>
                      </a:lnTo>
                      <a:lnTo>
                        <a:pt x="6070" y="15469"/>
                      </a:lnTo>
                      <a:lnTo>
                        <a:pt x="6063" y="15574"/>
                      </a:lnTo>
                      <a:lnTo>
                        <a:pt x="6042" y="15695"/>
                      </a:lnTo>
                      <a:lnTo>
                        <a:pt x="5973" y="15778"/>
                      </a:lnTo>
                      <a:lnTo>
                        <a:pt x="6024" y="15907"/>
                      </a:lnTo>
                      <a:lnTo>
                        <a:pt x="6038" y="16048"/>
                      </a:lnTo>
                      <a:lnTo>
                        <a:pt x="5948" y="16122"/>
                      </a:lnTo>
                      <a:lnTo>
                        <a:pt x="5892" y="16211"/>
                      </a:lnTo>
                      <a:lnTo>
                        <a:pt x="5927" y="16344"/>
                      </a:lnTo>
                      <a:lnTo>
                        <a:pt x="6121" y="16481"/>
                      </a:lnTo>
                      <a:lnTo>
                        <a:pt x="6209" y="16630"/>
                      </a:lnTo>
                      <a:lnTo>
                        <a:pt x="6307" y="16725"/>
                      </a:lnTo>
                      <a:lnTo>
                        <a:pt x="6421" y="16792"/>
                      </a:lnTo>
                      <a:lnTo>
                        <a:pt x="6520" y="16894"/>
                      </a:lnTo>
                      <a:cubicBezTo>
                        <a:pt x="6552" y="16929"/>
                        <a:pt x="6583" y="16964"/>
                        <a:pt x="6613" y="17001"/>
                      </a:cubicBezTo>
                      <a:cubicBezTo>
                        <a:pt x="6645" y="17040"/>
                        <a:pt x="6676" y="17080"/>
                        <a:pt x="6706" y="17120"/>
                      </a:cubicBezTo>
                      <a:cubicBezTo>
                        <a:pt x="6719" y="17160"/>
                        <a:pt x="6732" y="17200"/>
                        <a:pt x="6745" y="17239"/>
                      </a:cubicBezTo>
                      <a:cubicBezTo>
                        <a:pt x="6759" y="17282"/>
                        <a:pt x="6772" y="17324"/>
                        <a:pt x="6785" y="17367"/>
                      </a:cubicBezTo>
                      <a:lnTo>
                        <a:pt x="6861" y="17424"/>
                      </a:lnTo>
                      <a:lnTo>
                        <a:pt x="6914" y="17495"/>
                      </a:lnTo>
                      <a:lnTo>
                        <a:pt x="7019" y="17610"/>
                      </a:lnTo>
                      <a:lnTo>
                        <a:pt x="7103" y="17709"/>
                      </a:lnTo>
                      <a:lnTo>
                        <a:pt x="7020" y="17803"/>
                      </a:lnTo>
                      <a:lnTo>
                        <a:pt x="7055" y="17912"/>
                      </a:lnTo>
                      <a:lnTo>
                        <a:pt x="7159" y="18034"/>
                      </a:lnTo>
                      <a:lnTo>
                        <a:pt x="7180" y="18109"/>
                      </a:lnTo>
                      <a:lnTo>
                        <a:pt x="7215" y="18264"/>
                      </a:lnTo>
                      <a:lnTo>
                        <a:pt x="7187" y="18379"/>
                      </a:lnTo>
                      <a:lnTo>
                        <a:pt x="7110" y="18491"/>
                      </a:lnTo>
                      <a:lnTo>
                        <a:pt x="7053" y="18566"/>
                      </a:lnTo>
                      <a:lnTo>
                        <a:pt x="6958" y="18645"/>
                      </a:lnTo>
                      <a:lnTo>
                        <a:pt x="6904" y="18724"/>
                      </a:lnTo>
                      <a:lnTo>
                        <a:pt x="6863" y="18828"/>
                      </a:lnTo>
                      <a:lnTo>
                        <a:pt x="6856" y="18937"/>
                      </a:lnTo>
                      <a:lnTo>
                        <a:pt x="6835" y="19059"/>
                      </a:lnTo>
                      <a:lnTo>
                        <a:pt x="6796" y="19226"/>
                      </a:lnTo>
                      <a:lnTo>
                        <a:pt x="6810" y="19304"/>
                      </a:lnTo>
                      <a:lnTo>
                        <a:pt x="6865" y="19391"/>
                      </a:lnTo>
                      <a:lnTo>
                        <a:pt x="6879" y="19461"/>
                      </a:lnTo>
                      <a:lnTo>
                        <a:pt x="6956" y="19564"/>
                      </a:lnTo>
                      <a:lnTo>
                        <a:pt x="7053" y="19660"/>
                      </a:lnTo>
                      <a:lnTo>
                        <a:pt x="7135" y="19773"/>
                      </a:lnTo>
                      <a:lnTo>
                        <a:pt x="7218" y="19827"/>
                      </a:lnTo>
                      <a:lnTo>
                        <a:pt x="7309" y="19914"/>
                      </a:lnTo>
                      <a:lnTo>
                        <a:pt x="7367" y="19996"/>
                      </a:lnTo>
                      <a:lnTo>
                        <a:pt x="7427" y="20119"/>
                      </a:lnTo>
                      <a:lnTo>
                        <a:pt x="7490" y="20243"/>
                      </a:lnTo>
                      <a:lnTo>
                        <a:pt x="7529" y="20344"/>
                      </a:lnTo>
                      <a:lnTo>
                        <a:pt x="7622" y="20503"/>
                      </a:lnTo>
                      <a:lnTo>
                        <a:pt x="7691" y="20660"/>
                      </a:lnTo>
                      <a:lnTo>
                        <a:pt x="7761" y="20760"/>
                      </a:lnTo>
                      <a:lnTo>
                        <a:pt x="7831" y="20819"/>
                      </a:lnTo>
                      <a:lnTo>
                        <a:pt x="7928" y="20885"/>
                      </a:lnTo>
                      <a:cubicBezTo>
                        <a:pt x="7964" y="20903"/>
                        <a:pt x="8001" y="20920"/>
                        <a:pt x="8037" y="20938"/>
                      </a:cubicBezTo>
                      <a:cubicBezTo>
                        <a:pt x="8088" y="20963"/>
                        <a:pt x="8139" y="20988"/>
                        <a:pt x="8191" y="21012"/>
                      </a:cubicBezTo>
                      <a:lnTo>
                        <a:pt x="8295" y="21078"/>
                      </a:lnTo>
                      <a:lnTo>
                        <a:pt x="8399" y="21173"/>
                      </a:lnTo>
                      <a:lnTo>
                        <a:pt x="8411" y="21314"/>
                      </a:lnTo>
                      <a:lnTo>
                        <a:pt x="8332" y="21342"/>
                      </a:lnTo>
                      <a:lnTo>
                        <a:pt x="8328" y="21451"/>
                      </a:lnTo>
                      <a:lnTo>
                        <a:pt x="8412" y="21499"/>
                      </a:lnTo>
                      <a:lnTo>
                        <a:pt x="8560" y="21539"/>
                      </a:lnTo>
                      <a:lnTo>
                        <a:pt x="8774" y="21600"/>
                      </a:lnTo>
                      <a:lnTo>
                        <a:pt x="8862" y="21576"/>
                      </a:lnTo>
                      <a:lnTo>
                        <a:pt x="8961" y="21547"/>
                      </a:lnTo>
                      <a:lnTo>
                        <a:pt x="9243" y="21529"/>
                      </a:lnTo>
                      <a:lnTo>
                        <a:pt x="9498" y="21517"/>
                      </a:lnTo>
                      <a:lnTo>
                        <a:pt x="9692" y="21483"/>
                      </a:lnTo>
                      <a:lnTo>
                        <a:pt x="9881" y="21447"/>
                      </a:lnTo>
                      <a:lnTo>
                        <a:pt x="10078" y="21419"/>
                      </a:lnTo>
                      <a:cubicBezTo>
                        <a:pt x="10139" y="21407"/>
                        <a:pt x="10198" y="21389"/>
                        <a:pt x="10255" y="21368"/>
                      </a:cubicBezTo>
                      <a:cubicBezTo>
                        <a:pt x="10310" y="21346"/>
                        <a:pt x="10363" y="21321"/>
                        <a:pt x="10413" y="21292"/>
                      </a:cubicBezTo>
                      <a:lnTo>
                        <a:pt x="10545" y="21208"/>
                      </a:lnTo>
                      <a:lnTo>
                        <a:pt x="10773" y="21131"/>
                      </a:lnTo>
                      <a:lnTo>
                        <a:pt x="10928" y="21033"/>
                      </a:lnTo>
                      <a:lnTo>
                        <a:pt x="11037" y="20942"/>
                      </a:lnTo>
                      <a:lnTo>
                        <a:pt x="11127" y="20799"/>
                      </a:lnTo>
                      <a:lnTo>
                        <a:pt x="11259" y="20775"/>
                      </a:lnTo>
                      <a:lnTo>
                        <a:pt x="11371" y="20680"/>
                      </a:lnTo>
                      <a:lnTo>
                        <a:pt x="11426" y="20596"/>
                      </a:lnTo>
                      <a:lnTo>
                        <a:pt x="11538" y="20483"/>
                      </a:lnTo>
                      <a:lnTo>
                        <a:pt x="11538" y="20378"/>
                      </a:lnTo>
                      <a:lnTo>
                        <a:pt x="11540" y="20300"/>
                      </a:lnTo>
                      <a:lnTo>
                        <a:pt x="11630" y="20265"/>
                      </a:lnTo>
                      <a:lnTo>
                        <a:pt x="11965" y="20190"/>
                      </a:lnTo>
                      <a:lnTo>
                        <a:pt x="12132" y="20102"/>
                      </a:lnTo>
                      <a:lnTo>
                        <a:pt x="12222" y="19905"/>
                      </a:lnTo>
                      <a:lnTo>
                        <a:pt x="12208" y="19724"/>
                      </a:lnTo>
                      <a:lnTo>
                        <a:pt x="12064" y="19533"/>
                      </a:lnTo>
                      <a:lnTo>
                        <a:pt x="12222" y="19388"/>
                      </a:lnTo>
                      <a:cubicBezTo>
                        <a:pt x="12277" y="19340"/>
                        <a:pt x="12336" y="19297"/>
                        <a:pt x="12399" y="19258"/>
                      </a:cubicBezTo>
                      <a:cubicBezTo>
                        <a:pt x="12502" y="19195"/>
                        <a:pt x="12616" y="19146"/>
                        <a:pt x="12736" y="19111"/>
                      </a:cubicBezTo>
                      <a:lnTo>
                        <a:pt x="12833" y="19025"/>
                      </a:lnTo>
                      <a:lnTo>
                        <a:pt x="13049" y="18896"/>
                      </a:lnTo>
                      <a:lnTo>
                        <a:pt x="13133" y="18843"/>
                      </a:lnTo>
                      <a:cubicBezTo>
                        <a:pt x="13215" y="18829"/>
                        <a:pt x="13288" y="18789"/>
                        <a:pt x="13337" y="18731"/>
                      </a:cubicBezTo>
                      <a:cubicBezTo>
                        <a:pt x="13391" y="18668"/>
                        <a:pt x="13412" y="18589"/>
                        <a:pt x="13395" y="18513"/>
                      </a:cubicBezTo>
                      <a:cubicBezTo>
                        <a:pt x="13389" y="18441"/>
                        <a:pt x="13395" y="18368"/>
                        <a:pt x="13414" y="18298"/>
                      </a:cubicBezTo>
                      <a:cubicBezTo>
                        <a:pt x="13434" y="18225"/>
                        <a:pt x="13466" y="18155"/>
                        <a:pt x="13490" y="18083"/>
                      </a:cubicBezTo>
                      <a:cubicBezTo>
                        <a:pt x="13516" y="18007"/>
                        <a:pt x="13531" y="17928"/>
                        <a:pt x="13544" y="17849"/>
                      </a:cubicBezTo>
                      <a:cubicBezTo>
                        <a:pt x="13552" y="17798"/>
                        <a:pt x="13559" y="17748"/>
                        <a:pt x="13564" y="17697"/>
                      </a:cubicBezTo>
                      <a:lnTo>
                        <a:pt x="13484" y="17640"/>
                      </a:lnTo>
                      <a:lnTo>
                        <a:pt x="13410" y="17599"/>
                      </a:lnTo>
                      <a:lnTo>
                        <a:pt x="13365" y="17438"/>
                      </a:lnTo>
                      <a:lnTo>
                        <a:pt x="13332" y="17341"/>
                      </a:lnTo>
                      <a:lnTo>
                        <a:pt x="13444" y="17289"/>
                      </a:lnTo>
                      <a:cubicBezTo>
                        <a:pt x="13492" y="17270"/>
                        <a:pt x="13494" y="17212"/>
                        <a:pt x="13449" y="17190"/>
                      </a:cubicBezTo>
                      <a:cubicBezTo>
                        <a:pt x="13413" y="17172"/>
                        <a:pt x="13369" y="17192"/>
                        <a:pt x="13330" y="17184"/>
                      </a:cubicBezTo>
                      <a:cubicBezTo>
                        <a:pt x="13251" y="17167"/>
                        <a:pt x="13235" y="17077"/>
                        <a:pt x="13305" y="17040"/>
                      </a:cubicBezTo>
                      <a:lnTo>
                        <a:pt x="13377" y="16965"/>
                      </a:lnTo>
                      <a:lnTo>
                        <a:pt x="13404" y="16860"/>
                      </a:lnTo>
                      <a:lnTo>
                        <a:pt x="13323" y="16836"/>
                      </a:lnTo>
                      <a:lnTo>
                        <a:pt x="13307" y="16707"/>
                      </a:lnTo>
                      <a:lnTo>
                        <a:pt x="13395" y="16562"/>
                      </a:lnTo>
                      <a:cubicBezTo>
                        <a:pt x="13439" y="16525"/>
                        <a:pt x="13477" y="16485"/>
                        <a:pt x="13511" y="16441"/>
                      </a:cubicBezTo>
                      <a:cubicBezTo>
                        <a:pt x="13539" y="16405"/>
                        <a:pt x="13563" y="16367"/>
                        <a:pt x="13583" y="16327"/>
                      </a:cubicBezTo>
                      <a:lnTo>
                        <a:pt x="13647" y="16228"/>
                      </a:lnTo>
                      <a:lnTo>
                        <a:pt x="13754" y="16125"/>
                      </a:lnTo>
                      <a:lnTo>
                        <a:pt x="13863" y="16006"/>
                      </a:lnTo>
                      <a:lnTo>
                        <a:pt x="13956" y="15887"/>
                      </a:lnTo>
                      <a:lnTo>
                        <a:pt x="14083" y="15678"/>
                      </a:lnTo>
                      <a:lnTo>
                        <a:pt x="14215" y="15532"/>
                      </a:lnTo>
                      <a:lnTo>
                        <a:pt x="14331" y="15359"/>
                      </a:lnTo>
                      <a:lnTo>
                        <a:pt x="14422" y="15283"/>
                      </a:lnTo>
                      <a:lnTo>
                        <a:pt x="14547" y="15206"/>
                      </a:lnTo>
                      <a:lnTo>
                        <a:pt x="14658" y="15122"/>
                      </a:lnTo>
                      <a:lnTo>
                        <a:pt x="14749" y="15045"/>
                      </a:lnTo>
                      <a:cubicBezTo>
                        <a:pt x="14775" y="15011"/>
                        <a:pt x="14803" y="14978"/>
                        <a:pt x="14832" y="14946"/>
                      </a:cubicBezTo>
                      <a:cubicBezTo>
                        <a:pt x="14875" y="14898"/>
                        <a:pt x="14921" y="14853"/>
                        <a:pt x="14969" y="14810"/>
                      </a:cubicBezTo>
                      <a:lnTo>
                        <a:pt x="15034" y="14723"/>
                      </a:lnTo>
                      <a:lnTo>
                        <a:pt x="15111" y="14567"/>
                      </a:lnTo>
                      <a:lnTo>
                        <a:pt x="15245" y="14434"/>
                      </a:lnTo>
                      <a:lnTo>
                        <a:pt x="15334" y="14263"/>
                      </a:lnTo>
                      <a:lnTo>
                        <a:pt x="15369" y="14175"/>
                      </a:lnTo>
                      <a:lnTo>
                        <a:pt x="15399" y="13980"/>
                      </a:lnTo>
                      <a:lnTo>
                        <a:pt x="15468" y="13887"/>
                      </a:lnTo>
                      <a:lnTo>
                        <a:pt x="15512" y="13797"/>
                      </a:lnTo>
                      <a:lnTo>
                        <a:pt x="15540" y="13670"/>
                      </a:lnTo>
                      <a:lnTo>
                        <a:pt x="15603" y="13529"/>
                      </a:lnTo>
                      <a:lnTo>
                        <a:pt x="15624" y="13405"/>
                      </a:lnTo>
                      <a:lnTo>
                        <a:pt x="15644" y="13286"/>
                      </a:lnTo>
                      <a:lnTo>
                        <a:pt x="15703" y="13151"/>
                      </a:lnTo>
                      <a:lnTo>
                        <a:pt x="15782" y="13105"/>
                      </a:lnTo>
                      <a:lnTo>
                        <a:pt x="15782" y="13024"/>
                      </a:lnTo>
                      <a:lnTo>
                        <a:pt x="15719" y="12970"/>
                      </a:lnTo>
                      <a:lnTo>
                        <a:pt x="15719" y="12813"/>
                      </a:lnTo>
                      <a:lnTo>
                        <a:pt x="15642" y="12729"/>
                      </a:lnTo>
                      <a:lnTo>
                        <a:pt x="15508" y="12829"/>
                      </a:lnTo>
                      <a:lnTo>
                        <a:pt x="15376" y="12932"/>
                      </a:lnTo>
                      <a:lnTo>
                        <a:pt x="15128" y="13010"/>
                      </a:lnTo>
                      <a:lnTo>
                        <a:pt x="14926" y="13081"/>
                      </a:lnTo>
                      <a:lnTo>
                        <a:pt x="14626" y="13196"/>
                      </a:lnTo>
                      <a:lnTo>
                        <a:pt x="14417" y="13304"/>
                      </a:lnTo>
                      <a:lnTo>
                        <a:pt x="14322" y="13326"/>
                      </a:lnTo>
                      <a:lnTo>
                        <a:pt x="14218" y="13248"/>
                      </a:lnTo>
                      <a:lnTo>
                        <a:pt x="14088" y="13195"/>
                      </a:lnTo>
                      <a:cubicBezTo>
                        <a:pt x="14049" y="13191"/>
                        <a:pt x="14016" y="13167"/>
                        <a:pt x="14004" y="13135"/>
                      </a:cubicBezTo>
                      <a:cubicBezTo>
                        <a:pt x="13989" y="13092"/>
                        <a:pt x="14013" y="13046"/>
                        <a:pt x="14060" y="13028"/>
                      </a:cubicBezTo>
                      <a:lnTo>
                        <a:pt x="13953" y="12912"/>
                      </a:lnTo>
                      <a:lnTo>
                        <a:pt x="13847" y="12751"/>
                      </a:lnTo>
                      <a:lnTo>
                        <a:pt x="13722" y="12663"/>
                      </a:lnTo>
                      <a:lnTo>
                        <a:pt x="13589" y="12573"/>
                      </a:lnTo>
                      <a:lnTo>
                        <a:pt x="13452" y="12520"/>
                      </a:lnTo>
                      <a:lnTo>
                        <a:pt x="13323" y="12478"/>
                      </a:lnTo>
                      <a:lnTo>
                        <a:pt x="13177" y="12401"/>
                      </a:lnTo>
                      <a:lnTo>
                        <a:pt x="13066" y="12299"/>
                      </a:lnTo>
                      <a:cubicBezTo>
                        <a:pt x="13045" y="12248"/>
                        <a:pt x="13029" y="12197"/>
                        <a:pt x="13017" y="12144"/>
                      </a:cubicBezTo>
                      <a:cubicBezTo>
                        <a:pt x="13004" y="12083"/>
                        <a:pt x="12997" y="12021"/>
                        <a:pt x="12996" y="11959"/>
                      </a:cubicBezTo>
                      <a:lnTo>
                        <a:pt x="12850" y="11861"/>
                      </a:lnTo>
                      <a:cubicBezTo>
                        <a:pt x="12771" y="11862"/>
                        <a:pt x="12694" y="11839"/>
                        <a:pt x="12634" y="11796"/>
                      </a:cubicBezTo>
                      <a:cubicBezTo>
                        <a:pt x="12590" y="11764"/>
                        <a:pt x="12556" y="11723"/>
                        <a:pt x="12536" y="11676"/>
                      </a:cubicBezTo>
                      <a:cubicBezTo>
                        <a:pt x="12545" y="11622"/>
                        <a:pt x="12543" y="11567"/>
                        <a:pt x="12529" y="11513"/>
                      </a:cubicBezTo>
                      <a:cubicBezTo>
                        <a:pt x="12514" y="11452"/>
                        <a:pt x="12485" y="11394"/>
                        <a:pt x="12443" y="11342"/>
                      </a:cubicBezTo>
                      <a:lnTo>
                        <a:pt x="12404" y="11183"/>
                      </a:lnTo>
                      <a:lnTo>
                        <a:pt x="12320" y="11060"/>
                      </a:lnTo>
                      <a:lnTo>
                        <a:pt x="12181" y="11006"/>
                      </a:lnTo>
                      <a:lnTo>
                        <a:pt x="12097" y="10895"/>
                      </a:lnTo>
                      <a:lnTo>
                        <a:pt x="12076" y="10795"/>
                      </a:lnTo>
                      <a:lnTo>
                        <a:pt x="12058" y="10717"/>
                      </a:lnTo>
                      <a:lnTo>
                        <a:pt x="11912" y="10592"/>
                      </a:lnTo>
                      <a:lnTo>
                        <a:pt x="11870" y="10453"/>
                      </a:lnTo>
                      <a:cubicBezTo>
                        <a:pt x="11816" y="10428"/>
                        <a:pt x="11770" y="10392"/>
                        <a:pt x="11737" y="10348"/>
                      </a:cubicBezTo>
                      <a:cubicBezTo>
                        <a:pt x="11701" y="10299"/>
                        <a:pt x="11681" y="10244"/>
                        <a:pt x="11680" y="10187"/>
                      </a:cubicBezTo>
                      <a:lnTo>
                        <a:pt x="11582" y="10089"/>
                      </a:lnTo>
                      <a:lnTo>
                        <a:pt x="11577" y="9990"/>
                      </a:lnTo>
                      <a:lnTo>
                        <a:pt x="11682" y="9988"/>
                      </a:lnTo>
                      <a:lnTo>
                        <a:pt x="11822" y="10005"/>
                      </a:lnTo>
                      <a:lnTo>
                        <a:pt x="11857" y="10107"/>
                      </a:lnTo>
                      <a:cubicBezTo>
                        <a:pt x="11892" y="10137"/>
                        <a:pt x="11924" y="10169"/>
                        <a:pt x="11952" y="10204"/>
                      </a:cubicBezTo>
                      <a:cubicBezTo>
                        <a:pt x="11984" y="10243"/>
                        <a:pt x="12011" y="10284"/>
                        <a:pt x="12033" y="10327"/>
                      </a:cubicBezTo>
                      <a:lnTo>
                        <a:pt x="12107" y="10448"/>
                      </a:lnTo>
                      <a:lnTo>
                        <a:pt x="12190" y="10466"/>
                      </a:lnTo>
                      <a:lnTo>
                        <a:pt x="12302" y="10490"/>
                      </a:lnTo>
                      <a:lnTo>
                        <a:pt x="12288" y="10552"/>
                      </a:lnTo>
                      <a:lnTo>
                        <a:pt x="12346" y="10643"/>
                      </a:lnTo>
                      <a:lnTo>
                        <a:pt x="12453" y="10707"/>
                      </a:lnTo>
                      <a:lnTo>
                        <a:pt x="12564" y="10784"/>
                      </a:lnTo>
                      <a:lnTo>
                        <a:pt x="12639" y="10849"/>
                      </a:lnTo>
                      <a:lnTo>
                        <a:pt x="12732" y="10970"/>
                      </a:lnTo>
                      <a:lnTo>
                        <a:pt x="12776" y="11042"/>
                      </a:lnTo>
                      <a:lnTo>
                        <a:pt x="12743" y="11139"/>
                      </a:lnTo>
                      <a:cubicBezTo>
                        <a:pt x="12780" y="11179"/>
                        <a:pt x="12810" y="11223"/>
                        <a:pt x="12832" y="11271"/>
                      </a:cubicBezTo>
                      <a:cubicBezTo>
                        <a:pt x="12849" y="11309"/>
                        <a:pt x="12860" y="11349"/>
                        <a:pt x="12866" y="11389"/>
                      </a:cubicBezTo>
                      <a:lnTo>
                        <a:pt x="12919" y="11475"/>
                      </a:lnTo>
                      <a:lnTo>
                        <a:pt x="13231" y="11526"/>
                      </a:lnTo>
                      <a:cubicBezTo>
                        <a:pt x="13260" y="11543"/>
                        <a:pt x="13286" y="11563"/>
                        <a:pt x="13307" y="11586"/>
                      </a:cubicBezTo>
                      <a:cubicBezTo>
                        <a:pt x="13362" y="11644"/>
                        <a:pt x="13388" y="11719"/>
                        <a:pt x="13379" y="11793"/>
                      </a:cubicBezTo>
                      <a:lnTo>
                        <a:pt x="13482" y="11890"/>
                      </a:lnTo>
                      <a:lnTo>
                        <a:pt x="13644" y="11964"/>
                      </a:lnTo>
                      <a:lnTo>
                        <a:pt x="13642" y="12054"/>
                      </a:lnTo>
                      <a:lnTo>
                        <a:pt x="13698" y="12117"/>
                      </a:lnTo>
                      <a:cubicBezTo>
                        <a:pt x="13732" y="12133"/>
                        <a:pt x="13759" y="12158"/>
                        <a:pt x="13774" y="12189"/>
                      </a:cubicBezTo>
                      <a:cubicBezTo>
                        <a:pt x="13793" y="12226"/>
                        <a:pt x="13793" y="12267"/>
                        <a:pt x="13774" y="12304"/>
                      </a:cubicBezTo>
                      <a:lnTo>
                        <a:pt x="13767" y="12471"/>
                      </a:lnTo>
                      <a:lnTo>
                        <a:pt x="13870" y="12549"/>
                      </a:lnTo>
                      <a:lnTo>
                        <a:pt x="13953" y="12719"/>
                      </a:lnTo>
                      <a:lnTo>
                        <a:pt x="14002" y="12795"/>
                      </a:lnTo>
                      <a:lnTo>
                        <a:pt x="14123" y="12910"/>
                      </a:lnTo>
                      <a:lnTo>
                        <a:pt x="14237" y="12960"/>
                      </a:lnTo>
                      <a:lnTo>
                        <a:pt x="14376" y="12900"/>
                      </a:lnTo>
                      <a:cubicBezTo>
                        <a:pt x="14424" y="12869"/>
                        <a:pt x="14469" y="12836"/>
                        <a:pt x="14511" y="12800"/>
                      </a:cubicBezTo>
                      <a:cubicBezTo>
                        <a:pt x="14544" y="12773"/>
                        <a:pt x="14575" y="12743"/>
                        <a:pt x="14604" y="12713"/>
                      </a:cubicBezTo>
                      <a:lnTo>
                        <a:pt x="14756" y="12654"/>
                      </a:lnTo>
                      <a:lnTo>
                        <a:pt x="14928" y="12568"/>
                      </a:lnTo>
                      <a:lnTo>
                        <a:pt x="15009" y="12546"/>
                      </a:lnTo>
                      <a:lnTo>
                        <a:pt x="15130" y="12506"/>
                      </a:lnTo>
                      <a:lnTo>
                        <a:pt x="15206" y="12391"/>
                      </a:lnTo>
                      <a:lnTo>
                        <a:pt x="15276" y="12316"/>
                      </a:lnTo>
                      <a:cubicBezTo>
                        <a:pt x="15323" y="12292"/>
                        <a:pt x="15370" y="12270"/>
                        <a:pt x="15418" y="12248"/>
                      </a:cubicBezTo>
                      <a:cubicBezTo>
                        <a:pt x="15460" y="12229"/>
                        <a:pt x="15504" y="12211"/>
                        <a:pt x="15543" y="12187"/>
                      </a:cubicBezTo>
                      <a:cubicBezTo>
                        <a:pt x="15594" y="12156"/>
                        <a:pt x="15638" y="12117"/>
                        <a:pt x="15671" y="12071"/>
                      </a:cubicBezTo>
                      <a:lnTo>
                        <a:pt x="15750" y="11926"/>
                      </a:lnTo>
                      <a:cubicBezTo>
                        <a:pt x="15753" y="11891"/>
                        <a:pt x="15766" y="11857"/>
                        <a:pt x="15787" y="11827"/>
                      </a:cubicBezTo>
                      <a:cubicBezTo>
                        <a:pt x="15824" y="11774"/>
                        <a:pt x="15884" y="11736"/>
                        <a:pt x="15954" y="11721"/>
                      </a:cubicBezTo>
                      <a:lnTo>
                        <a:pt x="16135" y="11648"/>
                      </a:lnTo>
                      <a:lnTo>
                        <a:pt x="16184" y="11596"/>
                      </a:lnTo>
                      <a:lnTo>
                        <a:pt x="16326" y="11472"/>
                      </a:lnTo>
                      <a:lnTo>
                        <a:pt x="16424" y="11273"/>
                      </a:lnTo>
                      <a:lnTo>
                        <a:pt x="16459" y="11212"/>
                      </a:lnTo>
                      <a:lnTo>
                        <a:pt x="16549" y="11104"/>
                      </a:lnTo>
                      <a:lnTo>
                        <a:pt x="16612" y="11039"/>
                      </a:lnTo>
                      <a:lnTo>
                        <a:pt x="16612" y="10909"/>
                      </a:lnTo>
                      <a:cubicBezTo>
                        <a:pt x="16590" y="10860"/>
                        <a:pt x="16593" y="10804"/>
                        <a:pt x="16619" y="10756"/>
                      </a:cubicBezTo>
                      <a:cubicBezTo>
                        <a:pt x="16650" y="10702"/>
                        <a:pt x="16708" y="10662"/>
                        <a:pt x="16777" y="10649"/>
                      </a:cubicBezTo>
                      <a:cubicBezTo>
                        <a:pt x="16783" y="10610"/>
                        <a:pt x="16787" y="10571"/>
                        <a:pt x="16790" y="10532"/>
                      </a:cubicBezTo>
                      <a:cubicBezTo>
                        <a:pt x="16795" y="10462"/>
                        <a:pt x="16795" y="10392"/>
                        <a:pt x="16790" y="10322"/>
                      </a:cubicBezTo>
                      <a:cubicBezTo>
                        <a:pt x="16776" y="10273"/>
                        <a:pt x="16757" y="10225"/>
                        <a:pt x="16734" y="10178"/>
                      </a:cubicBezTo>
                      <a:cubicBezTo>
                        <a:pt x="16713" y="10133"/>
                        <a:pt x="16687" y="10090"/>
                        <a:pt x="16658" y="10047"/>
                      </a:cubicBezTo>
                      <a:lnTo>
                        <a:pt x="16533" y="9988"/>
                      </a:lnTo>
                      <a:lnTo>
                        <a:pt x="16362" y="9964"/>
                      </a:lnTo>
                      <a:lnTo>
                        <a:pt x="16190" y="9940"/>
                      </a:lnTo>
                      <a:lnTo>
                        <a:pt x="16054" y="9888"/>
                      </a:lnTo>
                      <a:cubicBezTo>
                        <a:pt x="16024" y="9853"/>
                        <a:pt x="16002" y="9812"/>
                        <a:pt x="15991" y="9769"/>
                      </a:cubicBezTo>
                      <a:cubicBezTo>
                        <a:pt x="15979" y="9722"/>
                        <a:pt x="15979" y="9673"/>
                        <a:pt x="15991" y="9626"/>
                      </a:cubicBezTo>
                      <a:lnTo>
                        <a:pt x="15899" y="9555"/>
                      </a:lnTo>
                      <a:lnTo>
                        <a:pt x="15857" y="9636"/>
                      </a:lnTo>
                      <a:lnTo>
                        <a:pt x="15774" y="9779"/>
                      </a:lnTo>
                      <a:lnTo>
                        <a:pt x="15755" y="9882"/>
                      </a:lnTo>
                      <a:lnTo>
                        <a:pt x="15658" y="10007"/>
                      </a:lnTo>
                      <a:lnTo>
                        <a:pt x="15598" y="10084"/>
                      </a:lnTo>
                      <a:lnTo>
                        <a:pt x="15443" y="10108"/>
                      </a:lnTo>
                      <a:lnTo>
                        <a:pt x="15269" y="10186"/>
                      </a:lnTo>
                      <a:lnTo>
                        <a:pt x="15195" y="10142"/>
                      </a:lnTo>
                      <a:lnTo>
                        <a:pt x="15195" y="9965"/>
                      </a:lnTo>
                      <a:lnTo>
                        <a:pt x="15134" y="9832"/>
                      </a:lnTo>
                      <a:cubicBezTo>
                        <a:pt x="15112" y="9793"/>
                        <a:pt x="15056" y="9779"/>
                        <a:pt x="15014" y="9802"/>
                      </a:cubicBezTo>
                      <a:cubicBezTo>
                        <a:pt x="14974" y="9823"/>
                        <a:pt x="14962" y="9867"/>
                        <a:pt x="14986" y="9901"/>
                      </a:cubicBezTo>
                      <a:lnTo>
                        <a:pt x="14819" y="9829"/>
                      </a:lnTo>
                      <a:lnTo>
                        <a:pt x="14745" y="9752"/>
                      </a:lnTo>
                      <a:lnTo>
                        <a:pt x="14678" y="9694"/>
                      </a:lnTo>
                      <a:lnTo>
                        <a:pt x="14569" y="9603"/>
                      </a:lnTo>
                      <a:cubicBezTo>
                        <a:pt x="14534" y="9568"/>
                        <a:pt x="14500" y="9534"/>
                        <a:pt x="14464" y="9501"/>
                      </a:cubicBezTo>
                      <a:cubicBezTo>
                        <a:pt x="14409" y="9449"/>
                        <a:pt x="14352" y="9399"/>
                        <a:pt x="14294" y="9350"/>
                      </a:cubicBezTo>
                      <a:lnTo>
                        <a:pt x="14320" y="9280"/>
                      </a:lnTo>
                      <a:lnTo>
                        <a:pt x="14403" y="9173"/>
                      </a:lnTo>
                      <a:cubicBezTo>
                        <a:pt x="14427" y="9155"/>
                        <a:pt x="14454" y="9141"/>
                        <a:pt x="14484" y="9132"/>
                      </a:cubicBezTo>
                      <a:cubicBezTo>
                        <a:pt x="14532" y="9116"/>
                        <a:pt x="14585" y="9113"/>
                        <a:pt x="14635" y="9124"/>
                      </a:cubicBezTo>
                      <a:lnTo>
                        <a:pt x="14751" y="9291"/>
                      </a:lnTo>
                      <a:lnTo>
                        <a:pt x="14825" y="9444"/>
                      </a:lnTo>
                      <a:cubicBezTo>
                        <a:pt x="14851" y="9488"/>
                        <a:pt x="14907" y="9515"/>
                        <a:pt x="14964" y="9509"/>
                      </a:cubicBezTo>
                      <a:cubicBezTo>
                        <a:pt x="15020" y="9505"/>
                        <a:pt x="15070" y="9471"/>
                        <a:pt x="15125" y="9482"/>
                      </a:cubicBezTo>
                      <a:cubicBezTo>
                        <a:pt x="15190" y="9495"/>
                        <a:pt x="15214" y="9559"/>
                        <a:pt x="15262" y="9597"/>
                      </a:cubicBezTo>
                      <a:cubicBezTo>
                        <a:pt x="15304" y="9631"/>
                        <a:pt x="15364" y="9644"/>
                        <a:pt x="15420" y="9631"/>
                      </a:cubicBezTo>
                      <a:cubicBezTo>
                        <a:pt x="15457" y="9651"/>
                        <a:pt x="15500" y="9661"/>
                        <a:pt x="15544" y="9661"/>
                      </a:cubicBezTo>
                      <a:cubicBezTo>
                        <a:pt x="15611" y="9660"/>
                        <a:pt x="15674" y="9635"/>
                        <a:pt x="15719" y="9593"/>
                      </a:cubicBezTo>
                      <a:lnTo>
                        <a:pt x="15916" y="9456"/>
                      </a:lnTo>
                      <a:lnTo>
                        <a:pt x="16026" y="9546"/>
                      </a:lnTo>
                      <a:lnTo>
                        <a:pt x="16068" y="9656"/>
                      </a:lnTo>
                      <a:cubicBezTo>
                        <a:pt x="16082" y="9678"/>
                        <a:pt x="16104" y="9697"/>
                        <a:pt x="16130" y="9709"/>
                      </a:cubicBezTo>
                      <a:cubicBezTo>
                        <a:pt x="16190" y="9737"/>
                        <a:pt x="16263" y="9732"/>
                        <a:pt x="16316" y="9697"/>
                      </a:cubicBezTo>
                      <a:lnTo>
                        <a:pt x="16630" y="9655"/>
                      </a:lnTo>
                      <a:lnTo>
                        <a:pt x="16941" y="9655"/>
                      </a:lnTo>
                      <a:lnTo>
                        <a:pt x="17083" y="9562"/>
                      </a:lnTo>
                      <a:lnTo>
                        <a:pt x="17175" y="9482"/>
                      </a:lnTo>
                      <a:lnTo>
                        <a:pt x="17273" y="9434"/>
                      </a:lnTo>
                      <a:lnTo>
                        <a:pt x="17419" y="9407"/>
                      </a:lnTo>
                      <a:lnTo>
                        <a:pt x="17492" y="9349"/>
                      </a:lnTo>
                      <a:lnTo>
                        <a:pt x="17575" y="9290"/>
                      </a:lnTo>
                      <a:lnTo>
                        <a:pt x="17773" y="9447"/>
                      </a:lnTo>
                      <a:lnTo>
                        <a:pt x="17828" y="9554"/>
                      </a:lnTo>
                      <a:lnTo>
                        <a:pt x="17963" y="9559"/>
                      </a:lnTo>
                      <a:lnTo>
                        <a:pt x="18053" y="9619"/>
                      </a:lnTo>
                      <a:lnTo>
                        <a:pt x="18132" y="9664"/>
                      </a:lnTo>
                      <a:lnTo>
                        <a:pt x="18166" y="9736"/>
                      </a:lnTo>
                      <a:lnTo>
                        <a:pt x="18250" y="9865"/>
                      </a:lnTo>
                      <a:cubicBezTo>
                        <a:pt x="18289" y="9892"/>
                        <a:pt x="18332" y="9916"/>
                        <a:pt x="18378" y="9934"/>
                      </a:cubicBezTo>
                      <a:cubicBezTo>
                        <a:pt x="18424" y="9954"/>
                        <a:pt x="18473" y="9968"/>
                        <a:pt x="18524" y="9976"/>
                      </a:cubicBezTo>
                      <a:lnTo>
                        <a:pt x="18625" y="9960"/>
                      </a:lnTo>
                      <a:lnTo>
                        <a:pt x="18678" y="9824"/>
                      </a:lnTo>
                      <a:lnTo>
                        <a:pt x="18754" y="9790"/>
                      </a:lnTo>
                      <a:lnTo>
                        <a:pt x="18868" y="9878"/>
                      </a:lnTo>
                      <a:lnTo>
                        <a:pt x="18977" y="9979"/>
                      </a:lnTo>
                      <a:lnTo>
                        <a:pt x="19105" y="10083"/>
                      </a:lnTo>
                      <a:lnTo>
                        <a:pt x="19040" y="10248"/>
                      </a:lnTo>
                      <a:cubicBezTo>
                        <a:pt x="19058" y="10308"/>
                        <a:pt x="19087" y="10365"/>
                        <a:pt x="19126" y="10417"/>
                      </a:cubicBezTo>
                      <a:cubicBezTo>
                        <a:pt x="19157" y="10460"/>
                        <a:pt x="19195" y="10498"/>
                        <a:pt x="19237" y="10533"/>
                      </a:cubicBezTo>
                      <a:lnTo>
                        <a:pt x="19244" y="10664"/>
                      </a:lnTo>
                      <a:lnTo>
                        <a:pt x="19244" y="10732"/>
                      </a:lnTo>
                      <a:cubicBezTo>
                        <a:pt x="19267" y="10788"/>
                        <a:pt x="19300" y="10842"/>
                        <a:pt x="19344" y="10889"/>
                      </a:cubicBezTo>
                      <a:cubicBezTo>
                        <a:pt x="19384" y="10931"/>
                        <a:pt x="19431" y="10968"/>
                        <a:pt x="19483" y="10998"/>
                      </a:cubicBezTo>
                      <a:lnTo>
                        <a:pt x="19465" y="11121"/>
                      </a:lnTo>
                      <a:lnTo>
                        <a:pt x="19506" y="11185"/>
                      </a:lnTo>
                      <a:lnTo>
                        <a:pt x="19609" y="11302"/>
                      </a:lnTo>
                      <a:lnTo>
                        <a:pt x="19706" y="11394"/>
                      </a:lnTo>
                      <a:lnTo>
                        <a:pt x="19653" y="11497"/>
                      </a:lnTo>
                      <a:lnTo>
                        <a:pt x="19713" y="11664"/>
                      </a:lnTo>
                      <a:lnTo>
                        <a:pt x="19871" y="11758"/>
                      </a:lnTo>
                      <a:lnTo>
                        <a:pt x="19913" y="11879"/>
                      </a:lnTo>
                      <a:lnTo>
                        <a:pt x="19978" y="11976"/>
                      </a:lnTo>
                      <a:lnTo>
                        <a:pt x="20040" y="12068"/>
                      </a:lnTo>
                      <a:lnTo>
                        <a:pt x="20119" y="12068"/>
                      </a:lnTo>
                      <a:cubicBezTo>
                        <a:pt x="20170" y="12032"/>
                        <a:pt x="20209" y="11985"/>
                        <a:pt x="20231" y="11932"/>
                      </a:cubicBezTo>
                      <a:cubicBezTo>
                        <a:pt x="20248" y="11891"/>
                        <a:pt x="20254" y="11847"/>
                        <a:pt x="20249" y="11803"/>
                      </a:cubicBezTo>
                      <a:lnTo>
                        <a:pt x="20328" y="11711"/>
                      </a:lnTo>
                      <a:lnTo>
                        <a:pt x="20371" y="11792"/>
                      </a:lnTo>
                      <a:lnTo>
                        <a:pt x="20371" y="11953"/>
                      </a:lnTo>
                      <a:lnTo>
                        <a:pt x="20357" y="12045"/>
                      </a:lnTo>
                      <a:lnTo>
                        <a:pt x="20362" y="12250"/>
                      </a:lnTo>
                      <a:lnTo>
                        <a:pt x="20415" y="12325"/>
                      </a:lnTo>
                      <a:cubicBezTo>
                        <a:pt x="20440" y="12352"/>
                        <a:pt x="20481" y="12364"/>
                        <a:pt x="20520" y="12355"/>
                      </a:cubicBezTo>
                      <a:cubicBezTo>
                        <a:pt x="20593" y="12339"/>
                        <a:pt x="20627" y="12267"/>
                        <a:pt x="20587" y="12212"/>
                      </a:cubicBezTo>
                      <a:lnTo>
                        <a:pt x="20612" y="12033"/>
                      </a:lnTo>
                      <a:lnTo>
                        <a:pt x="20605" y="11882"/>
                      </a:lnTo>
                      <a:lnTo>
                        <a:pt x="20575" y="11742"/>
                      </a:lnTo>
                      <a:lnTo>
                        <a:pt x="20529" y="11565"/>
                      </a:lnTo>
                      <a:lnTo>
                        <a:pt x="20432" y="11481"/>
                      </a:lnTo>
                      <a:lnTo>
                        <a:pt x="20358" y="11487"/>
                      </a:lnTo>
                      <a:lnTo>
                        <a:pt x="20296" y="11632"/>
                      </a:lnTo>
                      <a:lnTo>
                        <a:pt x="20261" y="11384"/>
                      </a:lnTo>
                      <a:lnTo>
                        <a:pt x="20275" y="11241"/>
                      </a:lnTo>
                      <a:lnTo>
                        <a:pt x="20275" y="11159"/>
                      </a:lnTo>
                      <a:lnTo>
                        <a:pt x="20289" y="11082"/>
                      </a:lnTo>
                      <a:lnTo>
                        <a:pt x="20289" y="10957"/>
                      </a:lnTo>
                      <a:lnTo>
                        <a:pt x="20295" y="10844"/>
                      </a:lnTo>
                      <a:lnTo>
                        <a:pt x="20191" y="10689"/>
                      </a:lnTo>
                      <a:lnTo>
                        <a:pt x="20184" y="10595"/>
                      </a:lnTo>
                      <a:cubicBezTo>
                        <a:pt x="20188" y="10557"/>
                        <a:pt x="20188" y="10518"/>
                        <a:pt x="20184" y="10480"/>
                      </a:cubicBezTo>
                      <a:cubicBezTo>
                        <a:pt x="20177" y="10420"/>
                        <a:pt x="20161" y="10361"/>
                        <a:pt x="20163" y="10301"/>
                      </a:cubicBezTo>
                      <a:cubicBezTo>
                        <a:pt x="20164" y="10261"/>
                        <a:pt x="20174" y="10222"/>
                        <a:pt x="20191" y="10185"/>
                      </a:cubicBezTo>
                      <a:lnTo>
                        <a:pt x="20205" y="10094"/>
                      </a:lnTo>
                      <a:lnTo>
                        <a:pt x="20211" y="10026"/>
                      </a:lnTo>
                      <a:lnTo>
                        <a:pt x="20269" y="9826"/>
                      </a:lnTo>
                      <a:lnTo>
                        <a:pt x="20324" y="9624"/>
                      </a:lnTo>
                      <a:lnTo>
                        <a:pt x="20296" y="9512"/>
                      </a:lnTo>
                      <a:lnTo>
                        <a:pt x="20296" y="9377"/>
                      </a:lnTo>
                      <a:lnTo>
                        <a:pt x="20347" y="9212"/>
                      </a:lnTo>
                      <a:lnTo>
                        <a:pt x="20405" y="9069"/>
                      </a:lnTo>
                      <a:lnTo>
                        <a:pt x="20322" y="8952"/>
                      </a:lnTo>
                      <a:lnTo>
                        <a:pt x="20438" y="8629"/>
                      </a:lnTo>
                      <a:cubicBezTo>
                        <a:pt x="20457" y="8566"/>
                        <a:pt x="20475" y="8504"/>
                        <a:pt x="20493" y="8441"/>
                      </a:cubicBezTo>
                      <a:cubicBezTo>
                        <a:pt x="20512" y="8378"/>
                        <a:pt x="20530" y="8315"/>
                        <a:pt x="20548" y="8252"/>
                      </a:cubicBezTo>
                      <a:lnTo>
                        <a:pt x="20847" y="8705"/>
                      </a:lnTo>
                      <a:lnTo>
                        <a:pt x="21129" y="9062"/>
                      </a:lnTo>
                      <a:lnTo>
                        <a:pt x="21600" y="9676"/>
                      </a:lnTo>
                      <a:cubicBezTo>
                        <a:pt x="21403" y="8190"/>
                        <a:pt x="20859" y="6754"/>
                        <a:pt x="20001" y="5452"/>
                      </a:cubicBezTo>
                      <a:cubicBezTo>
                        <a:pt x="19120" y="4115"/>
                        <a:pt x="17927" y="2949"/>
                        <a:pt x="16497" y="2025"/>
                      </a:cubicBezTo>
                      <a:cubicBezTo>
                        <a:pt x="15728" y="1490"/>
                        <a:pt x="14879" y="1043"/>
                        <a:pt x="13974" y="698"/>
                      </a:cubicBezTo>
                      <a:cubicBezTo>
                        <a:pt x="13114" y="370"/>
                        <a:pt x="12211" y="135"/>
                        <a:pt x="11283" y="0"/>
                      </a:cubicBezTo>
                      <a:lnTo>
                        <a:pt x="12018" y="440"/>
                      </a:lnTo>
                      <a:lnTo>
                        <a:pt x="11938" y="476"/>
                      </a:lnTo>
                      <a:lnTo>
                        <a:pt x="11889" y="518"/>
                      </a:lnTo>
                      <a:lnTo>
                        <a:pt x="11982" y="559"/>
                      </a:lnTo>
                      <a:lnTo>
                        <a:pt x="12089" y="579"/>
                      </a:lnTo>
                      <a:lnTo>
                        <a:pt x="12158" y="597"/>
                      </a:lnTo>
                      <a:lnTo>
                        <a:pt x="12135" y="654"/>
                      </a:lnTo>
                      <a:lnTo>
                        <a:pt x="12054" y="670"/>
                      </a:lnTo>
                      <a:lnTo>
                        <a:pt x="12078" y="759"/>
                      </a:lnTo>
                      <a:lnTo>
                        <a:pt x="11985" y="837"/>
                      </a:lnTo>
                      <a:lnTo>
                        <a:pt x="11846" y="763"/>
                      </a:lnTo>
                      <a:lnTo>
                        <a:pt x="11706" y="680"/>
                      </a:lnTo>
                      <a:cubicBezTo>
                        <a:pt x="11647" y="638"/>
                        <a:pt x="11571" y="619"/>
                        <a:pt x="11495" y="628"/>
                      </a:cubicBezTo>
                      <a:cubicBezTo>
                        <a:pt x="11444" y="633"/>
                        <a:pt x="11395" y="651"/>
                        <a:pt x="11355" y="680"/>
                      </a:cubicBezTo>
                      <a:lnTo>
                        <a:pt x="11231" y="707"/>
                      </a:lnTo>
                      <a:lnTo>
                        <a:pt x="11154" y="713"/>
                      </a:lnTo>
                      <a:lnTo>
                        <a:pt x="11059" y="655"/>
                      </a:lnTo>
                      <a:lnTo>
                        <a:pt x="10857" y="644"/>
                      </a:lnTo>
                      <a:lnTo>
                        <a:pt x="10760" y="691"/>
                      </a:lnTo>
                      <a:lnTo>
                        <a:pt x="10643" y="685"/>
                      </a:lnTo>
                      <a:lnTo>
                        <a:pt x="10534" y="673"/>
                      </a:lnTo>
                      <a:lnTo>
                        <a:pt x="10353" y="631"/>
                      </a:lnTo>
                      <a:lnTo>
                        <a:pt x="10133" y="667"/>
                      </a:lnTo>
                      <a:lnTo>
                        <a:pt x="10214" y="745"/>
                      </a:lnTo>
                      <a:lnTo>
                        <a:pt x="10358" y="774"/>
                      </a:lnTo>
                      <a:lnTo>
                        <a:pt x="10495" y="816"/>
                      </a:lnTo>
                      <a:lnTo>
                        <a:pt x="10600" y="822"/>
                      </a:lnTo>
                      <a:lnTo>
                        <a:pt x="10701" y="810"/>
                      </a:lnTo>
                      <a:cubicBezTo>
                        <a:pt x="10739" y="792"/>
                        <a:pt x="10780" y="779"/>
                        <a:pt x="10822" y="772"/>
                      </a:cubicBezTo>
                      <a:cubicBezTo>
                        <a:pt x="10876" y="763"/>
                        <a:pt x="10931" y="763"/>
                        <a:pt x="10984" y="772"/>
                      </a:cubicBezTo>
                      <a:lnTo>
                        <a:pt x="11130" y="790"/>
                      </a:lnTo>
                      <a:lnTo>
                        <a:pt x="11225" y="790"/>
                      </a:lnTo>
                      <a:lnTo>
                        <a:pt x="11378" y="816"/>
                      </a:lnTo>
                      <a:lnTo>
                        <a:pt x="11480" y="850"/>
                      </a:lnTo>
                      <a:lnTo>
                        <a:pt x="11385" y="887"/>
                      </a:lnTo>
                      <a:lnTo>
                        <a:pt x="11281" y="863"/>
                      </a:lnTo>
                      <a:lnTo>
                        <a:pt x="11295" y="947"/>
                      </a:lnTo>
                      <a:lnTo>
                        <a:pt x="11387" y="974"/>
                      </a:lnTo>
                      <a:lnTo>
                        <a:pt x="11468" y="1054"/>
                      </a:lnTo>
                      <a:lnTo>
                        <a:pt x="11480" y="1151"/>
                      </a:lnTo>
                      <a:lnTo>
                        <a:pt x="11508" y="1243"/>
                      </a:lnTo>
                      <a:lnTo>
                        <a:pt x="11598" y="1284"/>
                      </a:lnTo>
                      <a:lnTo>
                        <a:pt x="11725" y="1294"/>
                      </a:lnTo>
                      <a:lnTo>
                        <a:pt x="11687" y="1392"/>
                      </a:lnTo>
                      <a:lnTo>
                        <a:pt x="11791" y="1437"/>
                      </a:lnTo>
                      <a:lnTo>
                        <a:pt x="11993" y="1503"/>
                      </a:lnTo>
                      <a:lnTo>
                        <a:pt x="12046" y="1545"/>
                      </a:lnTo>
                      <a:lnTo>
                        <a:pt x="11863" y="1566"/>
                      </a:lnTo>
                      <a:lnTo>
                        <a:pt x="11785" y="1572"/>
                      </a:lnTo>
                      <a:lnTo>
                        <a:pt x="11838" y="1660"/>
                      </a:lnTo>
                      <a:lnTo>
                        <a:pt x="11843" y="1741"/>
                      </a:lnTo>
                      <a:lnTo>
                        <a:pt x="11669" y="1693"/>
                      </a:lnTo>
                      <a:cubicBezTo>
                        <a:pt x="11654" y="1668"/>
                        <a:pt x="11633" y="1646"/>
                        <a:pt x="11606" y="1628"/>
                      </a:cubicBezTo>
                      <a:cubicBezTo>
                        <a:pt x="11571" y="1604"/>
                        <a:pt x="11528" y="1591"/>
                        <a:pt x="11483" y="1588"/>
                      </a:cubicBezTo>
                      <a:lnTo>
                        <a:pt x="11305" y="1576"/>
                      </a:lnTo>
                      <a:lnTo>
                        <a:pt x="11379" y="1723"/>
                      </a:lnTo>
                      <a:lnTo>
                        <a:pt x="11497" y="1783"/>
                      </a:lnTo>
                      <a:lnTo>
                        <a:pt x="11537" y="1912"/>
                      </a:lnTo>
                      <a:lnTo>
                        <a:pt x="11606" y="2008"/>
                      </a:lnTo>
                      <a:lnTo>
                        <a:pt x="11743" y="2069"/>
                      </a:lnTo>
                      <a:lnTo>
                        <a:pt x="11905" y="2115"/>
                      </a:lnTo>
                      <a:lnTo>
                        <a:pt x="11986" y="2168"/>
                      </a:lnTo>
                      <a:lnTo>
                        <a:pt x="11847" y="2202"/>
                      </a:lnTo>
                      <a:lnTo>
                        <a:pt x="11675" y="2174"/>
                      </a:lnTo>
                      <a:lnTo>
                        <a:pt x="11494" y="2149"/>
                      </a:lnTo>
                      <a:lnTo>
                        <a:pt x="11327" y="2149"/>
                      </a:lnTo>
                      <a:lnTo>
                        <a:pt x="11214" y="2137"/>
                      </a:lnTo>
                      <a:lnTo>
                        <a:pt x="11249" y="2200"/>
                      </a:lnTo>
                      <a:cubicBezTo>
                        <a:pt x="11281" y="2217"/>
                        <a:pt x="11315" y="2231"/>
                        <a:pt x="11351" y="2242"/>
                      </a:cubicBezTo>
                      <a:cubicBezTo>
                        <a:pt x="11389" y="2253"/>
                        <a:pt x="11429" y="2261"/>
                        <a:pt x="11469" y="2265"/>
                      </a:cubicBezTo>
                      <a:lnTo>
                        <a:pt x="11511" y="2357"/>
                      </a:lnTo>
                      <a:lnTo>
                        <a:pt x="11414" y="2351"/>
                      </a:lnTo>
                      <a:lnTo>
                        <a:pt x="11326" y="2363"/>
                      </a:lnTo>
                      <a:lnTo>
                        <a:pt x="11252" y="2390"/>
                      </a:lnTo>
                      <a:lnTo>
                        <a:pt x="11176" y="2445"/>
                      </a:lnTo>
                      <a:lnTo>
                        <a:pt x="11081" y="2362"/>
                      </a:lnTo>
                      <a:lnTo>
                        <a:pt x="11020" y="2410"/>
                      </a:lnTo>
                      <a:lnTo>
                        <a:pt x="10967" y="2460"/>
                      </a:lnTo>
                      <a:lnTo>
                        <a:pt x="10821" y="2580"/>
                      </a:lnTo>
                      <a:lnTo>
                        <a:pt x="10751" y="2670"/>
                      </a:lnTo>
                      <a:lnTo>
                        <a:pt x="10791" y="2781"/>
                      </a:lnTo>
                      <a:lnTo>
                        <a:pt x="10676" y="2772"/>
                      </a:lnTo>
                      <a:lnTo>
                        <a:pt x="10454" y="2745"/>
                      </a:lnTo>
                      <a:lnTo>
                        <a:pt x="10594" y="2666"/>
                      </a:lnTo>
                      <a:lnTo>
                        <a:pt x="10516" y="2553"/>
                      </a:lnTo>
                      <a:lnTo>
                        <a:pt x="10295" y="2513"/>
                      </a:lnTo>
                      <a:lnTo>
                        <a:pt x="10328" y="2652"/>
                      </a:lnTo>
                      <a:lnTo>
                        <a:pt x="10388" y="2779"/>
                      </a:lnTo>
                      <a:lnTo>
                        <a:pt x="10462" y="2867"/>
                      </a:lnTo>
                      <a:lnTo>
                        <a:pt x="10476" y="2956"/>
                      </a:lnTo>
                      <a:lnTo>
                        <a:pt x="10395" y="2966"/>
                      </a:lnTo>
                      <a:lnTo>
                        <a:pt x="10272" y="3040"/>
                      </a:lnTo>
                      <a:lnTo>
                        <a:pt x="10279" y="3105"/>
                      </a:lnTo>
                      <a:lnTo>
                        <a:pt x="10142" y="3138"/>
                      </a:lnTo>
                      <a:lnTo>
                        <a:pt x="10091" y="3260"/>
                      </a:lnTo>
                      <a:cubicBezTo>
                        <a:pt x="10038" y="3292"/>
                        <a:pt x="9970" y="3297"/>
                        <a:pt x="9912" y="3274"/>
                      </a:cubicBezTo>
                      <a:cubicBezTo>
                        <a:pt x="9835" y="3243"/>
                        <a:pt x="9793" y="3172"/>
                        <a:pt x="9810" y="3101"/>
                      </a:cubicBezTo>
                      <a:lnTo>
                        <a:pt x="9701" y="2999"/>
                      </a:lnTo>
                      <a:lnTo>
                        <a:pt x="9840" y="2940"/>
                      </a:lnTo>
                      <a:lnTo>
                        <a:pt x="9976" y="2991"/>
                      </a:lnTo>
                      <a:lnTo>
                        <a:pt x="10125" y="2991"/>
                      </a:lnTo>
                      <a:lnTo>
                        <a:pt x="10321" y="2905"/>
                      </a:lnTo>
                      <a:lnTo>
                        <a:pt x="10293" y="2819"/>
                      </a:lnTo>
                      <a:lnTo>
                        <a:pt x="10212" y="2728"/>
                      </a:lnTo>
                      <a:lnTo>
                        <a:pt x="10159" y="2694"/>
                      </a:lnTo>
                      <a:lnTo>
                        <a:pt x="10013" y="2670"/>
                      </a:lnTo>
                      <a:cubicBezTo>
                        <a:pt x="9962" y="2665"/>
                        <a:pt x="9910" y="2657"/>
                        <a:pt x="9860" y="2646"/>
                      </a:cubicBezTo>
                      <a:cubicBezTo>
                        <a:pt x="9787" y="2631"/>
                        <a:pt x="9716" y="2611"/>
                        <a:pt x="9647" y="2587"/>
                      </a:cubicBezTo>
                      <a:lnTo>
                        <a:pt x="9497" y="2535"/>
                      </a:lnTo>
                      <a:lnTo>
                        <a:pt x="9366" y="2529"/>
                      </a:lnTo>
                      <a:lnTo>
                        <a:pt x="9160" y="2533"/>
                      </a:lnTo>
                      <a:lnTo>
                        <a:pt x="9139" y="2476"/>
                      </a:lnTo>
                      <a:lnTo>
                        <a:pt x="9030" y="2412"/>
                      </a:lnTo>
                      <a:lnTo>
                        <a:pt x="8895" y="2376"/>
                      </a:lnTo>
                      <a:lnTo>
                        <a:pt x="8779" y="2370"/>
                      </a:lnTo>
                      <a:lnTo>
                        <a:pt x="8663" y="2409"/>
                      </a:lnTo>
                      <a:lnTo>
                        <a:pt x="8373" y="2427"/>
                      </a:lnTo>
                      <a:cubicBezTo>
                        <a:pt x="8340" y="2453"/>
                        <a:pt x="8305" y="2477"/>
                        <a:pt x="8266" y="2497"/>
                      </a:cubicBezTo>
                      <a:cubicBezTo>
                        <a:pt x="8206" y="2528"/>
                        <a:pt x="8140" y="2550"/>
                        <a:pt x="8071" y="2562"/>
                      </a:cubicBezTo>
                      <a:lnTo>
                        <a:pt x="7980" y="2610"/>
                      </a:lnTo>
                      <a:lnTo>
                        <a:pt x="7818" y="2672"/>
                      </a:lnTo>
                      <a:lnTo>
                        <a:pt x="7692" y="2737"/>
                      </a:lnTo>
                      <a:lnTo>
                        <a:pt x="7611" y="2789"/>
                      </a:lnTo>
                      <a:lnTo>
                        <a:pt x="7672" y="2872"/>
                      </a:lnTo>
                      <a:lnTo>
                        <a:pt x="7627" y="2989"/>
                      </a:lnTo>
                      <a:lnTo>
                        <a:pt x="7558" y="3041"/>
                      </a:lnTo>
                      <a:lnTo>
                        <a:pt x="7453" y="3130"/>
                      </a:lnTo>
                      <a:cubicBezTo>
                        <a:pt x="7420" y="3163"/>
                        <a:pt x="7387" y="3196"/>
                        <a:pt x="7355" y="3230"/>
                      </a:cubicBezTo>
                      <a:cubicBezTo>
                        <a:pt x="7318" y="3270"/>
                        <a:pt x="7280" y="3310"/>
                        <a:pt x="7237" y="3345"/>
                      </a:cubicBezTo>
                      <a:cubicBezTo>
                        <a:pt x="7203" y="3373"/>
                        <a:pt x="7166" y="3397"/>
                        <a:pt x="7125" y="3417"/>
                      </a:cubicBezTo>
                      <a:lnTo>
                        <a:pt x="7042" y="3435"/>
                      </a:lnTo>
                      <a:lnTo>
                        <a:pt x="6975" y="3528"/>
                      </a:lnTo>
                      <a:lnTo>
                        <a:pt x="6882" y="3556"/>
                      </a:lnTo>
                      <a:lnTo>
                        <a:pt x="6757" y="3580"/>
                      </a:lnTo>
                      <a:lnTo>
                        <a:pt x="6631" y="3657"/>
                      </a:lnTo>
                      <a:lnTo>
                        <a:pt x="6460" y="3844"/>
                      </a:lnTo>
                      <a:lnTo>
                        <a:pt x="6392" y="4010"/>
                      </a:lnTo>
                      <a:lnTo>
                        <a:pt x="6392" y="4113"/>
                      </a:lnTo>
                      <a:lnTo>
                        <a:pt x="6406" y="4187"/>
                      </a:lnTo>
                      <a:lnTo>
                        <a:pt x="6439" y="4265"/>
                      </a:lnTo>
                      <a:lnTo>
                        <a:pt x="6460" y="4342"/>
                      </a:lnTo>
                      <a:lnTo>
                        <a:pt x="6566" y="4392"/>
                      </a:lnTo>
                      <a:lnTo>
                        <a:pt x="6685" y="4410"/>
                      </a:lnTo>
                      <a:lnTo>
                        <a:pt x="6756" y="4392"/>
                      </a:lnTo>
                      <a:lnTo>
                        <a:pt x="6916" y="4302"/>
                      </a:lnTo>
                      <a:lnTo>
                        <a:pt x="7046" y="4249"/>
                      </a:lnTo>
                      <a:lnTo>
                        <a:pt x="7153" y="4239"/>
                      </a:lnTo>
                      <a:lnTo>
                        <a:pt x="7278" y="4304"/>
                      </a:lnTo>
                      <a:cubicBezTo>
                        <a:pt x="7294" y="4329"/>
                        <a:pt x="7306" y="4355"/>
                        <a:pt x="7313" y="4382"/>
                      </a:cubicBezTo>
                      <a:cubicBezTo>
                        <a:pt x="7328" y="4435"/>
                        <a:pt x="7326" y="4490"/>
                        <a:pt x="7308" y="4543"/>
                      </a:cubicBezTo>
                      <a:lnTo>
                        <a:pt x="7290" y="4640"/>
                      </a:lnTo>
                      <a:lnTo>
                        <a:pt x="7235" y="4692"/>
                      </a:lnTo>
                      <a:lnTo>
                        <a:pt x="7325" y="4873"/>
                      </a:lnTo>
                      <a:cubicBezTo>
                        <a:pt x="7356" y="4882"/>
                        <a:pt x="7388" y="4885"/>
                        <a:pt x="7420" y="4883"/>
                      </a:cubicBezTo>
                      <a:cubicBezTo>
                        <a:pt x="7472" y="4878"/>
                        <a:pt x="7519" y="4859"/>
                        <a:pt x="7555" y="4827"/>
                      </a:cubicBezTo>
                      <a:lnTo>
                        <a:pt x="7611" y="4775"/>
                      </a:lnTo>
                      <a:lnTo>
                        <a:pt x="7778" y="4766"/>
                      </a:lnTo>
                      <a:lnTo>
                        <a:pt x="7892" y="4680"/>
                      </a:lnTo>
                      <a:lnTo>
                        <a:pt x="8022" y="4620"/>
                      </a:lnTo>
                      <a:lnTo>
                        <a:pt x="7931" y="4489"/>
                      </a:lnTo>
                      <a:cubicBezTo>
                        <a:pt x="7925" y="4436"/>
                        <a:pt x="7945" y="4383"/>
                        <a:pt x="7985" y="4342"/>
                      </a:cubicBezTo>
                      <a:cubicBezTo>
                        <a:pt x="8042" y="4284"/>
                        <a:pt x="8131" y="4258"/>
                        <a:pt x="8217" y="4274"/>
                      </a:cubicBezTo>
                      <a:lnTo>
                        <a:pt x="8266" y="4168"/>
                      </a:lnTo>
                      <a:lnTo>
                        <a:pt x="8189" y="4016"/>
                      </a:lnTo>
                      <a:lnTo>
                        <a:pt x="8061" y="3951"/>
                      </a:lnTo>
                      <a:lnTo>
                        <a:pt x="8029" y="3766"/>
                      </a:lnTo>
                      <a:cubicBezTo>
                        <a:pt x="8052" y="3730"/>
                        <a:pt x="8081" y="3697"/>
                        <a:pt x="8115" y="3668"/>
                      </a:cubicBezTo>
                      <a:cubicBezTo>
                        <a:pt x="8159" y="3631"/>
                        <a:pt x="8210" y="3601"/>
                        <a:pt x="8261" y="3571"/>
                      </a:cubicBezTo>
                      <a:cubicBezTo>
                        <a:pt x="8298" y="3549"/>
                        <a:pt x="8335" y="3527"/>
                        <a:pt x="8372" y="3505"/>
                      </a:cubicBezTo>
                      <a:lnTo>
                        <a:pt x="8462" y="3412"/>
                      </a:lnTo>
                      <a:lnTo>
                        <a:pt x="8474" y="3300"/>
                      </a:lnTo>
                      <a:lnTo>
                        <a:pt x="8660" y="3219"/>
                      </a:lnTo>
                      <a:lnTo>
                        <a:pt x="8773" y="3189"/>
                      </a:lnTo>
                      <a:lnTo>
                        <a:pt x="8852" y="3257"/>
                      </a:lnTo>
                      <a:lnTo>
                        <a:pt x="8760" y="3342"/>
                      </a:lnTo>
                      <a:lnTo>
                        <a:pt x="8597" y="3442"/>
                      </a:lnTo>
                      <a:lnTo>
                        <a:pt x="8488" y="3492"/>
                      </a:lnTo>
                      <a:lnTo>
                        <a:pt x="8435" y="3564"/>
                      </a:lnTo>
                      <a:lnTo>
                        <a:pt x="8435" y="3636"/>
                      </a:lnTo>
                      <a:lnTo>
                        <a:pt x="8455" y="3755"/>
                      </a:lnTo>
                      <a:lnTo>
                        <a:pt x="8462" y="3820"/>
                      </a:lnTo>
                      <a:lnTo>
                        <a:pt x="8428" y="3926"/>
                      </a:lnTo>
                      <a:lnTo>
                        <a:pt x="8428" y="4035"/>
                      </a:lnTo>
                      <a:lnTo>
                        <a:pt x="8601" y="4076"/>
                      </a:lnTo>
                      <a:lnTo>
                        <a:pt x="8837" y="4070"/>
                      </a:lnTo>
                      <a:lnTo>
                        <a:pt x="8942" y="4031"/>
                      </a:lnTo>
                      <a:lnTo>
                        <a:pt x="9086" y="3977"/>
                      </a:lnTo>
                      <a:lnTo>
                        <a:pt x="9288" y="3947"/>
                      </a:lnTo>
                      <a:lnTo>
                        <a:pt x="9379" y="3947"/>
                      </a:lnTo>
                      <a:lnTo>
                        <a:pt x="9430" y="4024"/>
                      </a:lnTo>
                      <a:lnTo>
                        <a:pt x="9271" y="4101"/>
                      </a:lnTo>
                      <a:lnTo>
                        <a:pt x="9201" y="4101"/>
                      </a:lnTo>
                      <a:lnTo>
                        <a:pt x="9032" y="4097"/>
                      </a:lnTo>
                      <a:lnTo>
                        <a:pt x="8740" y="4150"/>
                      </a:lnTo>
                      <a:lnTo>
                        <a:pt x="8658" y="4197"/>
                      </a:lnTo>
                      <a:lnTo>
                        <a:pt x="8563" y="4209"/>
                      </a:lnTo>
                      <a:lnTo>
                        <a:pt x="8577" y="4337"/>
                      </a:lnTo>
                      <a:lnTo>
                        <a:pt x="8570" y="4412"/>
                      </a:lnTo>
                      <a:lnTo>
                        <a:pt x="8489" y="4534"/>
                      </a:lnTo>
                      <a:lnTo>
                        <a:pt x="8440" y="4605"/>
                      </a:lnTo>
                      <a:lnTo>
                        <a:pt x="8461" y="4698"/>
                      </a:lnTo>
                      <a:lnTo>
                        <a:pt x="8465" y="4764"/>
                      </a:lnTo>
                      <a:lnTo>
                        <a:pt x="8354" y="4845"/>
                      </a:lnTo>
                      <a:lnTo>
                        <a:pt x="8308" y="4927"/>
                      </a:lnTo>
                      <a:cubicBezTo>
                        <a:pt x="8301" y="4953"/>
                        <a:pt x="8287" y="4978"/>
                        <a:pt x="8266" y="4998"/>
                      </a:cubicBezTo>
                      <a:cubicBezTo>
                        <a:pt x="8236" y="5028"/>
                        <a:pt x="8196" y="5049"/>
                        <a:pt x="8151" y="5056"/>
                      </a:cubicBezTo>
                      <a:lnTo>
                        <a:pt x="8058" y="5056"/>
                      </a:lnTo>
                      <a:lnTo>
                        <a:pt x="8051" y="4991"/>
                      </a:lnTo>
                      <a:lnTo>
                        <a:pt x="7907" y="4934"/>
                      </a:lnTo>
                      <a:lnTo>
                        <a:pt x="7812" y="4997"/>
                      </a:lnTo>
                      <a:lnTo>
                        <a:pt x="7724" y="5013"/>
                      </a:lnTo>
                      <a:lnTo>
                        <a:pt x="7561" y="5041"/>
                      </a:lnTo>
                      <a:lnTo>
                        <a:pt x="7480" y="4999"/>
                      </a:lnTo>
                      <a:lnTo>
                        <a:pt x="7380" y="4953"/>
                      </a:lnTo>
                      <a:lnTo>
                        <a:pt x="7241" y="4971"/>
                      </a:lnTo>
                      <a:lnTo>
                        <a:pt x="7162" y="4705"/>
                      </a:lnTo>
                      <a:lnTo>
                        <a:pt x="7026" y="4735"/>
                      </a:lnTo>
                      <a:lnTo>
                        <a:pt x="7047" y="4646"/>
                      </a:lnTo>
                      <a:lnTo>
                        <a:pt x="7116" y="4586"/>
                      </a:lnTo>
                      <a:lnTo>
                        <a:pt x="7116" y="4499"/>
                      </a:lnTo>
                      <a:lnTo>
                        <a:pt x="7061" y="4393"/>
                      </a:lnTo>
                      <a:lnTo>
                        <a:pt x="6903" y="4457"/>
                      </a:lnTo>
                      <a:lnTo>
                        <a:pt x="6791" y="4522"/>
                      </a:lnTo>
                      <a:lnTo>
                        <a:pt x="6590" y="4570"/>
                      </a:lnTo>
                      <a:lnTo>
                        <a:pt x="6604" y="4745"/>
                      </a:lnTo>
                      <a:lnTo>
                        <a:pt x="6646" y="4890"/>
                      </a:lnTo>
                      <a:lnTo>
                        <a:pt x="6657" y="5003"/>
                      </a:lnTo>
                      <a:lnTo>
                        <a:pt x="6616" y="5073"/>
                      </a:lnTo>
                      <a:lnTo>
                        <a:pt x="6393" y="5083"/>
                      </a:lnTo>
                      <a:lnTo>
                        <a:pt x="6291" y="5089"/>
                      </a:lnTo>
                      <a:lnTo>
                        <a:pt x="6158" y="5142"/>
                      </a:lnTo>
                      <a:lnTo>
                        <a:pt x="6105" y="5221"/>
                      </a:lnTo>
                      <a:lnTo>
                        <a:pt x="5976" y="5292"/>
                      </a:lnTo>
                      <a:lnTo>
                        <a:pt x="5873" y="5340"/>
                      </a:lnTo>
                      <a:lnTo>
                        <a:pt x="5688" y="5412"/>
                      </a:lnTo>
                      <a:lnTo>
                        <a:pt x="5586" y="5459"/>
                      </a:lnTo>
                      <a:lnTo>
                        <a:pt x="5498" y="5465"/>
                      </a:lnTo>
                      <a:lnTo>
                        <a:pt x="5491" y="5410"/>
                      </a:lnTo>
                      <a:cubicBezTo>
                        <a:pt x="5536" y="5395"/>
                        <a:pt x="5574" y="5368"/>
                        <a:pt x="5600" y="5332"/>
                      </a:cubicBezTo>
                      <a:cubicBezTo>
                        <a:pt x="5622" y="5302"/>
                        <a:pt x="5633" y="5267"/>
                        <a:pt x="5632" y="5231"/>
                      </a:cubicBezTo>
                      <a:cubicBezTo>
                        <a:pt x="5617" y="5192"/>
                        <a:pt x="5593" y="5155"/>
                        <a:pt x="5563" y="5124"/>
                      </a:cubicBezTo>
                      <a:cubicBezTo>
                        <a:pt x="5531" y="5091"/>
                        <a:pt x="5492" y="5064"/>
                        <a:pt x="5449" y="5044"/>
                      </a:cubicBezTo>
                      <a:cubicBezTo>
                        <a:pt x="5446" y="4976"/>
                        <a:pt x="5434" y="4908"/>
                        <a:pt x="5414" y="4841"/>
                      </a:cubicBezTo>
                      <a:cubicBezTo>
                        <a:pt x="5398" y="4788"/>
                        <a:pt x="5376" y="4736"/>
                        <a:pt x="5349" y="4686"/>
                      </a:cubicBezTo>
                      <a:lnTo>
                        <a:pt x="5240" y="4583"/>
                      </a:lnTo>
                      <a:cubicBezTo>
                        <a:pt x="5257" y="4530"/>
                        <a:pt x="5299" y="4487"/>
                        <a:pt x="5356" y="4462"/>
                      </a:cubicBezTo>
                      <a:cubicBezTo>
                        <a:pt x="5397" y="4443"/>
                        <a:pt x="5447" y="4435"/>
                        <a:pt x="5474" y="4402"/>
                      </a:cubicBezTo>
                      <a:cubicBezTo>
                        <a:pt x="5501" y="4370"/>
                        <a:pt x="5498" y="4326"/>
                        <a:pt x="5467" y="4296"/>
                      </a:cubicBezTo>
                      <a:cubicBezTo>
                        <a:pt x="5422" y="4252"/>
                        <a:pt x="5340" y="4254"/>
                        <a:pt x="5298" y="4300"/>
                      </a:cubicBezTo>
                      <a:lnTo>
                        <a:pt x="5476" y="4141"/>
                      </a:lnTo>
                      <a:lnTo>
                        <a:pt x="5504" y="4048"/>
                      </a:lnTo>
                      <a:lnTo>
                        <a:pt x="5356" y="4025"/>
                      </a:lnTo>
                      <a:lnTo>
                        <a:pt x="5248" y="4084"/>
                      </a:lnTo>
                      <a:lnTo>
                        <a:pt x="5144" y="4147"/>
                      </a:lnTo>
                      <a:close/>
                    </a:path>
                  </a:pathLst>
                </a:custGeom>
                <a:solidFill>
                  <a:srgbClr val="005A8A"/>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ïšľïḑe"/>
                <p:cNvSpPr/>
                <p:nvPr/>
              </p:nvSpPr>
              <p:spPr>
                <a:xfrm>
                  <a:off x="5700322" y="2706269"/>
                  <a:ext cx="90230" cy="63739"/>
                </a:xfrm>
                <a:custGeom>
                  <a:avLst/>
                  <a:gdLst/>
                  <a:ahLst/>
                  <a:cxnLst>
                    <a:cxn ang="0">
                      <a:pos x="wd2" y="hd2"/>
                    </a:cxn>
                    <a:cxn ang="5400000">
                      <a:pos x="wd2" y="hd2"/>
                    </a:cxn>
                    <a:cxn ang="10800000">
                      <a:pos x="wd2" y="hd2"/>
                    </a:cxn>
                    <a:cxn ang="16200000">
                      <a:pos x="wd2" y="hd2"/>
                    </a:cxn>
                  </a:cxnLst>
                  <a:rect l="0" t="0" r="r" b="b"/>
                  <a:pathLst>
                    <a:path w="21600" h="21600" extrusionOk="0">
                      <a:moveTo>
                        <a:pt x="9552" y="3048"/>
                      </a:moveTo>
                      <a:lnTo>
                        <a:pt x="8988" y="0"/>
                      </a:lnTo>
                      <a:lnTo>
                        <a:pt x="7149" y="1300"/>
                      </a:lnTo>
                      <a:lnTo>
                        <a:pt x="3657" y="2334"/>
                      </a:lnTo>
                      <a:lnTo>
                        <a:pt x="0" y="3641"/>
                      </a:lnTo>
                      <a:lnTo>
                        <a:pt x="2310" y="6398"/>
                      </a:lnTo>
                      <a:lnTo>
                        <a:pt x="507" y="9646"/>
                      </a:lnTo>
                      <a:lnTo>
                        <a:pt x="148" y="12031"/>
                      </a:lnTo>
                      <a:lnTo>
                        <a:pt x="609" y="16384"/>
                      </a:lnTo>
                      <a:lnTo>
                        <a:pt x="4761" y="18707"/>
                      </a:lnTo>
                      <a:lnTo>
                        <a:pt x="7067" y="21600"/>
                      </a:lnTo>
                      <a:cubicBezTo>
                        <a:pt x="7928" y="21195"/>
                        <a:pt x="8798" y="20832"/>
                        <a:pt x="9676" y="20512"/>
                      </a:cubicBezTo>
                      <a:cubicBezTo>
                        <a:pt x="11261" y="19935"/>
                        <a:pt x="12870" y="19499"/>
                        <a:pt x="14494" y="19206"/>
                      </a:cubicBezTo>
                      <a:cubicBezTo>
                        <a:pt x="15569" y="19227"/>
                        <a:pt x="16639" y="19007"/>
                        <a:pt x="17666" y="18553"/>
                      </a:cubicBezTo>
                      <a:cubicBezTo>
                        <a:pt x="18830" y="18037"/>
                        <a:pt x="19920" y="17229"/>
                        <a:pt x="20882" y="16167"/>
                      </a:cubicBezTo>
                      <a:lnTo>
                        <a:pt x="21600" y="13845"/>
                      </a:lnTo>
                      <a:lnTo>
                        <a:pt x="21292" y="10370"/>
                      </a:lnTo>
                      <a:lnTo>
                        <a:pt x="20997" y="5245"/>
                      </a:lnTo>
                      <a:lnTo>
                        <a:pt x="18440" y="5245"/>
                      </a:lnTo>
                      <a:lnTo>
                        <a:pt x="17262" y="6987"/>
                      </a:lnTo>
                      <a:lnTo>
                        <a:pt x="15775" y="5681"/>
                      </a:lnTo>
                      <a:lnTo>
                        <a:pt x="13571" y="5463"/>
                      </a:lnTo>
                      <a:lnTo>
                        <a:pt x="12091" y="5681"/>
                      </a:lnTo>
                      <a:lnTo>
                        <a:pt x="9195" y="6543"/>
                      </a:lnTo>
                      <a:lnTo>
                        <a:pt x="9552" y="3048"/>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ïṧľïḑé"/>
                <p:cNvSpPr/>
                <p:nvPr/>
              </p:nvSpPr>
              <p:spPr>
                <a:xfrm>
                  <a:off x="5809435" y="2793913"/>
                  <a:ext cx="21279" cy="26775"/>
                </a:xfrm>
                <a:custGeom>
                  <a:avLst/>
                  <a:gdLst/>
                  <a:ahLst/>
                  <a:cxnLst>
                    <a:cxn ang="0">
                      <a:pos x="wd2" y="hd2"/>
                    </a:cxn>
                    <a:cxn ang="5400000">
                      <a:pos x="wd2" y="hd2"/>
                    </a:cxn>
                    <a:cxn ang="10800000">
                      <a:pos x="wd2" y="hd2"/>
                    </a:cxn>
                    <a:cxn ang="16200000">
                      <a:pos x="wd2" y="hd2"/>
                    </a:cxn>
                  </a:cxnLst>
                  <a:rect l="0" t="0" r="r" b="b"/>
                  <a:pathLst>
                    <a:path w="21600" h="21600" extrusionOk="0">
                      <a:moveTo>
                        <a:pt x="9207" y="0"/>
                      </a:moveTo>
                      <a:lnTo>
                        <a:pt x="650" y="5915"/>
                      </a:lnTo>
                      <a:lnTo>
                        <a:pt x="411" y="11257"/>
                      </a:lnTo>
                      <a:lnTo>
                        <a:pt x="0" y="17454"/>
                      </a:lnTo>
                      <a:lnTo>
                        <a:pt x="4997" y="21600"/>
                      </a:lnTo>
                      <a:lnTo>
                        <a:pt x="11194" y="15771"/>
                      </a:lnTo>
                      <a:lnTo>
                        <a:pt x="16412" y="8017"/>
                      </a:lnTo>
                      <a:lnTo>
                        <a:pt x="21600" y="1819"/>
                      </a:lnTo>
                      <a:lnTo>
                        <a:pt x="9207"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iṧḻîḓe"/>
                <p:cNvSpPr/>
                <p:nvPr/>
              </p:nvSpPr>
              <p:spPr>
                <a:xfrm>
                  <a:off x="5850726" y="2829701"/>
                  <a:ext cx="15846" cy="22305"/>
                </a:xfrm>
                <a:custGeom>
                  <a:avLst/>
                  <a:gdLst/>
                  <a:ahLst/>
                  <a:cxnLst>
                    <a:cxn ang="0">
                      <a:pos x="wd2" y="hd2"/>
                    </a:cxn>
                    <a:cxn ang="5400000">
                      <a:pos x="wd2" y="hd2"/>
                    </a:cxn>
                    <a:cxn ang="10800000">
                      <a:pos x="wd2" y="hd2"/>
                    </a:cxn>
                    <a:cxn ang="16200000">
                      <a:pos x="wd2" y="hd2"/>
                    </a:cxn>
                  </a:cxnLst>
                  <a:rect l="0" t="0" r="r" b="b"/>
                  <a:pathLst>
                    <a:path w="21600" h="21600" extrusionOk="0">
                      <a:moveTo>
                        <a:pt x="19940" y="0"/>
                      </a:moveTo>
                      <a:lnTo>
                        <a:pt x="6009" y="3733"/>
                      </a:lnTo>
                      <a:lnTo>
                        <a:pt x="0" y="16898"/>
                      </a:lnTo>
                      <a:lnTo>
                        <a:pt x="11683" y="21600"/>
                      </a:lnTo>
                      <a:lnTo>
                        <a:pt x="21600" y="9366"/>
                      </a:lnTo>
                      <a:lnTo>
                        <a:pt x="19940"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îšḷîdê"/>
                <p:cNvSpPr/>
                <p:nvPr/>
              </p:nvSpPr>
              <p:spPr>
                <a:xfrm>
                  <a:off x="6079133" y="2891422"/>
                  <a:ext cx="15995" cy="26701"/>
                </a:xfrm>
                <a:custGeom>
                  <a:avLst/>
                  <a:gdLst/>
                  <a:ahLst/>
                  <a:cxnLst>
                    <a:cxn ang="0">
                      <a:pos x="wd2" y="hd2"/>
                    </a:cxn>
                    <a:cxn ang="5400000">
                      <a:pos x="wd2" y="hd2"/>
                    </a:cxn>
                    <a:cxn ang="10800000">
                      <a:pos x="wd2" y="hd2"/>
                    </a:cxn>
                    <a:cxn ang="16200000">
                      <a:pos x="wd2" y="hd2"/>
                    </a:cxn>
                  </a:cxnLst>
                  <a:rect l="0" t="0" r="r" b="b"/>
                  <a:pathLst>
                    <a:path w="21600" h="21600" extrusionOk="0">
                      <a:moveTo>
                        <a:pt x="11817" y="0"/>
                      </a:moveTo>
                      <a:lnTo>
                        <a:pt x="2891" y="5197"/>
                      </a:lnTo>
                      <a:lnTo>
                        <a:pt x="0" y="12807"/>
                      </a:lnTo>
                      <a:lnTo>
                        <a:pt x="2834" y="21600"/>
                      </a:lnTo>
                      <a:lnTo>
                        <a:pt x="11224" y="19348"/>
                      </a:lnTo>
                      <a:lnTo>
                        <a:pt x="19865" y="9995"/>
                      </a:lnTo>
                      <a:lnTo>
                        <a:pt x="21600" y="2242"/>
                      </a:lnTo>
                      <a:lnTo>
                        <a:pt x="11817"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îşľîdé"/>
                <p:cNvSpPr/>
                <p:nvPr/>
              </p:nvSpPr>
              <p:spPr>
                <a:xfrm>
                  <a:off x="6093112" y="2848954"/>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5709" y="0"/>
                      </a:moveTo>
                      <a:lnTo>
                        <a:pt x="0" y="11388"/>
                      </a:lnTo>
                      <a:lnTo>
                        <a:pt x="7334" y="20369"/>
                      </a:lnTo>
                      <a:lnTo>
                        <a:pt x="21600" y="21600"/>
                      </a:lnTo>
                      <a:lnTo>
                        <a:pt x="20974" y="9580"/>
                      </a:lnTo>
                      <a:lnTo>
                        <a:pt x="570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îṩ1íḓè"/>
                <p:cNvSpPr/>
                <p:nvPr/>
              </p:nvSpPr>
              <p:spPr>
                <a:xfrm>
                  <a:off x="6045295" y="2554151"/>
                  <a:ext cx="73978" cy="55667"/>
                </a:xfrm>
                <a:custGeom>
                  <a:avLst/>
                  <a:gdLst/>
                  <a:ahLst/>
                  <a:cxnLst>
                    <a:cxn ang="0">
                      <a:pos x="wd2" y="hd2"/>
                    </a:cxn>
                    <a:cxn ang="5400000">
                      <a:pos x="wd2" y="hd2"/>
                    </a:cxn>
                    <a:cxn ang="10800000">
                      <a:pos x="wd2" y="hd2"/>
                    </a:cxn>
                    <a:cxn ang="16200000">
                      <a:pos x="wd2" y="hd2"/>
                    </a:cxn>
                  </a:cxnLst>
                  <a:rect l="0" t="0" r="r" b="b"/>
                  <a:pathLst>
                    <a:path w="21510" h="20835" extrusionOk="0">
                      <a:moveTo>
                        <a:pt x="11611" y="1371"/>
                      </a:moveTo>
                      <a:lnTo>
                        <a:pt x="7704" y="3054"/>
                      </a:lnTo>
                      <a:lnTo>
                        <a:pt x="5225" y="4496"/>
                      </a:lnTo>
                      <a:lnTo>
                        <a:pt x="393" y="3785"/>
                      </a:lnTo>
                      <a:lnTo>
                        <a:pt x="0" y="7391"/>
                      </a:lnTo>
                      <a:lnTo>
                        <a:pt x="79" y="12280"/>
                      </a:lnTo>
                      <a:lnTo>
                        <a:pt x="2694" y="13401"/>
                      </a:lnTo>
                      <a:lnTo>
                        <a:pt x="4554" y="17730"/>
                      </a:lnTo>
                      <a:lnTo>
                        <a:pt x="4554" y="20835"/>
                      </a:lnTo>
                      <a:lnTo>
                        <a:pt x="8959" y="20374"/>
                      </a:lnTo>
                      <a:lnTo>
                        <a:pt x="9699" y="13171"/>
                      </a:lnTo>
                      <a:lnTo>
                        <a:pt x="12376" y="11498"/>
                      </a:lnTo>
                      <a:lnTo>
                        <a:pt x="13497" y="15986"/>
                      </a:lnTo>
                      <a:lnTo>
                        <a:pt x="16236" y="18862"/>
                      </a:lnTo>
                      <a:lnTo>
                        <a:pt x="19163" y="16938"/>
                      </a:lnTo>
                      <a:cubicBezTo>
                        <a:pt x="19086" y="15713"/>
                        <a:pt x="18832" y="14517"/>
                        <a:pt x="18415" y="13411"/>
                      </a:cubicBezTo>
                      <a:cubicBezTo>
                        <a:pt x="17915" y="12084"/>
                        <a:pt x="17192" y="10918"/>
                        <a:pt x="16298" y="9995"/>
                      </a:cubicBezTo>
                      <a:lnTo>
                        <a:pt x="19521" y="7380"/>
                      </a:lnTo>
                      <a:lnTo>
                        <a:pt x="21450" y="5217"/>
                      </a:lnTo>
                      <a:cubicBezTo>
                        <a:pt x="21600" y="4228"/>
                        <a:pt x="21467" y="3204"/>
                        <a:pt x="21077" y="2331"/>
                      </a:cubicBezTo>
                      <a:cubicBezTo>
                        <a:pt x="19965" y="-155"/>
                        <a:pt x="17387" y="-765"/>
                        <a:pt x="15660" y="1048"/>
                      </a:cubicBezTo>
                      <a:lnTo>
                        <a:pt x="11611" y="1371"/>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íṩļiḓê"/>
                <p:cNvSpPr/>
                <p:nvPr/>
              </p:nvSpPr>
              <p:spPr>
                <a:xfrm>
                  <a:off x="6197958" y="2524782"/>
                  <a:ext cx="32427" cy="24612"/>
                </a:xfrm>
                <a:custGeom>
                  <a:avLst/>
                  <a:gdLst/>
                  <a:ahLst/>
                  <a:cxnLst>
                    <a:cxn ang="0">
                      <a:pos x="wd2" y="hd2"/>
                    </a:cxn>
                    <a:cxn ang="5400000">
                      <a:pos x="wd2" y="hd2"/>
                    </a:cxn>
                    <a:cxn ang="10800000">
                      <a:pos x="wd2" y="hd2"/>
                    </a:cxn>
                    <a:cxn ang="16200000">
                      <a:pos x="wd2" y="hd2"/>
                    </a:cxn>
                  </a:cxnLst>
                  <a:rect l="0" t="0" r="r" b="b"/>
                  <a:pathLst>
                    <a:path w="21600" h="21154" extrusionOk="0">
                      <a:moveTo>
                        <a:pt x="4155" y="0"/>
                      </a:moveTo>
                      <a:lnTo>
                        <a:pt x="0" y="5109"/>
                      </a:lnTo>
                      <a:lnTo>
                        <a:pt x="730" y="14871"/>
                      </a:lnTo>
                      <a:cubicBezTo>
                        <a:pt x="2403" y="16735"/>
                        <a:pt x="4304" y="18228"/>
                        <a:pt x="6356" y="19289"/>
                      </a:cubicBezTo>
                      <a:cubicBezTo>
                        <a:pt x="9840" y="21090"/>
                        <a:pt x="13644" y="21600"/>
                        <a:pt x="17339" y="20762"/>
                      </a:cubicBezTo>
                      <a:lnTo>
                        <a:pt x="21600" y="16344"/>
                      </a:lnTo>
                      <a:lnTo>
                        <a:pt x="20175" y="5323"/>
                      </a:lnTo>
                      <a:lnTo>
                        <a:pt x="13933" y="7532"/>
                      </a:lnTo>
                      <a:lnTo>
                        <a:pt x="9956" y="5346"/>
                      </a:lnTo>
                      <a:lnTo>
                        <a:pt x="4155"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ï$lîdê"/>
                <p:cNvSpPr/>
                <p:nvPr/>
              </p:nvSpPr>
              <p:spPr>
                <a:xfrm>
                  <a:off x="6285755" y="2561151"/>
                  <a:ext cx="70797" cy="104700"/>
                </a:xfrm>
                <a:custGeom>
                  <a:avLst/>
                  <a:gdLst/>
                  <a:ahLst/>
                  <a:cxnLst>
                    <a:cxn ang="0">
                      <a:pos x="wd2" y="hd2"/>
                    </a:cxn>
                    <a:cxn ang="5400000">
                      <a:pos x="wd2" y="hd2"/>
                    </a:cxn>
                    <a:cxn ang="10800000">
                      <a:pos x="wd2" y="hd2"/>
                    </a:cxn>
                    <a:cxn ang="16200000">
                      <a:pos x="wd2" y="hd2"/>
                    </a:cxn>
                  </a:cxnLst>
                  <a:rect l="0" t="0" r="r" b="b"/>
                  <a:pathLst>
                    <a:path w="21600" h="21553" extrusionOk="0">
                      <a:moveTo>
                        <a:pt x="4816" y="883"/>
                      </a:moveTo>
                      <a:lnTo>
                        <a:pt x="5109" y="2662"/>
                      </a:lnTo>
                      <a:lnTo>
                        <a:pt x="4304" y="4157"/>
                      </a:lnTo>
                      <a:lnTo>
                        <a:pt x="1171" y="4808"/>
                      </a:lnTo>
                      <a:lnTo>
                        <a:pt x="0" y="5953"/>
                      </a:lnTo>
                      <a:lnTo>
                        <a:pt x="50" y="8329"/>
                      </a:lnTo>
                      <a:lnTo>
                        <a:pt x="1682" y="9959"/>
                      </a:lnTo>
                      <a:lnTo>
                        <a:pt x="2075" y="11546"/>
                      </a:lnTo>
                      <a:lnTo>
                        <a:pt x="3577" y="13838"/>
                      </a:lnTo>
                      <a:lnTo>
                        <a:pt x="5602" y="16522"/>
                      </a:lnTo>
                      <a:lnTo>
                        <a:pt x="3781" y="17271"/>
                      </a:lnTo>
                      <a:lnTo>
                        <a:pt x="6329" y="18896"/>
                      </a:lnTo>
                      <a:lnTo>
                        <a:pt x="10641" y="20087"/>
                      </a:lnTo>
                      <a:lnTo>
                        <a:pt x="15344" y="21542"/>
                      </a:lnTo>
                      <a:cubicBezTo>
                        <a:pt x="16624" y="21600"/>
                        <a:pt x="17905" y="21433"/>
                        <a:pt x="19061" y="21057"/>
                      </a:cubicBezTo>
                      <a:cubicBezTo>
                        <a:pt x="20046" y="20736"/>
                        <a:pt x="20914" y="20271"/>
                        <a:pt x="21600" y="19695"/>
                      </a:cubicBezTo>
                      <a:lnTo>
                        <a:pt x="18268" y="18021"/>
                      </a:lnTo>
                      <a:lnTo>
                        <a:pt x="12789" y="16169"/>
                      </a:lnTo>
                      <a:cubicBezTo>
                        <a:pt x="11540" y="15588"/>
                        <a:pt x="10440" y="14873"/>
                        <a:pt x="9531" y="14053"/>
                      </a:cubicBezTo>
                      <a:cubicBezTo>
                        <a:pt x="8004" y="12677"/>
                        <a:pt x="7058" y="11047"/>
                        <a:pt x="6794" y="9337"/>
                      </a:cubicBezTo>
                      <a:lnTo>
                        <a:pt x="8036" y="5987"/>
                      </a:lnTo>
                      <a:lnTo>
                        <a:pt x="10910" y="3033"/>
                      </a:lnTo>
                      <a:lnTo>
                        <a:pt x="10649" y="400"/>
                      </a:lnTo>
                      <a:lnTo>
                        <a:pt x="8167" y="0"/>
                      </a:lnTo>
                      <a:lnTo>
                        <a:pt x="4816" y="883"/>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îṡliḋé"/>
                <p:cNvSpPr/>
                <p:nvPr/>
              </p:nvSpPr>
              <p:spPr>
                <a:xfrm>
                  <a:off x="6174316" y="2542132"/>
                  <a:ext cx="35655" cy="15846"/>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972" y="5474"/>
                      </a:lnTo>
                      <a:lnTo>
                        <a:pt x="0" y="16008"/>
                      </a:lnTo>
                      <a:lnTo>
                        <a:pt x="7225" y="19736"/>
                      </a:lnTo>
                      <a:lnTo>
                        <a:pt x="17448" y="21600"/>
                      </a:lnTo>
                      <a:lnTo>
                        <a:pt x="21600" y="17250"/>
                      </a:lnTo>
                      <a:lnTo>
                        <a:pt x="13069" y="10419"/>
                      </a:lnTo>
                      <a:lnTo>
                        <a:pt x="7085"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íśļíḍé"/>
                <p:cNvSpPr/>
                <p:nvPr/>
              </p:nvSpPr>
              <p:spPr>
                <a:xfrm>
                  <a:off x="6311431" y="2675206"/>
                  <a:ext cx="21133" cy="15846"/>
                </a:xfrm>
                <a:custGeom>
                  <a:avLst/>
                  <a:gdLst/>
                  <a:ahLst/>
                  <a:cxnLst>
                    <a:cxn ang="0">
                      <a:pos x="wd2" y="hd2"/>
                    </a:cxn>
                    <a:cxn ang="5400000">
                      <a:pos x="wd2" y="hd2"/>
                    </a:cxn>
                    <a:cxn ang="10800000">
                      <a:pos x="wd2" y="hd2"/>
                    </a:cxn>
                    <a:cxn ang="16200000">
                      <a:pos x="wd2" y="hd2"/>
                    </a:cxn>
                  </a:cxnLst>
                  <a:rect l="0" t="0" r="r" b="b"/>
                  <a:pathLst>
                    <a:path w="21600" h="21600" extrusionOk="0">
                      <a:moveTo>
                        <a:pt x="0" y="4135"/>
                      </a:moveTo>
                      <a:lnTo>
                        <a:pt x="12337" y="0"/>
                      </a:lnTo>
                      <a:lnTo>
                        <a:pt x="21600" y="7234"/>
                      </a:lnTo>
                      <a:lnTo>
                        <a:pt x="19684" y="17746"/>
                      </a:lnTo>
                      <a:lnTo>
                        <a:pt x="3843" y="21600"/>
                      </a:lnTo>
                      <a:lnTo>
                        <a:pt x="0" y="4135"/>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iSļïḓè"/>
                <p:cNvSpPr/>
                <p:nvPr/>
              </p:nvSpPr>
              <p:spPr>
                <a:xfrm>
                  <a:off x="6362710" y="2545929"/>
                  <a:ext cx="25401" cy="1584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5068" y="0"/>
                      </a:lnTo>
                      <a:lnTo>
                        <a:pt x="21600" y="20842"/>
                      </a:lnTo>
                      <a:lnTo>
                        <a:pt x="11129" y="21600"/>
                      </a:lnTo>
                      <a:lnTo>
                        <a:pt x="4232" y="12381"/>
                      </a:lnTo>
                      <a:lnTo>
                        <a:pt x="0"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íŝ1îdè"/>
                <p:cNvSpPr/>
                <p:nvPr/>
              </p:nvSpPr>
              <p:spPr>
                <a:xfrm>
                  <a:off x="7273785" y="3477111"/>
                  <a:ext cx="21636" cy="85733"/>
                </a:xfrm>
                <a:custGeom>
                  <a:avLst/>
                  <a:gdLst/>
                  <a:ahLst/>
                  <a:cxnLst>
                    <a:cxn ang="0">
                      <a:pos x="wd2" y="hd2"/>
                    </a:cxn>
                    <a:cxn ang="5400000">
                      <a:pos x="wd2" y="hd2"/>
                    </a:cxn>
                    <a:cxn ang="10800000">
                      <a:pos x="wd2" y="hd2"/>
                    </a:cxn>
                    <a:cxn ang="16200000">
                      <a:pos x="wd2" y="hd2"/>
                    </a:cxn>
                  </a:cxnLst>
                  <a:rect l="0" t="0" r="r" b="b"/>
                  <a:pathLst>
                    <a:path w="21600" h="21600" extrusionOk="0">
                      <a:moveTo>
                        <a:pt x="2566" y="0"/>
                      </a:moveTo>
                      <a:lnTo>
                        <a:pt x="0" y="3702"/>
                      </a:lnTo>
                      <a:lnTo>
                        <a:pt x="4134" y="6979"/>
                      </a:lnTo>
                      <a:lnTo>
                        <a:pt x="11935" y="11996"/>
                      </a:lnTo>
                      <a:lnTo>
                        <a:pt x="8728" y="15935"/>
                      </a:lnTo>
                      <a:lnTo>
                        <a:pt x="16067" y="21600"/>
                      </a:lnTo>
                      <a:lnTo>
                        <a:pt x="19274" y="18262"/>
                      </a:lnTo>
                      <a:lnTo>
                        <a:pt x="17350" y="15847"/>
                      </a:lnTo>
                      <a:lnTo>
                        <a:pt x="21600" y="12725"/>
                      </a:lnTo>
                      <a:lnTo>
                        <a:pt x="15399" y="9495"/>
                      </a:lnTo>
                      <a:lnTo>
                        <a:pt x="11337" y="3243"/>
                      </a:lnTo>
                      <a:lnTo>
                        <a:pt x="2566"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lïḓê"/>
                <p:cNvSpPr/>
                <p:nvPr/>
              </p:nvSpPr>
              <p:spPr>
                <a:xfrm>
                  <a:off x="6569221" y="4213596"/>
                  <a:ext cx="17151" cy="19396"/>
                </a:xfrm>
                <a:custGeom>
                  <a:avLst/>
                  <a:gdLst/>
                  <a:ahLst/>
                  <a:cxnLst>
                    <a:cxn ang="0">
                      <a:pos x="wd2" y="hd2"/>
                    </a:cxn>
                    <a:cxn ang="5400000">
                      <a:pos x="wd2" y="hd2"/>
                    </a:cxn>
                    <a:cxn ang="10800000">
                      <a:pos x="wd2" y="hd2"/>
                    </a:cxn>
                    <a:cxn ang="16200000">
                      <a:pos x="wd2" y="hd2"/>
                    </a:cxn>
                  </a:cxnLst>
                  <a:rect l="0" t="0" r="r" b="b"/>
                  <a:pathLst>
                    <a:path w="21600" h="21600" extrusionOk="0">
                      <a:moveTo>
                        <a:pt x="7955" y="0"/>
                      </a:moveTo>
                      <a:lnTo>
                        <a:pt x="0" y="7659"/>
                      </a:lnTo>
                      <a:lnTo>
                        <a:pt x="4614" y="21600"/>
                      </a:lnTo>
                      <a:lnTo>
                        <a:pt x="19982" y="20169"/>
                      </a:lnTo>
                      <a:lnTo>
                        <a:pt x="21600" y="6129"/>
                      </a:lnTo>
                      <a:lnTo>
                        <a:pt x="7955"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îšḻîdé"/>
                <p:cNvSpPr/>
                <p:nvPr/>
              </p:nvSpPr>
              <p:spPr>
                <a:xfrm>
                  <a:off x="6595142" y="4312461"/>
                  <a:ext cx="166909" cy="261209"/>
                </a:xfrm>
                <a:custGeom>
                  <a:avLst/>
                  <a:gdLst/>
                  <a:ahLst/>
                  <a:cxnLst>
                    <a:cxn ang="0">
                      <a:pos x="wd2" y="hd2"/>
                    </a:cxn>
                    <a:cxn ang="5400000">
                      <a:pos x="wd2" y="hd2"/>
                    </a:cxn>
                    <a:cxn ang="10800000">
                      <a:pos x="wd2" y="hd2"/>
                    </a:cxn>
                    <a:cxn ang="16200000">
                      <a:pos x="wd2" y="hd2"/>
                    </a:cxn>
                  </a:cxnLst>
                  <a:rect l="0" t="0" r="r" b="b"/>
                  <a:pathLst>
                    <a:path w="21600" h="21600" extrusionOk="0">
                      <a:moveTo>
                        <a:pt x="18346" y="656"/>
                      </a:moveTo>
                      <a:lnTo>
                        <a:pt x="17957" y="1574"/>
                      </a:lnTo>
                      <a:lnTo>
                        <a:pt x="17583" y="2358"/>
                      </a:lnTo>
                      <a:lnTo>
                        <a:pt x="16509" y="2674"/>
                      </a:lnTo>
                      <a:lnTo>
                        <a:pt x="15882" y="3110"/>
                      </a:lnTo>
                      <a:lnTo>
                        <a:pt x="14980" y="4206"/>
                      </a:lnTo>
                      <a:cubicBezTo>
                        <a:pt x="14751" y="4683"/>
                        <a:pt x="14298" y="5103"/>
                        <a:pt x="13683" y="5410"/>
                      </a:cubicBezTo>
                      <a:cubicBezTo>
                        <a:pt x="13153" y="5675"/>
                        <a:pt x="12527" y="5843"/>
                        <a:pt x="11935" y="6048"/>
                      </a:cubicBezTo>
                      <a:cubicBezTo>
                        <a:pt x="11077" y="6344"/>
                        <a:pt x="10290" y="6720"/>
                        <a:pt x="9421" y="7004"/>
                      </a:cubicBezTo>
                      <a:cubicBezTo>
                        <a:pt x="8684" y="7244"/>
                        <a:pt x="7895" y="7417"/>
                        <a:pt x="7190" y="7694"/>
                      </a:cubicBezTo>
                      <a:cubicBezTo>
                        <a:pt x="6649" y="7907"/>
                        <a:pt x="6169" y="8176"/>
                        <a:pt x="5769" y="8491"/>
                      </a:cubicBezTo>
                      <a:cubicBezTo>
                        <a:pt x="5991" y="8843"/>
                        <a:pt x="5996" y="9235"/>
                        <a:pt x="5785" y="9589"/>
                      </a:cubicBezTo>
                      <a:cubicBezTo>
                        <a:pt x="5558" y="9971"/>
                        <a:pt x="5098" y="10277"/>
                        <a:pt x="4510" y="10439"/>
                      </a:cubicBezTo>
                      <a:lnTo>
                        <a:pt x="4024" y="11322"/>
                      </a:lnTo>
                      <a:lnTo>
                        <a:pt x="4213" y="12258"/>
                      </a:lnTo>
                      <a:lnTo>
                        <a:pt x="5210" y="13905"/>
                      </a:lnTo>
                      <a:cubicBezTo>
                        <a:pt x="4957" y="14169"/>
                        <a:pt x="4679" y="14423"/>
                        <a:pt x="4379" y="14666"/>
                      </a:cubicBezTo>
                      <a:cubicBezTo>
                        <a:pt x="3928" y="15031"/>
                        <a:pt x="3420" y="15373"/>
                        <a:pt x="2771" y="15585"/>
                      </a:cubicBezTo>
                      <a:cubicBezTo>
                        <a:pt x="2257" y="15753"/>
                        <a:pt x="1679" y="15828"/>
                        <a:pt x="1177" y="16010"/>
                      </a:cubicBezTo>
                      <a:cubicBezTo>
                        <a:pt x="654" y="16198"/>
                        <a:pt x="241" y="16490"/>
                        <a:pt x="0" y="16842"/>
                      </a:cubicBezTo>
                      <a:lnTo>
                        <a:pt x="193" y="17780"/>
                      </a:lnTo>
                      <a:lnTo>
                        <a:pt x="1083" y="18820"/>
                      </a:lnTo>
                      <a:lnTo>
                        <a:pt x="671" y="20573"/>
                      </a:lnTo>
                      <a:lnTo>
                        <a:pt x="1946" y="21387"/>
                      </a:lnTo>
                      <a:lnTo>
                        <a:pt x="3470" y="21600"/>
                      </a:lnTo>
                      <a:lnTo>
                        <a:pt x="4741" y="21423"/>
                      </a:lnTo>
                      <a:lnTo>
                        <a:pt x="5652" y="20734"/>
                      </a:lnTo>
                      <a:cubicBezTo>
                        <a:pt x="5932" y="20736"/>
                        <a:pt x="6210" y="20718"/>
                        <a:pt x="6484" y="20681"/>
                      </a:cubicBezTo>
                      <a:cubicBezTo>
                        <a:pt x="6925" y="20622"/>
                        <a:pt x="7347" y="20514"/>
                        <a:pt x="7731" y="20363"/>
                      </a:cubicBezTo>
                      <a:cubicBezTo>
                        <a:pt x="8200" y="20254"/>
                        <a:pt x="8619" y="20071"/>
                        <a:pt x="8950" y="19831"/>
                      </a:cubicBezTo>
                      <a:cubicBezTo>
                        <a:pt x="9783" y="19228"/>
                        <a:pt x="9969" y="18363"/>
                        <a:pt x="9421" y="17638"/>
                      </a:cubicBezTo>
                      <a:cubicBezTo>
                        <a:pt x="10257" y="17002"/>
                        <a:pt x="10990" y="16314"/>
                        <a:pt x="11610" y="15584"/>
                      </a:cubicBezTo>
                      <a:cubicBezTo>
                        <a:pt x="12304" y="14766"/>
                        <a:pt x="12851" y="13900"/>
                        <a:pt x="13518" y="13072"/>
                      </a:cubicBezTo>
                      <a:cubicBezTo>
                        <a:pt x="13882" y="12622"/>
                        <a:pt x="14280" y="12184"/>
                        <a:pt x="14679" y="11746"/>
                      </a:cubicBezTo>
                      <a:cubicBezTo>
                        <a:pt x="15331" y="11031"/>
                        <a:pt x="15984" y="10317"/>
                        <a:pt x="16591" y="9586"/>
                      </a:cubicBezTo>
                      <a:cubicBezTo>
                        <a:pt x="16949" y="9155"/>
                        <a:pt x="17291" y="8718"/>
                        <a:pt x="17616" y="8276"/>
                      </a:cubicBezTo>
                      <a:lnTo>
                        <a:pt x="18697" y="7481"/>
                      </a:lnTo>
                      <a:lnTo>
                        <a:pt x="19552" y="6532"/>
                      </a:lnTo>
                      <a:cubicBezTo>
                        <a:pt x="19540" y="6337"/>
                        <a:pt x="19648" y="6147"/>
                        <a:pt x="19854" y="6003"/>
                      </a:cubicBezTo>
                      <a:cubicBezTo>
                        <a:pt x="20199" y="5761"/>
                        <a:pt x="20745" y="5686"/>
                        <a:pt x="21215" y="5815"/>
                      </a:cubicBezTo>
                      <a:lnTo>
                        <a:pt x="21600" y="4808"/>
                      </a:lnTo>
                      <a:lnTo>
                        <a:pt x="21600" y="3092"/>
                      </a:lnTo>
                      <a:lnTo>
                        <a:pt x="20741" y="1552"/>
                      </a:lnTo>
                      <a:lnTo>
                        <a:pt x="20159" y="826"/>
                      </a:lnTo>
                      <a:lnTo>
                        <a:pt x="19743" y="102"/>
                      </a:lnTo>
                      <a:lnTo>
                        <a:pt x="18701" y="0"/>
                      </a:lnTo>
                      <a:lnTo>
                        <a:pt x="18346" y="656"/>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íślîḋé"/>
                <p:cNvSpPr/>
                <p:nvPr/>
              </p:nvSpPr>
              <p:spPr>
                <a:xfrm>
                  <a:off x="6852551" y="4416527"/>
                  <a:ext cx="17046" cy="21960"/>
                </a:xfrm>
                <a:custGeom>
                  <a:avLst/>
                  <a:gdLst/>
                  <a:ahLst/>
                  <a:cxnLst>
                    <a:cxn ang="0">
                      <a:pos x="wd2" y="hd2"/>
                    </a:cxn>
                    <a:cxn ang="5400000">
                      <a:pos x="wd2" y="hd2"/>
                    </a:cxn>
                    <a:cxn ang="10800000">
                      <a:pos x="wd2" y="hd2"/>
                    </a:cxn>
                    <a:cxn ang="16200000">
                      <a:pos x="wd2" y="hd2"/>
                    </a:cxn>
                  </a:cxnLst>
                  <a:rect l="0" t="0" r="r" b="b"/>
                  <a:pathLst>
                    <a:path w="21600" h="21600" extrusionOk="0">
                      <a:moveTo>
                        <a:pt x="16859" y="0"/>
                      </a:moveTo>
                      <a:lnTo>
                        <a:pt x="6955" y="3766"/>
                      </a:lnTo>
                      <a:lnTo>
                        <a:pt x="0" y="12807"/>
                      </a:lnTo>
                      <a:lnTo>
                        <a:pt x="1520" y="21600"/>
                      </a:lnTo>
                      <a:lnTo>
                        <a:pt x="11830" y="18440"/>
                      </a:lnTo>
                      <a:lnTo>
                        <a:pt x="21600" y="7067"/>
                      </a:lnTo>
                      <a:lnTo>
                        <a:pt x="1685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ïş1ïďé"/>
                <p:cNvSpPr/>
                <p:nvPr/>
              </p:nvSpPr>
              <p:spPr>
                <a:xfrm>
                  <a:off x="6813417" y="444348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4812" y="0"/>
                      </a:moveTo>
                      <a:lnTo>
                        <a:pt x="4681" y="6372"/>
                      </a:lnTo>
                      <a:lnTo>
                        <a:pt x="0" y="21600"/>
                      </a:lnTo>
                      <a:lnTo>
                        <a:pt x="14684" y="16243"/>
                      </a:lnTo>
                      <a:lnTo>
                        <a:pt x="21600" y="8805"/>
                      </a:lnTo>
                      <a:lnTo>
                        <a:pt x="14812"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išļïḋè"/>
                <p:cNvSpPr/>
                <p:nvPr/>
              </p:nvSpPr>
              <p:spPr>
                <a:xfrm>
                  <a:off x="6657771" y="4345698"/>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8649" y="0"/>
                      </a:moveTo>
                      <a:lnTo>
                        <a:pt x="0" y="10705"/>
                      </a:lnTo>
                      <a:lnTo>
                        <a:pt x="6331" y="21600"/>
                      </a:lnTo>
                      <a:lnTo>
                        <a:pt x="21600" y="11002"/>
                      </a:lnTo>
                      <a:lnTo>
                        <a:pt x="864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ïsľïḑè"/>
                <p:cNvSpPr/>
                <p:nvPr/>
              </p:nvSpPr>
              <p:spPr>
                <a:xfrm>
                  <a:off x="6646139" y="4336938"/>
                  <a:ext cx="15847" cy="15846"/>
                </a:xfrm>
                <a:custGeom>
                  <a:avLst/>
                  <a:gdLst/>
                  <a:ahLst/>
                  <a:cxnLst>
                    <a:cxn ang="0">
                      <a:pos x="wd2" y="hd2"/>
                    </a:cxn>
                    <a:cxn ang="5400000">
                      <a:pos x="wd2" y="hd2"/>
                    </a:cxn>
                    <a:cxn ang="10800000">
                      <a:pos x="wd2" y="hd2"/>
                    </a:cxn>
                    <a:cxn ang="16200000">
                      <a:pos x="wd2" y="hd2"/>
                    </a:cxn>
                  </a:cxnLst>
                  <a:rect l="0" t="0" r="r" b="b"/>
                  <a:pathLst>
                    <a:path w="21600" h="21600" extrusionOk="0">
                      <a:moveTo>
                        <a:pt x="7759" y="0"/>
                      </a:moveTo>
                      <a:lnTo>
                        <a:pt x="41" y="9426"/>
                      </a:lnTo>
                      <a:lnTo>
                        <a:pt x="0" y="21600"/>
                      </a:lnTo>
                      <a:lnTo>
                        <a:pt x="12649" y="16740"/>
                      </a:lnTo>
                      <a:lnTo>
                        <a:pt x="21600" y="5613"/>
                      </a:lnTo>
                      <a:lnTo>
                        <a:pt x="775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íṡľîḓé"/>
                <p:cNvSpPr/>
                <p:nvPr/>
              </p:nvSpPr>
              <p:spPr>
                <a:xfrm>
                  <a:off x="5896709" y="3183452"/>
                  <a:ext cx="39984" cy="96359"/>
                </a:xfrm>
                <a:custGeom>
                  <a:avLst/>
                  <a:gdLst/>
                  <a:ahLst/>
                  <a:cxnLst>
                    <a:cxn ang="0">
                      <a:pos x="wd2" y="hd2"/>
                    </a:cxn>
                    <a:cxn ang="5400000">
                      <a:pos x="wd2" y="hd2"/>
                    </a:cxn>
                    <a:cxn ang="10800000">
                      <a:pos x="wd2" y="hd2"/>
                    </a:cxn>
                    <a:cxn ang="16200000">
                      <a:pos x="wd2" y="hd2"/>
                    </a:cxn>
                  </a:cxnLst>
                  <a:rect l="0" t="0" r="r" b="b"/>
                  <a:pathLst>
                    <a:path w="21600" h="21600" extrusionOk="0">
                      <a:moveTo>
                        <a:pt x="11706" y="1646"/>
                      </a:moveTo>
                      <a:lnTo>
                        <a:pt x="8506" y="3359"/>
                      </a:lnTo>
                      <a:lnTo>
                        <a:pt x="11870" y="6185"/>
                      </a:lnTo>
                      <a:lnTo>
                        <a:pt x="14695" y="10345"/>
                      </a:lnTo>
                      <a:lnTo>
                        <a:pt x="8309" y="8432"/>
                      </a:lnTo>
                      <a:lnTo>
                        <a:pt x="3822" y="10864"/>
                      </a:lnTo>
                      <a:lnTo>
                        <a:pt x="4782" y="14064"/>
                      </a:lnTo>
                      <a:lnTo>
                        <a:pt x="0" y="19744"/>
                      </a:lnTo>
                      <a:lnTo>
                        <a:pt x="7410" y="21600"/>
                      </a:lnTo>
                      <a:cubicBezTo>
                        <a:pt x="9359" y="21215"/>
                        <a:pt x="11169" y="20720"/>
                        <a:pt x="12788" y="20128"/>
                      </a:cubicBezTo>
                      <a:cubicBezTo>
                        <a:pt x="15690" y="19068"/>
                        <a:pt x="17915" y="17727"/>
                        <a:pt x="19267" y="16224"/>
                      </a:cubicBezTo>
                      <a:cubicBezTo>
                        <a:pt x="19676" y="15596"/>
                        <a:pt x="19985" y="14957"/>
                        <a:pt x="20193" y="14312"/>
                      </a:cubicBezTo>
                      <a:cubicBezTo>
                        <a:pt x="20617" y="12996"/>
                        <a:pt x="20617" y="11661"/>
                        <a:pt x="20193" y="10344"/>
                      </a:cubicBezTo>
                      <a:cubicBezTo>
                        <a:pt x="19639" y="9493"/>
                        <a:pt x="19334" y="8617"/>
                        <a:pt x="19286" y="7736"/>
                      </a:cubicBezTo>
                      <a:cubicBezTo>
                        <a:pt x="19228" y="6678"/>
                        <a:pt x="19540" y="5621"/>
                        <a:pt x="20212" y="4600"/>
                      </a:cubicBezTo>
                      <a:lnTo>
                        <a:pt x="21600" y="2360"/>
                      </a:lnTo>
                      <a:lnTo>
                        <a:pt x="17454" y="0"/>
                      </a:lnTo>
                      <a:lnTo>
                        <a:pt x="11706" y="1646"/>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ïṥ1iḍè"/>
                <p:cNvSpPr/>
                <p:nvPr/>
              </p:nvSpPr>
              <p:spPr>
                <a:xfrm>
                  <a:off x="5797808" y="3225353"/>
                  <a:ext cx="47225" cy="32282"/>
                </a:xfrm>
                <a:custGeom>
                  <a:avLst/>
                  <a:gdLst/>
                  <a:ahLst/>
                  <a:cxnLst>
                    <a:cxn ang="0">
                      <a:pos x="wd2" y="hd2"/>
                    </a:cxn>
                    <a:cxn ang="5400000">
                      <a:pos x="wd2" y="hd2"/>
                    </a:cxn>
                    <a:cxn ang="10800000">
                      <a:pos x="wd2" y="hd2"/>
                    </a:cxn>
                    <a:cxn ang="16200000">
                      <a:pos x="wd2" y="hd2"/>
                    </a:cxn>
                  </a:cxnLst>
                  <a:rect l="0" t="0" r="r" b="b"/>
                  <a:pathLst>
                    <a:path w="21600" h="21290" extrusionOk="0">
                      <a:moveTo>
                        <a:pt x="9770" y="3686"/>
                      </a:moveTo>
                      <a:lnTo>
                        <a:pt x="3715" y="6276"/>
                      </a:lnTo>
                      <a:lnTo>
                        <a:pt x="0" y="16005"/>
                      </a:lnTo>
                      <a:cubicBezTo>
                        <a:pt x="1247" y="19524"/>
                        <a:pt x="3850" y="21600"/>
                        <a:pt x="6580" y="21252"/>
                      </a:cubicBezTo>
                      <a:cubicBezTo>
                        <a:pt x="8984" y="20946"/>
                        <a:pt x="11084" y="18784"/>
                        <a:pt x="12065" y="15605"/>
                      </a:cubicBezTo>
                      <a:lnTo>
                        <a:pt x="17159" y="10520"/>
                      </a:lnTo>
                      <a:lnTo>
                        <a:pt x="21600" y="4871"/>
                      </a:lnTo>
                      <a:lnTo>
                        <a:pt x="19249" y="0"/>
                      </a:lnTo>
                      <a:lnTo>
                        <a:pt x="15510" y="2699"/>
                      </a:lnTo>
                      <a:lnTo>
                        <a:pt x="9770" y="3686"/>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işļíḓe"/>
                <p:cNvSpPr/>
                <p:nvPr/>
              </p:nvSpPr>
              <p:spPr>
                <a:xfrm>
                  <a:off x="6002136" y="3331942"/>
                  <a:ext cx="18945" cy="17035"/>
                </a:xfrm>
                <a:custGeom>
                  <a:avLst/>
                  <a:gdLst/>
                  <a:ahLst/>
                  <a:cxnLst>
                    <a:cxn ang="0">
                      <a:pos x="wd2" y="hd2"/>
                    </a:cxn>
                    <a:cxn ang="5400000">
                      <a:pos x="wd2" y="hd2"/>
                    </a:cxn>
                    <a:cxn ang="10800000">
                      <a:pos x="wd2" y="hd2"/>
                    </a:cxn>
                    <a:cxn ang="16200000">
                      <a:pos x="wd2" y="hd2"/>
                    </a:cxn>
                  </a:cxnLst>
                  <a:rect l="0" t="0" r="r" b="b"/>
                  <a:pathLst>
                    <a:path w="21600" h="21600" extrusionOk="0">
                      <a:moveTo>
                        <a:pt x="8216" y="0"/>
                      </a:moveTo>
                      <a:lnTo>
                        <a:pt x="0" y="11586"/>
                      </a:lnTo>
                      <a:lnTo>
                        <a:pt x="7029" y="21600"/>
                      </a:lnTo>
                      <a:lnTo>
                        <a:pt x="18710" y="21600"/>
                      </a:lnTo>
                      <a:lnTo>
                        <a:pt x="21600" y="9745"/>
                      </a:lnTo>
                      <a:lnTo>
                        <a:pt x="8216"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iṣḷîḓê"/>
                <p:cNvSpPr/>
                <p:nvPr/>
              </p:nvSpPr>
              <p:spPr>
                <a:xfrm>
                  <a:off x="5772652" y="326071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5718" y="0"/>
                      </a:moveTo>
                      <a:lnTo>
                        <a:pt x="0" y="13353"/>
                      </a:lnTo>
                      <a:lnTo>
                        <a:pt x="21600" y="21600"/>
                      </a:lnTo>
                      <a:lnTo>
                        <a:pt x="15718"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íšļîḓê"/>
                <p:cNvSpPr/>
                <p:nvPr/>
              </p:nvSpPr>
              <p:spPr>
                <a:xfrm>
                  <a:off x="6336327" y="3322673"/>
                  <a:ext cx="53421" cy="36410"/>
                </a:xfrm>
                <a:custGeom>
                  <a:avLst/>
                  <a:gdLst/>
                  <a:ahLst/>
                  <a:cxnLst>
                    <a:cxn ang="0">
                      <a:pos x="wd2" y="hd2"/>
                    </a:cxn>
                    <a:cxn ang="5400000">
                      <a:pos x="wd2" y="hd2"/>
                    </a:cxn>
                    <a:cxn ang="10800000">
                      <a:pos x="wd2" y="hd2"/>
                    </a:cxn>
                    <a:cxn ang="16200000">
                      <a:pos x="wd2" y="hd2"/>
                    </a:cxn>
                  </a:cxnLst>
                  <a:rect l="0" t="0" r="r" b="b"/>
                  <a:pathLst>
                    <a:path w="21600" h="21096" extrusionOk="0">
                      <a:moveTo>
                        <a:pt x="16791" y="1649"/>
                      </a:moveTo>
                      <a:lnTo>
                        <a:pt x="11726" y="4110"/>
                      </a:lnTo>
                      <a:lnTo>
                        <a:pt x="3733" y="7282"/>
                      </a:lnTo>
                      <a:lnTo>
                        <a:pt x="0" y="13714"/>
                      </a:lnTo>
                      <a:lnTo>
                        <a:pt x="2485" y="19148"/>
                      </a:lnTo>
                      <a:cubicBezTo>
                        <a:pt x="4278" y="21053"/>
                        <a:pt x="6603" y="21600"/>
                        <a:pt x="8727" y="20616"/>
                      </a:cubicBezTo>
                      <a:cubicBezTo>
                        <a:pt x="10473" y="19807"/>
                        <a:pt x="11919" y="18026"/>
                        <a:pt x="12738" y="15673"/>
                      </a:cubicBezTo>
                      <a:cubicBezTo>
                        <a:pt x="13681" y="13711"/>
                        <a:pt x="14802" y="11938"/>
                        <a:pt x="16072" y="10401"/>
                      </a:cubicBezTo>
                      <a:cubicBezTo>
                        <a:pt x="17334" y="8875"/>
                        <a:pt x="18732" y="7595"/>
                        <a:pt x="20229" y="6596"/>
                      </a:cubicBezTo>
                      <a:lnTo>
                        <a:pt x="21600" y="0"/>
                      </a:lnTo>
                      <a:lnTo>
                        <a:pt x="16791" y="1649"/>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íṥļïdê"/>
                <p:cNvSpPr/>
                <p:nvPr/>
              </p:nvSpPr>
              <p:spPr>
                <a:xfrm>
                  <a:off x="4860234" y="3629485"/>
                  <a:ext cx="242939" cy="753336"/>
                </a:xfrm>
                <a:custGeom>
                  <a:avLst/>
                  <a:gdLst/>
                  <a:ahLst/>
                  <a:cxnLst>
                    <a:cxn ang="0">
                      <a:pos x="wd2" y="hd2"/>
                    </a:cxn>
                    <a:cxn ang="5400000">
                      <a:pos x="wd2" y="hd2"/>
                    </a:cxn>
                    <a:cxn ang="10800000">
                      <a:pos x="wd2" y="hd2"/>
                    </a:cxn>
                    <a:cxn ang="16200000">
                      <a:pos x="wd2" y="hd2"/>
                    </a:cxn>
                  </a:cxnLst>
                  <a:rect l="0" t="0" r="r" b="b"/>
                  <a:pathLst>
                    <a:path w="21206" h="21600" extrusionOk="0">
                      <a:moveTo>
                        <a:pt x="87" y="0"/>
                      </a:moveTo>
                      <a:lnTo>
                        <a:pt x="3105" y="1351"/>
                      </a:lnTo>
                      <a:lnTo>
                        <a:pt x="4941" y="2158"/>
                      </a:lnTo>
                      <a:lnTo>
                        <a:pt x="4813" y="2625"/>
                      </a:lnTo>
                      <a:lnTo>
                        <a:pt x="5430" y="3306"/>
                      </a:lnTo>
                      <a:lnTo>
                        <a:pt x="5374" y="4036"/>
                      </a:lnTo>
                      <a:lnTo>
                        <a:pt x="5264" y="4778"/>
                      </a:lnTo>
                      <a:lnTo>
                        <a:pt x="5322" y="5440"/>
                      </a:lnTo>
                      <a:cubicBezTo>
                        <a:pt x="5337" y="5651"/>
                        <a:pt x="5470" y="5859"/>
                        <a:pt x="5714" y="6054"/>
                      </a:cubicBezTo>
                      <a:cubicBezTo>
                        <a:pt x="5921" y="6219"/>
                        <a:pt x="6204" y="6372"/>
                        <a:pt x="6553" y="6508"/>
                      </a:cubicBezTo>
                      <a:lnTo>
                        <a:pt x="7298" y="6936"/>
                      </a:lnTo>
                      <a:cubicBezTo>
                        <a:pt x="7568" y="7062"/>
                        <a:pt x="7842" y="7187"/>
                        <a:pt x="8121" y="7311"/>
                      </a:cubicBezTo>
                      <a:cubicBezTo>
                        <a:pt x="8309" y="7394"/>
                        <a:pt x="8500" y="7477"/>
                        <a:pt x="8693" y="7560"/>
                      </a:cubicBezTo>
                      <a:lnTo>
                        <a:pt x="9067" y="7873"/>
                      </a:lnTo>
                      <a:lnTo>
                        <a:pt x="9270" y="8148"/>
                      </a:lnTo>
                      <a:lnTo>
                        <a:pt x="9644" y="8473"/>
                      </a:lnTo>
                      <a:lnTo>
                        <a:pt x="10224" y="8718"/>
                      </a:lnTo>
                      <a:lnTo>
                        <a:pt x="10971" y="8927"/>
                      </a:lnTo>
                      <a:lnTo>
                        <a:pt x="11380" y="9116"/>
                      </a:lnTo>
                      <a:lnTo>
                        <a:pt x="12069" y="9367"/>
                      </a:lnTo>
                      <a:lnTo>
                        <a:pt x="13945" y="10058"/>
                      </a:lnTo>
                      <a:lnTo>
                        <a:pt x="14784" y="10450"/>
                      </a:lnTo>
                      <a:lnTo>
                        <a:pt x="15008" y="10910"/>
                      </a:lnTo>
                      <a:lnTo>
                        <a:pt x="15513" y="11253"/>
                      </a:lnTo>
                      <a:lnTo>
                        <a:pt x="16260" y="11824"/>
                      </a:lnTo>
                      <a:lnTo>
                        <a:pt x="17456" y="12180"/>
                      </a:lnTo>
                      <a:lnTo>
                        <a:pt x="18970" y="12628"/>
                      </a:lnTo>
                      <a:lnTo>
                        <a:pt x="19737" y="13032"/>
                      </a:lnTo>
                      <a:lnTo>
                        <a:pt x="20129" y="13566"/>
                      </a:lnTo>
                      <a:cubicBezTo>
                        <a:pt x="20317" y="13735"/>
                        <a:pt x="20393" y="13915"/>
                        <a:pt x="20353" y="14094"/>
                      </a:cubicBezTo>
                      <a:cubicBezTo>
                        <a:pt x="20310" y="14285"/>
                        <a:pt x="20136" y="14470"/>
                        <a:pt x="19905" y="14646"/>
                      </a:cubicBezTo>
                      <a:cubicBezTo>
                        <a:pt x="19688" y="14811"/>
                        <a:pt x="19422" y="14969"/>
                        <a:pt x="19232" y="15137"/>
                      </a:cubicBezTo>
                      <a:cubicBezTo>
                        <a:pt x="19023" y="15322"/>
                        <a:pt x="18910" y="15517"/>
                        <a:pt x="18896" y="15715"/>
                      </a:cubicBezTo>
                      <a:cubicBezTo>
                        <a:pt x="18962" y="15855"/>
                        <a:pt x="18981" y="15997"/>
                        <a:pt x="18952" y="16138"/>
                      </a:cubicBezTo>
                      <a:cubicBezTo>
                        <a:pt x="18917" y="16303"/>
                        <a:pt x="18816" y="16467"/>
                        <a:pt x="18653" y="16623"/>
                      </a:cubicBezTo>
                      <a:lnTo>
                        <a:pt x="18190" y="16819"/>
                      </a:lnTo>
                      <a:lnTo>
                        <a:pt x="18900" y="17310"/>
                      </a:lnTo>
                      <a:lnTo>
                        <a:pt x="19293" y="17665"/>
                      </a:lnTo>
                      <a:lnTo>
                        <a:pt x="19442" y="18088"/>
                      </a:lnTo>
                      <a:lnTo>
                        <a:pt x="19386" y="18425"/>
                      </a:lnTo>
                      <a:lnTo>
                        <a:pt x="20250" y="18935"/>
                      </a:lnTo>
                      <a:lnTo>
                        <a:pt x="20306" y="19338"/>
                      </a:lnTo>
                      <a:lnTo>
                        <a:pt x="20475" y="20172"/>
                      </a:lnTo>
                      <a:lnTo>
                        <a:pt x="21206" y="21600"/>
                      </a:lnTo>
                      <a:cubicBezTo>
                        <a:pt x="13816" y="18492"/>
                        <a:pt x="8189" y="14973"/>
                        <a:pt x="4593" y="11211"/>
                      </a:cubicBezTo>
                      <a:cubicBezTo>
                        <a:pt x="1131" y="7587"/>
                        <a:pt x="-394" y="3794"/>
                        <a:pt x="87" y="0"/>
                      </a:cubicBezTo>
                      <a:close/>
                    </a:path>
                  </a:pathLst>
                </a:custGeom>
                <a:solidFill>
                  <a:srgbClr val="005A8A"/>
                </a:solidFill>
                <a:ln w="12700" cap="flat">
                  <a:noFill/>
                  <a:miter lim="400000"/>
                </a:ln>
                <a:effectLst/>
              </p:spPr>
              <p:txBody>
                <a:bodyPr wrap="square" lIns="91440" tIns="45720" rIns="91440" bIns="45720" anchor="ctr">
                  <a:normAutofit fontScale="8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sp>
        <p:nvSpPr>
          <p:cNvPr id="67" name="矩形 66"/>
          <p:cNvSpPr/>
          <p:nvPr/>
        </p:nvSpPr>
        <p:spPr>
          <a:xfrm>
            <a:off x="698295" y="2348635"/>
            <a:ext cx="2857530" cy="1613968"/>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2D </a:t>
            </a: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定位轨迹</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spcAft>
                <a:spcPts val="600"/>
              </a:spcAft>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生成了符合 </a:t>
            </a:r>
            <a:r>
              <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WGS84 </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坐标系的经纬度轨迹，较完整地复现了测试路段的行驶路径，起点与终点清晰可辨，轨迹平滑且贴合真实道路走向。</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矩形 67"/>
          <p:cNvSpPr/>
          <p:nvPr/>
        </p:nvSpPr>
        <p:spPr>
          <a:xfrm>
            <a:off x="698295" y="4283182"/>
            <a:ext cx="2857530" cy="1336969"/>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航向角变化曲线</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spcAft>
                <a:spcPts val="600"/>
              </a:spcAft>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输出了连续的航向角变化曲线，准确反映了车辆转向、掉头等姿态变化，为路径规划与控制提供了姿态参考。</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矩形 68"/>
          <p:cNvSpPr/>
          <p:nvPr/>
        </p:nvSpPr>
        <p:spPr>
          <a:xfrm>
            <a:off x="8681846" y="2348635"/>
            <a:ext cx="2857530" cy="1336969"/>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行驶速度变化曲线</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600"/>
              </a:spcAft>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输出了动态变化的合速度曲线，符合城市道路行驶测试工况，可用于车辆运动状态分析与驾驶行为评估。</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0" name="矩形 69"/>
          <p:cNvSpPr/>
          <p:nvPr/>
        </p:nvSpPr>
        <p:spPr>
          <a:xfrm>
            <a:off x="8681846" y="4275258"/>
            <a:ext cx="2857530" cy="1336969"/>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海拔高度变化曲线</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600"/>
              </a:spcAft>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输出了海拔高度变化曲线，体现了测试路段的地形起伏，实现了 算法的</a:t>
            </a:r>
            <a:r>
              <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3D </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定位能力。</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pic>
        <p:nvPicPr>
          <p:cNvPr id="2" name="图片 1"/>
          <p:cNvPicPr>
            <a:picLocks noChangeAspect="1"/>
          </p:cNvPicPr>
          <p:nvPr/>
        </p:nvPicPr>
        <p:blipFill>
          <a:blip r:embed="rId6"/>
          <a:stretch>
            <a:fillRect/>
          </a:stretch>
        </p:blipFill>
        <p:spPr>
          <a:xfrm>
            <a:off x="3642424" y="2022218"/>
            <a:ext cx="1997779" cy="1338394"/>
          </a:xfrm>
          <a:prstGeom prst="rect">
            <a:avLst/>
          </a:prstGeom>
        </p:spPr>
      </p:pic>
      <p:pic>
        <p:nvPicPr>
          <p:cNvPr id="7" name="图片 6"/>
          <p:cNvPicPr>
            <a:picLocks noChangeAspect="1"/>
          </p:cNvPicPr>
          <p:nvPr/>
        </p:nvPicPr>
        <p:blipFill>
          <a:blip r:embed="rId7"/>
          <a:stretch>
            <a:fillRect/>
          </a:stretch>
        </p:blipFill>
        <p:spPr>
          <a:xfrm>
            <a:off x="6444052" y="2020683"/>
            <a:ext cx="2181854" cy="1341465"/>
          </a:xfrm>
          <a:prstGeom prst="rect">
            <a:avLst/>
          </a:prstGeom>
        </p:spPr>
      </p:pic>
      <p:pic>
        <p:nvPicPr>
          <p:cNvPr id="8" name="图片 7"/>
          <p:cNvPicPr>
            <a:picLocks noChangeAspect="1"/>
          </p:cNvPicPr>
          <p:nvPr/>
        </p:nvPicPr>
        <p:blipFill>
          <a:blip r:embed="rId8"/>
          <a:stretch>
            <a:fillRect/>
          </a:stretch>
        </p:blipFill>
        <p:spPr>
          <a:xfrm>
            <a:off x="3591004" y="4176479"/>
            <a:ext cx="1997779" cy="1268859"/>
          </a:xfrm>
          <a:prstGeom prst="rect">
            <a:avLst/>
          </a:prstGeom>
        </p:spPr>
      </p:pic>
      <p:pic>
        <p:nvPicPr>
          <p:cNvPr id="9" name="图片 8"/>
          <p:cNvPicPr>
            <a:picLocks noChangeAspect="1"/>
          </p:cNvPicPr>
          <p:nvPr/>
        </p:nvPicPr>
        <p:blipFill>
          <a:blip r:embed="rId9"/>
          <a:stretch>
            <a:fillRect/>
          </a:stretch>
        </p:blipFill>
        <p:spPr>
          <a:xfrm>
            <a:off x="6585638" y="4176479"/>
            <a:ext cx="2015360" cy="127690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circle(in)">
                                      <p:cBhvr>
                                        <p:cTn id="10" dur="1000"/>
                                        <p:tgtEl>
                                          <p:spTgt spid="67"/>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ircle(in)">
                                      <p:cBhvr>
                                        <p:cTn id="15" dur="1000"/>
                                        <p:tgtEl>
                                          <p:spTgt spid="7"/>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69"/>
                                        </p:tgtEl>
                                        <p:attrNameLst>
                                          <p:attrName>style.visibility</p:attrName>
                                        </p:attrNameLst>
                                      </p:cBhvr>
                                      <p:to>
                                        <p:strVal val="visible"/>
                                      </p:to>
                                    </p:set>
                                    <p:animEffect transition="in" filter="circle(in)">
                                      <p:cBhvr>
                                        <p:cTn id="18" dur="1000"/>
                                        <p:tgtEl>
                                          <p:spTgt spid="69"/>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in)">
                                      <p:cBhvr>
                                        <p:cTn id="23" dur="1000"/>
                                        <p:tgtEl>
                                          <p:spTgt spid="8"/>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circle(in)">
                                      <p:cBhvr>
                                        <p:cTn id="26" dur="1000"/>
                                        <p:tgtEl>
                                          <p:spTgt spid="68"/>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circle(in)">
                                      <p:cBhvr>
                                        <p:cTn id="31" dur="1000"/>
                                        <p:tgtEl>
                                          <p:spTgt spid="9"/>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circle(in)">
                                      <p:cBhvr>
                                        <p:cTn id="34"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1102305" y="3551288"/>
            <a:ext cx="4925684"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02305" y="5468312"/>
            <a:ext cx="36900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8" name="任意多边形: 形状 17"/>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p:cNvSpPr/>
          <p:nvPr/>
        </p:nvSpPr>
        <p:spPr>
          <a:xfrm>
            <a:off x="1348840" y="657873"/>
            <a:ext cx="2771913"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轨迹对比模块</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p:cNvSpPr/>
          <p:nvPr/>
        </p:nvSpPr>
        <p:spPr>
          <a:xfrm>
            <a:off x="1050172" y="2003976"/>
            <a:ext cx="4910055" cy="1444691"/>
          </a:xfrm>
          <a:prstGeom prst="rect">
            <a:avLst/>
          </a:prstGeom>
        </p:spPr>
        <p:txBody>
          <a:bodyPr wrap="square">
            <a:spAutoFit/>
          </a:bodyPr>
          <a:lstStyle/>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本项目创新性地将大模型引入多传感器融合定位框架，针对 </a:t>
            </a:r>
            <a:r>
              <a:rPr lang="en-US" altLang="zh-CN"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GNSS </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信号失效</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的复杂城市场景开展了对比验证，分析结果可得：</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在 </a:t>
            </a:r>
            <a:r>
              <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GNSS </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失效段，无大模型辅助的定位轨迹（红色曲线）与真实行驶轨迹（绿色曲线）出现</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明显偏离</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，误差持续累积；而引入大模型辅助后，定位轨迹（蓝色曲线）</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高度贴合</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真实轨迹，能够精准复现车辆行驶路径。</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1050172" y="3644317"/>
            <a:ext cx="4925833" cy="1721690"/>
          </a:xfrm>
          <a:prstGeom prst="rect">
            <a:avLst/>
          </a:prstGeom>
        </p:spPr>
        <p:txBody>
          <a:bodyPr wrap="square">
            <a:spAutoFit/>
          </a:bodyPr>
          <a:lstStyle/>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可见，大模型通过对</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场景语义信息</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的理解与</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先验知识</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的引入，为融合算法提供了</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额外约束</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，有效弥补了单一传感器失效时的定位漂移问题，使得在 </a:t>
            </a:r>
            <a:r>
              <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GNSS </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完全失效的极端工况下，系统仍能维持高精度、连续的定位输出，</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定位误差得到有效抑制</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，大幅提升了复杂环境下定位系统的连续性与鲁棒性，验证了大模型辅助多传感器融合在自动驾驶定位场景下的可行性与优越性。</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 name="图片 1"/>
          <p:cNvPicPr>
            <a:picLocks noChangeAspect="1"/>
          </p:cNvPicPr>
          <p:nvPr/>
        </p:nvPicPr>
        <p:blipFill>
          <a:blip r:embed="rId4"/>
          <a:stretch>
            <a:fillRect/>
          </a:stretch>
        </p:blipFill>
        <p:spPr>
          <a:xfrm>
            <a:off x="6444158" y="2181529"/>
            <a:ext cx="4432561" cy="3184478"/>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ircle(in)">
                                      <p:cBhvr>
                                        <p:cTn id="12" dur="1000"/>
                                        <p:tgtEl>
                                          <p:spTgt spid="21"/>
                                        </p:tgtEl>
                                      </p:cBhvr>
                                    </p:animEffect>
                                  </p:childTnLst>
                                </p:cTn>
                              </p:par>
                              <p:par>
                                <p:cTn id="13" presetID="6" presetClass="entr" presetSubtype="16"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in)">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circle(in)">
                                      <p:cBhvr>
                                        <p:cTn id="20" dur="1000"/>
                                        <p:tgtEl>
                                          <p:spTgt spid="24"/>
                                        </p:tgtEl>
                                      </p:cBhvr>
                                    </p:animEffect>
                                  </p:childTnLst>
                                </p:cTn>
                              </p:par>
                              <p:par>
                                <p:cTn id="21" presetID="6" presetClass="entr" presetSubtype="16"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in)">
                                      <p:cBhvr>
                                        <p:cTn id="2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3868860" cy="645160"/>
          </a:xfrm>
          <a:prstGeom prst="rect">
            <a:avLst/>
          </a:prstGeom>
        </p:spPr>
        <p:txBody>
          <a:bodyPr wrap="square">
            <a:spAutoFit/>
          </a:bodyPr>
          <a:lstStyle/>
          <a:p>
            <a:pPr lvl="0" algn="ct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4.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项目总结</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矩形 79"/>
          <p:cNvSpPr>
            <a:spLocks noChangeArrowheads="1"/>
          </p:cNvSpPr>
          <p:nvPr/>
        </p:nvSpPr>
        <p:spPr bwMode="auto">
          <a:xfrm>
            <a:off x="1196072" y="1974950"/>
            <a:ext cx="2514528" cy="3762586"/>
          </a:xfrm>
          <a:prstGeom prst="rect">
            <a:avLst/>
          </a:prstGeom>
          <a:solidFill>
            <a:schemeClr val="bg1"/>
          </a:solidFill>
          <a:ln w="12700" cap="flat" cmpd="sng">
            <a:solidFill>
              <a:srgbClr val="005A8A"/>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2" name="矩形 82"/>
          <p:cNvSpPr>
            <a:spLocks noChangeArrowheads="1"/>
          </p:cNvSpPr>
          <p:nvPr/>
        </p:nvSpPr>
        <p:spPr bwMode="auto">
          <a:xfrm>
            <a:off x="1196072" y="1974949"/>
            <a:ext cx="2514528" cy="617751"/>
          </a:xfrm>
          <a:prstGeom prst="rect">
            <a:avLst/>
          </a:prstGeom>
          <a:solidFill>
            <a:srgbClr val="005A8A"/>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3" name="矩形 85"/>
          <p:cNvSpPr>
            <a:spLocks noChangeArrowheads="1"/>
          </p:cNvSpPr>
          <p:nvPr/>
        </p:nvSpPr>
        <p:spPr bwMode="auto">
          <a:xfrm>
            <a:off x="1209480" y="2080700"/>
            <a:ext cx="25145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sz="1600"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掌握大模型部署应用能力</a:t>
            </a:r>
            <a:endParaRPr lang="en-US" altLang="zh-CN" sz="1600"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4" name="矩形 88"/>
          <p:cNvSpPr>
            <a:spLocks noChangeArrowheads="1"/>
          </p:cNvSpPr>
          <p:nvPr/>
        </p:nvSpPr>
        <p:spPr bwMode="auto">
          <a:xfrm>
            <a:off x="1327513" y="2829520"/>
            <a:ext cx="2251645" cy="199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成功在本地部署</a:t>
            </a:r>
            <a:r>
              <a:rPr lang="en-US" altLang="zh-CN"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Qwen3-VL</a:t>
            </a: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视觉语言模型，掌握</a:t>
            </a:r>
            <a:r>
              <a:rPr lang="en-US" altLang="zh-CN"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Docker</a:t>
            </a: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容器化配置、提示词优化与语义信息数字化输出的完整流程，实现了驾驶环境图像的智能理解。</a:t>
            </a:r>
          </a:p>
        </p:txBody>
      </p:sp>
      <p:grpSp>
        <p:nvGrpSpPr>
          <p:cNvPr id="23565" name="Group 13"/>
          <p:cNvGrpSpPr/>
          <p:nvPr/>
        </p:nvGrpSpPr>
        <p:grpSpPr bwMode="auto">
          <a:xfrm>
            <a:off x="2078124" y="5370469"/>
            <a:ext cx="777240" cy="777600"/>
            <a:chOff x="0" y="0"/>
            <a:chExt cx="648000" cy="648000"/>
          </a:xfrm>
          <a:solidFill>
            <a:srgbClr val="005A8A"/>
          </a:solidFill>
        </p:grpSpPr>
        <p:sp>
          <p:nvSpPr>
            <p:cNvPr id="23566" name="矩形 10"/>
            <p:cNvSpPr>
              <a:spLocks noChangeArrowheads="1"/>
            </p:cNvSpPr>
            <p:nvPr/>
          </p:nvSpPr>
          <p:spPr bwMode="auto">
            <a:xfrm>
              <a:off x="0" y="0"/>
              <a:ext cx="648000" cy="648000"/>
            </a:xfrm>
            <a:prstGeom prst="rect">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67" name="Picture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51" y="105875"/>
              <a:ext cx="434849" cy="45023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6" name="任意多边形: 形状 2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541" y="569481"/>
            <a:ext cx="618131" cy="618131"/>
          </a:xfrm>
          <a:prstGeom prst="rect">
            <a:avLst/>
          </a:prstGeom>
        </p:spPr>
      </p:pic>
      <p:sp>
        <p:nvSpPr>
          <p:cNvPr id="28" name="矩形 27"/>
          <p:cNvSpPr/>
          <p:nvPr/>
        </p:nvSpPr>
        <p:spPr>
          <a:xfrm>
            <a:off x="1663800" y="657873"/>
            <a:ext cx="2064989"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4.1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项目收获</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79"/>
          <p:cNvSpPr>
            <a:spLocks noChangeArrowheads="1"/>
          </p:cNvSpPr>
          <p:nvPr/>
        </p:nvSpPr>
        <p:spPr bwMode="auto">
          <a:xfrm>
            <a:off x="4894312" y="1974950"/>
            <a:ext cx="2514528" cy="3762586"/>
          </a:xfrm>
          <a:prstGeom prst="rect">
            <a:avLst/>
          </a:prstGeom>
          <a:solidFill>
            <a:schemeClr val="bg1"/>
          </a:solidFill>
          <a:ln w="12700" cap="flat" cmpd="sng">
            <a:solidFill>
              <a:srgbClr val="005A8A"/>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82"/>
          <p:cNvSpPr>
            <a:spLocks noChangeArrowheads="1"/>
          </p:cNvSpPr>
          <p:nvPr/>
        </p:nvSpPr>
        <p:spPr bwMode="auto">
          <a:xfrm>
            <a:off x="4894312" y="1974949"/>
            <a:ext cx="2514528" cy="617751"/>
          </a:xfrm>
          <a:prstGeom prst="rect">
            <a:avLst/>
          </a:prstGeom>
          <a:solidFill>
            <a:srgbClr val="005A8A"/>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85"/>
          <p:cNvSpPr>
            <a:spLocks noChangeArrowheads="1"/>
          </p:cNvSpPr>
          <p:nvPr/>
        </p:nvSpPr>
        <p:spPr bwMode="auto">
          <a:xfrm>
            <a:off x="4804227" y="2080700"/>
            <a:ext cx="26946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096645"/>
            <a:r>
              <a:rPr lang="zh-CN" altLang="en-US" sz="1600"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实现多传感器融合定位算法 </a:t>
            </a:r>
            <a:endParaRPr lang="en-US" altLang="zh-CN" sz="1600"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矩形 88"/>
          <p:cNvSpPr>
            <a:spLocks noChangeArrowheads="1"/>
          </p:cNvSpPr>
          <p:nvPr/>
        </p:nvSpPr>
        <p:spPr bwMode="auto">
          <a:xfrm>
            <a:off x="5025753" y="2829520"/>
            <a:ext cx="2260139" cy="199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1096645">
              <a:lnSpc>
                <a:spcPct val="150000"/>
              </a:lnSpc>
            </a:pP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复现并优化了基于卡尔曼滤波的 </a:t>
            </a:r>
            <a:r>
              <a:rPr lang="en-US" altLang="zh-CN"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IMU / GNSS / Camera </a:t>
            </a: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融合定位算法，具备多传感器时空同步、自适应权重调整、结果可视化等工程实现能力。</a:t>
            </a:r>
            <a:endParaRPr lang="zh-CN" altLang="en-US" sz="2000"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10"/>
          <p:cNvSpPr>
            <a:spLocks noChangeArrowheads="1"/>
          </p:cNvSpPr>
          <p:nvPr/>
        </p:nvSpPr>
        <p:spPr bwMode="auto">
          <a:xfrm>
            <a:off x="5776364" y="5370469"/>
            <a:ext cx="777240" cy="777600"/>
          </a:xfrm>
          <a:prstGeom prst="rect">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79"/>
          <p:cNvSpPr>
            <a:spLocks noChangeArrowheads="1"/>
          </p:cNvSpPr>
          <p:nvPr/>
        </p:nvSpPr>
        <p:spPr bwMode="auto">
          <a:xfrm>
            <a:off x="8619368" y="1974950"/>
            <a:ext cx="2514528" cy="3762586"/>
          </a:xfrm>
          <a:prstGeom prst="rect">
            <a:avLst/>
          </a:prstGeom>
          <a:solidFill>
            <a:schemeClr val="bg1"/>
          </a:solidFill>
          <a:ln w="12700" cap="flat" cmpd="sng">
            <a:solidFill>
              <a:srgbClr val="005A8A"/>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82"/>
          <p:cNvSpPr>
            <a:spLocks noChangeArrowheads="1"/>
          </p:cNvSpPr>
          <p:nvPr/>
        </p:nvSpPr>
        <p:spPr bwMode="auto">
          <a:xfrm>
            <a:off x="8619368" y="1974949"/>
            <a:ext cx="2514528" cy="617751"/>
          </a:xfrm>
          <a:prstGeom prst="rect">
            <a:avLst/>
          </a:prstGeom>
          <a:solidFill>
            <a:srgbClr val="005A8A"/>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85"/>
          <p:cNvSpPr>
            <a:spLocks noChangeArrowheads="1"/>
          </p:cNvSpPr>
          <p:nvPr/>
        </p:nvSpPr>
        <p:spPr bwMode="auto">
          <a:xfrm>
            <a:off x="8632776" y="2080700"/>
            <a:ext cx="25145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sz="1600"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构建创新技术链路</a:t>
            </a:r>
          </a:p>
        </p:txBody>
      </p:sp>
      <p:sp>
        <p:nvSpPr>
          <p:cNvPr id="41" name="矩形 88"/>
          <p:cNvSpPr>
            <a:spLocks noChangeArrowheads="1"/>
          </p:cNvSpPr>
          <p:nvPr/>
        </p:nvSpPr>
        <p:spPr bwMode="auto">
          <a:xfrm>
            <a:off x="8750809" y="2829520"/>
            <a:ext cx="2251645" cy="2639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将大模型语义理解引入传感器融合环节，构建了“环境感知</a:t>
            </a:r>
            <a:r>
              <a:rPr lang="en-US" altLang="zh-CN"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信号预测</a:t>
            </a:r>
            <a:r>
              <a:rPr lang="en-US" altLang="zh-CN"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4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权重优化”的技术链路，实现了基于环境动态调整融合权重的机制，在复杂场景下显著提升了定位鲁棒性。</a:t>
            </a:r>
            <a:endParaRPr lang="zh-CN" altLang="en-US" sz="2000"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0" name="Picture 7" descr="\\MAGNUM\Projects\Microsoft\Cloud Power FY12\Design\Icons\PNGs\Pooled.png"/>
          <p:cNvPicPr>
            <a:picLocks noChangeAspect="1" noChangeArrowheads="1"/>
          </p:cNvPicPr>
          <p:nvPr/>
        </p:nvPicPr>
        <p:blipFill>
          <a:blip r:embed="rId5" cstate="print">
            <a:lum bright="100000"/>
            <a:extLst>
              <a:ext uri="{28A0092B-C50C-407E-A947-70E740481C1C}">
                <a14:useLocalDpi xmlns:a14="http://schemas.microsoft.com/office/drawing/2010/main" val="0"/>
              </a:ext>
            </a:extLst>
          </a:blip>
          <a:srcRect/>
          <a:stretch>
            <a:fillRect/>
          </a:stretch>
        </p:blipFill>
        <p:spPr bwMode="auto">
          <a:xfrm>
            <a:off x="5789590" y="5387098"/>
            <a:ext cx="781050" cy="752194"/>
          </a:xfrm>
          <a:prstGeom prst="rect">
            <a:avLst/>
          </a:prstGeom>
          <a:solidFill>
            <a:srgbClr val="005A8A"/>
          </a:solidFill>
          <a:ln>
            <a:solidFill>
              <a:srgbClr val="005A8A"/>
            </a:solidFill>
          </a:ln>
        </p:spPr>
      </p:pic>
      <p:sp>
        <p:nvSpPr>
          <p:cNvPr id="43" name="矩形 10"/>
          <p:cNvSpPr>
            <a:spLocks noChangeArrowheads="1"/>
          </p:cNvSpPr>
          <p:nvPr/>
        </p:nvSpPr>
        <p:spPr bwMode="auto">
          <a:xfrm>
            <a:off x="9552600" y="5370469"/>
            <a:ext cx="777240" cy="777600"/>
          </a:xfrm>
          <a:prstGeom prst="rect">
            <a:avLst/>
          </a:prstGeom>
          <a:solidFill>
            <a:srgbClr val="005A8A"/>
          </a:solidFill>
          <a:ln>
            <a:solidFill>
              <a:srgbClr val="911F22"/>
            </a:solid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3" name="Picture 2" descr="C:\Users\kelleyc\Desktop\untitled3.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683817" y="5520563"/>
            <a:ext cx="514806" cy="51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3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3563"/>
                                        </p:tgtEl>
                                        <p:attrNameLst>
                                          <p:attrName>style.visibility</p:attrName>
                                        </p:attrNameLst>
                                      </p:cBhvr>
                                      <p:to>
                                        <p:strVal val="visible"/>
                                      </p:to>
                                    </p:set>
                                    <p:animEffect transition="in" filter="circle(in)">
                                      <p:cBhvr>
                                        <p:cTn id="7" dur="1000"/>
                                        <p:tgtEl>
                                          <p:spTgt spid="2356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3564"/>
                                        </p:tgtEl>
                                        <p:attrNameLst>
                                          <p:attrName>style.visibility</p:attrName>
                                        </p:attrNameLst>
                                      </p:cBhvr>
                                      <p:to>
                                        <p:strVal val="visible"/>
                                      </p:to>
                                    </p:set>
                                    <p:animEffect transition="in" filter="circle(in)">
                                      <p:cBhvr>
                                        <p:cTn id="12" dur="1000"/>
                                        <p:tgtEl>
                                          <p:spTgt spid="2356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circle(in)">
                                      <p:cBhvr>
                                        <p:cTn id="17" dur="10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circle(in)">
                                      <p:cBhvr>
                                        <p:cTn id="22" dur="10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circle(in)">
                                      <p:cBhvr>
                                        <p:cTn id="27" dur="10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circle(in)">
                                      <p:cBhvr>
                                        <p:cTn id="32"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3" grpId="0"/>
      <p:bldP spid="23564" grpId="0"/>
      <p:bldP spid="32" grpId="0"/>
      <p:bldP spid="33" grpId="0"/>
      <p:bldP spid="40" grpId="0"/>
      <p:bldP spid="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18307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649576" y="1125538"/>
            <a:ext cx="4893118" cy="5018087"/>
            <a:chOff x="3649576" y="1125538"/>
            <a:chExt cx="4893118" cy="5018087"/>
          </a:xfrm>
        </p:grpSpPr>
        <p:sp>
          <p:nvSpPr>
            <p:cNvPr id="4" name="ïS1ïḋê"/>
            <p:cNvSpPr/>
            <p:nvPr/>
          </p:nvSpPr>
          <p:spPr bwMode="auto">
            <a:xfrm>
              <a:off x="3649576" y="2025357"/>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rgbClr val="005A8A"/>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iş1îḋé" title="MJ8JxobmQhO5YsZmEcy6DZVp0AZTfE39zvT5PAyas4bMl"/>
            <p:cNvGrpSpPr/>
            <p:nvPr/>
          </p:nvGrpSpPr>
          <p:grpSpPr>
            <a:xfrm>
              <a:off x="3825940" y="3633325"/>
              <a:ext cx="549546" cy="549542"/>
              <a:chOff x="2406923" y="2845390"/>
              <a:chExt cx="571222" cy="571221"/>
            </a:xfrm>
          </p:grpSpPr>
          <p:sp>
            <p:nvSpPr>
              <p:cNvPr id="14" name="îṥliḑe"/>
              <p:cNvSpPr/>
              <p:nvPr/>
            </p:nvSpPr>
            <p:spPr>
              <a:xfrm>
                <a:off x="2406923" y="2845390"/>
                <a:ext cx="571222" cy="571221"/>
              </a:xfrm>
              <a:prstGeom prst="ellipse">
                <a:avLst/>
              </a:prstGeom>
              <a:solidFill>
                <a:srgbClr val="005A8A"/>
              </a:solidFill>
              <a:ln w="38100">
                <a:noFill/>
              </a:ln>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algn="ctr"/>
                <a:endParaRPr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iŝliďé" title="ry6MHxwOH8WsTKLSa514qPVJnvhhWFnRDjZGIbRZNsFBp"/>
              <p:cNvSpPr/>
              <p:nvPr/>
            </p:nvSpPr>
            <p:spPr bwMode="auto">
              <a:xfrm>
                <a:off x="2540113" y="3023891"/>
                <a:ext cx="304842" cy="214214"/>
              </a:xfrm>
              <a:custGeom>
                <a:avLst/>
                <a:gdLst>
                  <a:gd name="connsiteX0" fmla="*/ 450100 w 607639"/>
                  <a:gd name="connsiteY0" fmla="*/ 313203 h 426991"/>
                  <a:gd name="connsiteX1" fmla="*/ 450100 w 607639"/>
                  <a:gd name="connsiteY1" fmla="*/ 403167 h 426991"/>
                  <a:gd name="connsiteX2" fmla="*/ 585744 w 607639"/>
                  <a:gd name="connsiteY2" fmla="*/ 403167 h 426991"/>
                  <a:gd name="connsiteX3" fmla="*/ 586100 w 607639"/>
                  <a:gd name="connsiteY3" fmla="*/ 313203 h 426991"/>
                  <a:gd name="connsiteX4" fmla="*/ 530294 w 607639"/>
                  <a:gd name="connsiteY4" fmla="*/ 313203 h 426991"/>
                  <a:gd name="connsiteX5" fmla="*/ 530116 w 607639"/>
                  <a:gd name="connsiteY5" fmla="*/ 313203 h 426991"/>
                  <a:gd name="connsiteX6" fmla="*/ 529760 w 607639"/>
                  <a:gd name="connsiteY6" fmla="*/ 313203 h 426991"/>
                  <a:gd name="connsiteX7" fmla="*/ 450901 w 607639"/>
                  <a:gd name="connsiteY7" fmla="*/ 313203 h 426991"/>
                  <a:gd name="connsiteX8" fmla="*/ 236309 w 607639"/>
                  <a:gd name="connsiteY8" fmla="*/ 313203 h 426991"/>
                  <a:gd name="connsiteX9" fmla="*/ 236309 w 607639"/>
                  <a:gd name="connsiteY9" fmla="*/ 403167 h 426991"/>
                  <a:gd name="connsiteX10" fmla="*/ 371953 w 607639"/>
                  <a:gd name="connsiteY10" fmla="*/ 403167 h 426991"/>
                  <a:gd name="connsiteX11" fmla="*/ 372754 w 607639"/>
                  <a:gd name="connsiteY11" fmla="*/ 313203 h 426991"/>
                  <a:gd name="connsiteX12" fmla="*/ 237110 w 607639"/>
                  <a:gd name="connsiteY12" fmla="*/ 313203 h 426991"/>
                  <a:gd name="connsiteX13" fmla="*/ 22519 w 607639"/>
                  <a:gd name="connsiteY13" fmla="*/ 313203 h 426991"/>
                  <a:gd name="connsiteX14" fmla="*/ 22519 w 607639"/>
                  <a:gd name="connsiteY14" fmla="*/ 403167 h 426991"/>
                  <a:gd name="connsiteX15" fmla="*/ 158163 w 607639"/>
                  <a:gd name="connsiteY15" fmla="*/ 403167 h 426991"/>
                  <a:gd name="connsiteX16" fmla="*/ 158964 w 607639"/>
                  <a:gd name="connsiteY16" fmla="*/ 313203 h 426991"/>
                  <a:gd name="connsiteX17" fmla="*/ 91498 w 607639"/>
                  <a:gd name="connsiteY17" fmla="*/ 313203 h 426991"/>
                  <a:gd name="connsiteX18" fmla="*/ 91231 w 607639"/>
                  <a:gd name="connsiteY18" fmla="*/ 313203 h 426991"/>
                  <a:gd name="connsiteX19" fmla="*/ 90964 w 607639"/>
                  <a:gd name="connsiteY19" fmla="*/ 313203 h 426991"/>
                  <a:gd name="connsiteX20" fmla="*/ 23320 w 607639"/>
                  <a:gd name="connsiteY20" fmla="*/ 313203 h 426991"/>
                  <a:gd name="connsiteX21" fmla="*/ 91409 w 607639"/>
                  <a:gd name="connsiteY21" fmla="*/ 224751 h 426991"/>
                  <a:gd name="connsiteX22" fmla="*/ 530294 w 607639"/>
                  <a:gd name="connsiteY22" fmla="*/ 224751 h 426991"/>
                  <a:gd name="connsiteX23" fmla="*/ 540084 w 607639"/>
                  <a:gd name="connsiteY23" fmla="*/ 234530 h 426991"/>
                  <a:gd name="connsiteX24" fmla="*/ 540084 w 607639"/>
                  <a:gd name="connsiteY24" fmla="*/ 292135 h 426991"/>
                  <a:gd name="connsiteX25" fmla="*/ 586456 w 607639"/>
                  <a:gd name="connsiteY25" fmla="*/ 292135 h 426991"/>
                  <a:gd name="connsiteX26" fmla="*/ 607639 w 607639"/>
                  <a:gd name="connsiteY26" fmla="*/ 313203 h 426991"/>
                  <a:gd name="connsiteX27" fmla="*/ 607639 w 607639"/>
                  <a:gd name="connsiteY27" fmla="*/ 403167 h 426991"/>
                  <a:gd name="connsiteX28" fmla="*/ 586456 w 607639"/>
                  <a:gd name="connsiteY28" fmla="*/ 426991 h 426991"/>
                  <a:gd name="connsiteX29" fmla="*/ 451524 w 607639"/>
                  <a:gd name="connsiteY29" fmla="*/ 426991 h 426991"/>
                  <a:gd name="connsiteX30" fmla="*/ 427582 w 607639"/>
                  <a:gd name="connsiteY30" fmla="*/ 403167 h 426991"/>
                  <a:gd name="connsiteX31" fmla="*/ 427582 w 607639"/>
                  <a:gd name="connsiteY31" fmla="*/ 313203 h 426991"/>
                  <a:gd name="connsiteX32" fmla="*/ 451524 w 607639"/>
                  <a:gd name="connsiteY32" fmla="*/ 292135 h 426991"/>
                  <a:gd name="connsiteX33" fmla="*/ 517566 w 607639"/>
                  <a:gd name="connsiteY33" fmla="*/ 292135 h 426991"/>
                  <a:gd name="connsiteX34" fmla="*/ 517566 w 607639"/>
                  <a:gd name="connsiteY34" fmla="*/ 247242 h 426991"/>
                  <a:gd name="connsiteX35" fmla="*/ 315079 w 607639"/>
                  <a:gd name="connsiteY35" fmla="*/ 247242 h 426991"/>
                  <a:gd name="connsiteX36" fmla="*/ 315079 w 607639"/>
                  <a:gd name="connsiteY36" fmla="*/ 292135 h 426991"/>
                  <a:gd name="connsiteX37" fmla="*/ 372665 w 607639"/>
                  <a:gd name="connsiteY37" fmla="*/ 292135 h 426991"/>
                  <a:gd name="connsiteX38" fmla="*/ 393849 w 607639"/>
                  <a:gd name="connsiteY38" fmla="*/ 313203 h 426991"/>
                  <a:gd name="connsiteX39" fmla="*/ 393849 w 607639"/>
                  <a:gd name="connsiteY39" fmla="*/ 403167 h 426991"/>
                  <a:gd name="connsiteX40" fmla="*/ 372665 w 607639"/>
                  <a:gd name="connsiteY40" fmla="*/ 426991 h 426991"/>
                  <a:gd name="connsiteX41" fmla="*/ 237733 w 607639"/>
                  <a:gd name="connsiteY41" fmla="*/ 426991 h 426991"/>
                  <a:gd name="connsiteX42" fmla="*/ 213791 w 607639"/>
                  <a:gd name="connsiteY42" fmla="*/ 403167 h 426991"/>
                  <a:gd name="connsiteX43" fmla="*/ 213791 w 607639"/>
                  <a:gd name="connsiteY43" fmla="*/ 313203 h 426991"/>
                  <a:gd name="connsiteX44" fmla="*/ 237733 w 607639"/>
                  <a:gd name="connsiteY44" fmla="*/ 292135 h 426991"/>
                  <a:gd name="connsiteX45" fmla="*/ 292561 w 607639"/>
                  <a:gd name="connsiteY45" fmla="*/ 292135 h 426991"/>
                  <a:gd name="connsiteX46" fmla="*/ 292561 w 607639"/>
                  <a:gd name="connsiteY46" fmla="*/ 247242 h 426991"/>
                  <a:gd name="connsiteX47" fmla="*/ 101288 w 607639"/>
                  <a:gd name="connsiteY47" fmla="*/ 247242 h 426991"/>
                  <a:gd name="connsiteX48" fmla="*/ 101288 w 607639"/>
                  <a:gd name="connsiteY48" fmla="*/ 292135 h 426991"/>
                  <a:gd name="connsiteX49" fmla="*/ 158875 w 607639"/>
                  <a:gd name="connsiteY49" fmla="*/ 292135 h 426991"/>
                  <a:gd name="connsiteX50" fmla="*/ 180058 w 607639"/>
                  <a:gd name="connsiteY50" fmla="*/ 313203 h 426991"/>
                  <a:gd name="connsiteX51" fmla="*/ 180058 w 607639"/>
                  <a:gd name="connsiteY51" fmla="*/ 403167 h 426991"/>
                  <a:gd name="connsiteX52" fmla="*/ 158875 w 607639"/>
                  <a:gd name="connsiteY52" fmla="*/ 426991 h 426991"/>
                  <a:gd name="connsiteX53" fmla="*/ 24032 w 607639"/>
                  <a:gd name="connsiteY53" fmla="*/ 426991 h 426991"/>
                  <a:gd name="connsiteX54" fmla="*/ 0 w 607639"/>
                  <a:gd name="connsiteY54" fmla="*/ 403167 h 426991"/>
                  <a:gd name="connsiteX55" fmla="*/ 0 w 607639"/>
                  <a:gd name="connsiteY55" fmla="*/ 313203 h 426991"/>
                  <a:gd name="connsiteX56" fmla="*/ 24032 w 607639"/>
                  <a:gd name="connsiteY56" fmla="*/ 292135 h 426991"/>
                  <a:gd name="connsiteX57" fmla="*/ 78770 w 607639"/>
                  <a:gd name="connsiteY57" fmla="*/ 292135 h 426991"/>
                  <a:gd name="connsiteX58" fmla="*/ 78770 w 607639"/>
                  <a:gd name="connsiteY58" fmla="*/ 234530 h 426991"/>
                  <a:gd name="connsiteX59" fmla="*/ 91409 w 607639"/>
                  <a:gd name="connsiteY59" fmla="*/ 224751 h 426991"/>
                  <a:gd name="connsiteX60" fmla="*/ 236326 w 607639"/>
                  <a:gd name="connsiteY60" fmla="*/ 21066 h 426991"/>
                  <a:gd name="connsiteX61" fmla="*/ 236326 w 607639"/>
                  <a:gd name="connsiteY61" fmla="*/ 111021 h 426991"/>
                  <a:gd name="connsiteX62" fmla="*/ 371758 w 607639"/>
                  <a:gd name="connsiteY62" fmla="*/ 111021 h 426991"/>
                  <a:gd name="connsiteX63" fmla="*/ 372380 w 607639"/>
                  <a:gd name="connsiteY63" fmla="*/ 21066 h 426991"/>
                  <a:gd name="connsiteX64" fmla="*/ 237127 w 607639"/>
                  <a:gd name="connsiteY64" fmla="*/ 21066 h 426991"/>
                  <a:gd name="connsiteX65" fmla="*/ 237750 w 607639"/>
                  <a:gd name="connsiteY65" fmla="*/ 0 h 426991"/>
                  <a:gd name="connsiteX66" fmla="*/ 372647 w 607639"/>
                  <a:gd name="connsiteY66" fmla="*/ 0 h 426991"/>
                  <a:gd name="connsiteX67" fmla="*/ 393825 w 607639"/>
                  <a:gd name="connsiteY67" fmla="*/ 21066 h 426991"/>
                  <a:gd name="connsiteX68" fmla="*/ 393825 w 607639"/>
                  <a:gd name="connsiteY68" fmla="*/ 111021 h 426991"/>
                  <a:gd name="connsiteX69" fmla="*/ 372647 w 607639"/>
                  <a:gd name="connsiteY69" fmla="*/ 134843 h 426991"/>
                  <a:gd name="connsiteX70" fmla="*/ 315076 w 607639"/>
                  <a:gd name="connsiteY70" fmla="*/ 134843 h 426991"/>
                  <a:gd name="connsiteX71" fmla="*/ 315076 w 607639"/>
                  <a:gd name="connsiteY71" fmla="*/ 191020 h 426991"/>
                  <a:gd name="connsiteX72" fmla="*/ 292563 w 607639"/>
                  <a:gd name="connsiteY72" fmla="*/ 191020 h 426991"/>
                  <a:gd name="connsiteX73" fmla="*/ 292563 w 607639"/>
                  <a:gd name="connsiteY73" fmla="*/ 134843 h 426991"/>
                  <a:gd name="connsiteX74" fmla="*/ 237750 w 607639"/>
                  <a:gd name="connsiteY74" fmla="*/ 134843 h 426991"/>
                  <a:gd name="connsiteX75" fmla="*/ 213813 w 607639"/>
                  <a:gd name="connsiteY75" fmla="*/ 111021 h 426991"/>
                  <a:gd name="connsiteX76" fmla="*/ 213813 w 607639"/>
                  <a:gd name="connsiteY76" fmla="*/ 21066 h 426991"/>
                  <a:gd name="connsiteX77" fmla="*/ 237750 w 607639"/>
                  <a:gd name="connsiteY77" fmla="*/ 0 h 4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639" h="426991">
                    <a:moveTo>
                      <a:pt x="450100" y="313203"/>
                    </a:moveTo>
                    <a:lnTo>
                      <a:pt x="450100" y="403167"/>
                    </a:lnTo>
                    <a:lnTo>
                      <a:pt x="585744" y="403167"/>
                    </a:lnTo>
                    <a:lnTo>
                      <a:pt x="586100" y="313203"/>
                    </a:lnTo>
                    <a:lnTo>
                      <a:pt x="530294" y="313203"/>
                    </a:lnTo>
                    <a:cubicBezTo>
                      <a:pt x="530294" y="313203"/>
                      <a:pt x="530116" y="313203"/>
                      <a:pt x="530116" y="313203"/>
                    </a:cubicBezTo>
                    <a:cubicBezTo>
                      <a:pt x="530027" y="313203"/>
                      <a:pt x="529849" y="313203"/>
                      <a:pt x="529760" y="313203"/>
                    </a:cubicBezTo>
                    <a:lnTo>
                      <a:pt x="450901" y="313203"/>
                    </a:lnTo>
                    <a:close/>
                    <a:moveTo>
                      <a:pt x="236309" y="313203"/>
                    </a:moveTo>
                    <a:lnTo>
                      <a:pt x="236309" y="403167"/>
                    </a:lnTo>
                    <a:lnTo>
                      <a:pt x="371953" y="403167"/>
                    </a:lnTo>
                    <a:lnTo>
                      <a:pt x="372754" y="313203"/>
                    </a:lnTo>
                    <a:lnTo>
                      <a:pt x="237110" y="313203"/>
                    </a:lnTo>
                    <a:close/>
                    <a:moveTo>
                      <a:pt x="22519" y="313203"/>
                    </a:moveTo>
                    <a:lnTo>
                      <a:pt x="22519" y="403167"/>
                    </a:lnTo>
                    <a:lnTo>
                      <a:pt x="158163" y="403167"/>
                    </a:lnTo>
                    <a:lnTo>
                      <a:pt x="158964" y="313203"/>
                    </a:lnTo>
                    <a:lnTo>
                      <a:pt x="91498" y="313203"/>
                    </a:lnTo>
                    <a:cubicBezTo>
                      <a:pt x="91409" y="313203"/>
                      <a:pt x="91320" y="313203"/>
                      <a:pt x="91231" y="313203"/>
                    </a:cubicBezTo>
                    <a:cubicBezTo>
                      <a:pt x="91231" y="313203"/>
                      <a:pt x="90964" y="313203"/>
                      <a:pt x="90964" y="313203"/>
                    </a:cubicBezTo>
                    <a:lnTo>
                      <a:pt x="23320" y="313203"/>
                    </a:lnTo>
                    <a:close/>
                    <a:moveTo>
                      <a:pt x="91409" y="224751"/>
                    </a:moveTo>
                    <a:lnTo>
                      <a:pt x="530294" y="224751"/>
                    </a:lnTo>
                    <a:cubicBezTo>
                      <a:pt x="536435" y="224751"/>
                      <a:pt x="540084" y="228396"/>
                      <a:pt x="540084" y="234530"/>
                    </a:cubicBezTo>
                    <a:lnTo>
                      <a:pt x="540084" y="292135"/>
                    </a:lnTo>
                    <a:lnTo>
                      <a:pt x="586456" y="292135"/>
                    </a:lnTo>
                    <a:cubicBezTo>
                      <a:pt x="598917" y="292135"/>
                      <a:pt x="607639" y="300847"/>
                      <a:pt x="607639" y="313203"/>
                    </a:cubicBezTo>
                    <a:lnTo>
                      <a:pt x="607639" y="403167"/>
                    </a:lnTo>
                    <a:cubicBezTo>
                      <a:pt x="607639" y="415524"/>
                      <a:pt x="598917" y="426991"/>
                      <a:pt x="586456" y="426991"/>
                    </a:cubicBezTo>
                    <a:lnTo>
                      <a:pt x="451524" y="426991"/>
                    </a:lnTo>
                    <a:cubicBezTo>
                      <a:pt x="439152" y="426991"/>
                      <a:pt x="427582" y="415524"/>
                      <a:pt x="427582" y="403167"/>
                    </a:cubicBezTo>
                    <a:lnTo>
                      <a:pt x="427582" y="313203"/>
                    </a:lnTo>
                    <a:cubicBezTo>
                      <a:pt x="427582" y="300847"/>
                      <a:pt x="439152" y="292135"/>
                      <a:pt x="451524" y="292135"/>
                    </a:cubicBezTo>
                    <a:lnTo>
                      <a:pt x="517566" y="292135"/>
                    </a:lnTo>
                    <a:lnTo>
                      <a:pt x="517566" y="247242"/>
                    </a:lnTo>
                    <a:lnTo>
                      <a:pt x="315079" y="247242"/>
                    </a:lnTo>
                    <a:lnTo>
                      <a:pt x="315079" y="292135"/>
                    </a:lnTo>
                    <a:lnTo>
                      <a:pt x="372665" y="292135"/>
                    </a:lnTo>
                    <a:cubicBezTo>
                      <a:pt x="385126" y="292135"/>
                      <a:pt x="393849" y="300847"/>
                      <a:pt x="393849" y="313203"/>
                    </a:cubicBezTo>
                    <a:lnTo>
                      <a:pt x="393849" y="403167"/>
                    </a:lnTo>
                    <a:cubicBezTo>
                      <a:pt x="393849" y="415524"/>
                      <a:pt x="385126" y="426991"/>
                      <a:pt x="372665" y="426991"/>
                    </a:cubicBezTo>
                    <a:lnTo>
                      <a:pt x="237733" y="426991"/>
                    </a:lnTo>
                    <a:cubicBezTo>
                      <a:pt x="225362" y="426991"/>
                      <a:pt x="213791" y="415524"/>
                      <a:pt x="213791" y="403167"/>
                    </a:cubicBezTo>
                    <a:lnTo>
                      <a:pt x="213791" y="313203"/>
                    </a:lnTo>
                    <a:cubicBezTo>
                      <a:pt x="213791" y="300847"/>
                      <a:pt x="225362" y="292135"/>
                      <a:pt x="237733" y="292135"/>
                    </a:cubicBezTo>
                    <a:lnTo>
                      <a:pt x="292561" y="292135"/>
                    </a:lnTo>
                    <a:lnTo>
                      <a:pt x="292561" y="247242"/>
                    </a:lnTo>
                    <a:lnTo>
                      <a:pt x="101288" y="247242"/>
                    </a:lnTo>
                    <a:lnTo>
                      <a:pt x="101288" y="292135"/>
                    </a:lnTo>
                    <a:lnTo>
                      <a:pt x="158875" y="292135"/>
                    </a:lnTo>
                    <a:cubicBezTo>
                      <a:pt x="171335" y="292135"/>
                      <a:pt x="180058" y="300847"/>
                      <a:pt x="180058" y="313203"/>
                    </a:cubicBezTo>
                    <a:lnTo>
                      <a:pt x="180058" y="403167"/>
                    </a:lnTo>
                    <a:cubicBezTo>
                      <a:pt x="180058" y="415524"/>
                      <a:pt x="171335" y="426991"/>
                      <a:pt x="158875" y="426991"/>
                    </a:cubicBezTo>
                    <a:lnTo>
                      <a:pt x="24032" y="426991"/>
                    </a:lnTo>
                    <a:cubicBezTo>
                      <a:pt x="11571" y="426991"/>
                      <a:pt x="0" y="415524"/>
                      <a:pt x="0" y="403167"/>
                    </a:cubicBezTo>
                    <a:lnTo>
                      <a:pt x="0" y="313203"/>
                    </a:lnTo>
                    <a:cubicBezTo>
                      <a:pt x="0" y="300847"/>
                      <a:pt x="11571" y="292135"/>
                      <a:pt x="24032" y="292135"/>
                    </a:cubicBezTo>
                    <a:lnTo>
                      <a:pt x="78770" y="292135"/>
                    </a:lnTo>
                    <a:lnTo>
                      <a:pt x="78770" y="234530"/>
                    </a:lnTo>
                    <a:cubicBezTo>
                      <a:pt x="78770" y="228396"/>
                      <a:pt x="85178" y="224751"/>
                      <a:pt x="91409" y="224751"/>
                    </a:cubicBezTo>
                    <a:close/>
                    <a:moveTo>
                      <a:pt x="236326" y="21066"/>
                    </a:moveTo>
                    <a:lnTo>
                      <a:pt x="236326" y="111021"/>
                    </a:lnTo>
                    <a:lnTo>
                      <a:pt x="371758" y="111021"/>
                    </a:lnTo>
                    <a:lnTo>
                      <a:pt x="372380" y="21066"/>
                    </a:lnTo>
                    <a:lnTo>
                      <a:pt x="237127" y="21066"/>
                    </a:lnTo>
                    <a:close/>
                    <a:moveTo>
                      <a:pt x="237750" y="0"/>
                    </a:moveTo>
                    <a:lnTo>
                      <a:pt x="372647" y="0"/>
                    </a:lnTo>
                    <a:cubicBezTo>
                      <a:pt x="385105" y="0"/>
                      <a:pt x="393825" y="8711"/>
                      <a:pt x="393825" y="21066"/>
                    </a:cubicBezTo>
                    <a:lnTo>
                      <a:pt x="393825" y="111021"/>
                    </a:lnTo>
                    <a:cubicBezTo>
                      <a:pt x="393825" y="123376"/>
                      <a:pt x="385105" y="134843"/>
                      <a:pt x="372647" y="134843"/>
                    </a:cubicBezTo>
                    <a:lnTo>
                      <a:pt x="315076" y="134843"/>
                    </a:lnTo>
                    <a:lnTo>
                      <a:pt x="315076" y="191020"/>
                    </a:lnTo>
                    <a:lnTo>
                      <a:pt x="292563" y="191020"/>
                    </a:lnTo>
                    <a:lnTo>
                      <a:pt x="292563" y="134843"/>
                    </a:lnTo>
                    <a:lnTo>
                      <a:pt x="237750" y="134843"/>
                    </a:lnTo>
                    <a:cubicBezTo>
                      <a:pt x="225381" y="134843"/>
                      <a:pt x="213813" y="123376"/>
                      <a:pt x="213813" y="111021"/>
                    </a:cubicBezTo>
                    <a:lnTo>
                      <a:pt x="213813" y="21066"/>
                    </a:lnTo>
                    <a:cubicBezTo>
                      <a:pt x="213813" y="8711"/>
                      <a:pt x="225381" y="0"/>
                      <a:pt x="237750"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8" name="ïš1ídé"/>
            <p:cNvSpPr/>
            <p:nvPr/>
          </p:nvSpPr>
          <p:spPr bwMode="auto">
            <a:xfrm flipH="1" flipV="1">
              <a:off x="6667058" y="1125538"/>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chemeClr val="bg1">
                  <a:lumMod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9" name="işļîḍè" title="MJ8JxobmQhO5YsZmEcy6DZVp0AZTfE39zvT5PAyas4bMl"/>
            <p:cNvGrpSpPr/>
            <p:nvPr/>
          </p:nvGrpSpPr>
          <p:grpSpPr>
            <a:xfrm>
              <a:off x="7816515" y="3074258"/>
              <a:ext cx="549546" cy="549542"/>
              <a:chOff x="2406923" y="2845390"/>
              <a:chExt cx="571222" cy="571221"/>
            </a:xfrm>
          </p:grpSpPr>
          <p:sp>
            <p:nvSpPr>
              <p:cNvPr id="12" name="îṩlïḑè"/>
              <p:cNvSpPr/>
              <p:nvPr/>
            </p:nvSpPr>
            <p:spPr>
              <a:xfrm>
                <a:off x="2406923" y="2845390"/>
                <a:ext cx="571222" cy="571221"/>
              </a:xfrm>
              <a:prstGeom prst="ellipse">
                <a:avLst/>
              </a:prstGeom>
              <a:solidFill>
                <a:schemeClr val="bg1">
                  <a:lumMod val="50000"/>
                </a:schemeClr>
              </a:solidFill>
              <a:ln w="38100">
                <a:solidFill>
                  <a:schemeClr val="bg1">
                    <a:lumMod val="50000"/>
                  </a:schemeClr>
                </a:solidFill>
              </a:ln>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algn="ctr"/>
                <a:endParaRPr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ïṥlïḋê" title="ry6MHxwOH8WsTKLSa514qPVJnvhhWFnRDjZGIbRZNsFBp"/>
              <p:cNvSpPr/>
              <p:nvPr/>
            </p:nvSpPr>
            <p:spPr bwMode="auto">
              <a:xfrm>
                <a:off x="2540113" y="2978777"/>
                <a:ext cx="304842" cy="304441"/>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16" name="任意多边形: 形状 1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8" name="矩形 17"/>
          <p:cNvSpPr/>
          <p:nvPr/>
        </p:nvSpPr>
        <p:spPr>
          <a:xfrm>
            <a:off x="1379320" y="65787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4.2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未来展望</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1284960" y="4252658"/>
            <a:ext cx="2962390" cy="1890967"/>
          </a:xfrm>
          <a:prstGeom prst="rect">
            <a:avLst/>
          </a:prstGeom>
        </p:spPr>
        <p:txBody>
          <a:bodyPr wrap="square">
            <a:spAutoFit/>
          </a:bodyPr>
          <a:lstStyle/>
          <a:p>
            <a:pPr algn="r">
              <a:lnSpc>
                <a:spcPct val="150000"/>
              </a:lnSpc>
              <a:spcAft>
                <a:spcPts val="600"/>
              </a:spcAft>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拓展大模型的应用边界</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spcAft>
                <a:spcPts val="600"/>
              </a:spcAft>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探索大模型在</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传感器故障诊断</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系统自愈</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场景理解</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与</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路径规划一体化</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中的更多应用；探索大模型在</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人机交互</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领域的功能，比如遇到非路况原因导致的传感器权重变化时，系统能及时告知管理人员维修。</a:t>
            </a:r>
          </a:p>
        </p:txBody>
      </p:sp>
      <p:sp>
        <p:nvSpPr>
          <p:cNvPr id="20" name="矩形 19"/>
          <p:cNvSpPr/>
          <p:nvPr/>
        </p:nvSpPr>
        <p:spPr>
          <a:xfrm>
            <a:off x="8091288" y="1119538"/>
            <a:ext cx="2962390" cy="2321854"/>
          </a:xfrm>
          <a:prstGeom prst="rect">
            <a:avLst/>
          </a:prstGeom>
        </p:spPr>
        <p:txBody>
          <a:bodyPr wrap="square">
            <a:spAutoFit/>
          </a:bodyPr>
          <a:lstStyle/>
          <a:p>
            <a:pPr>
              <a:lnSpc>
                <a:spcPct val="150000"/>
              </a:lnSpc>
              <a:spcAft>
                <a:spcPts val="600"/>
              </a:spcAft>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仿真与实车验证结合</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600"/>
              </a:spcAft>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当前算法已在理论层面上得到验证，下一阶段我们希望可以</a:t>
            </a:r>
            <a:r>
              <a:rPr lang="zh-CN" altLang="en-US" sz="1200" b="1" dirty="0">
                <a:latin typeface="字魂105号-简雅黑" panose="00000500000000000000" pitchFamily="2" charset="-122"/>
                <a:ea typeface="字魂105号-简雅黑" panose="00000500000000000000" pitchFamily="2" charset="-122"/>
                <a:sym typeface="字魂105号-简雅黑" panose="00000500000000000000" pitchFamily="2" charset="-122"/>
              </a:rPr>
              <a:t>搭建实车测试平台</a:t>
            </a: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，采集真实道路数据，在不同天气、光照、城市等场景下进行系统评估，验证算法的泛化能力。</a:t>
            </a: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circle(in)">
                                      <p:cBhvr>
                                        <p:cTn id="1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301729"/>
            <a:ext cx="12192000" cy="2961151"/>
          </a:xfrm>
          <a:prstGeom prst="rect">
            <a:avLst/>
          </a:prstGeom>
          <a:solidFill>
            <a:srgbClr val="005A8A"/>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2150110" y="3274695"/>
            <a:ext cx="7892415" cy="1014730"/>
          </a:xfrm>
          <a:prstGeom prst="rect">
            <a:avLst/>
          </a:prstGeom>
          <a:noFill/>
        </p:spPr>
        <p:txBody>
          <a:bodyPr wrap="square" rtlCol="0">
            <a:spAutoFit/>
          </a:bodyPr>
          <a:lstStyle/>
          <a:p>
            <a:pPr algn="dist"/>
            <a:r>
              <a:rPr lang="zh-CN" altLang="en-US" sz="6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恳请各位老师批评指正！</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335" y="1586524"/>
            <a:ext cx="2017330" cy="696246"/>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409" y="441810"/>
            <a:ext cx="983182" cy="983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ISLIDE.DIAGRAM" val="254805"/>
</p:tagLst>
</file>

<file path=ppt/tags/tag3.xml><?xml version="1.0" encoding="utf-8"?>
<p:tagLst xmlns:a="http://schemas.openxmlformats.org/drawingml/2006/main" xmlns:r="http://schemas.openxmlformats.org/officeDocument/2006/relationships" xmlns:p="http://schemas.openxmlformats.org/presentationml/2006/main">
  <p:tag name="ISLIDE.DIAGRAM" val="18307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1537</Words>
  <Application>Microsoft Office PowerPoint</Application>
  <PresentationFormat>宽屏</PresentationFormat>
  <Paragraphs>130</Paragraphs>
  <Slides>19</Slides>
  <Notes>19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等线</vt:lpstr>
      <vt:lpstr>等线 Light</vt:lpstr>
      <vt:lpstr>字魂105号-简雅黑</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cby</dc:creator>
  <cp:lastModifiedBy>欣鸿 李</cp:lastModifiedBy>
  <cp:revision>329</cp:revision>
  <dcterms:created xsi:type="dcterms:W3CDTF">2019-01-04T06:52:00Z</dcterms:created>
  <dcterms:modified xsi:type="dcterms:W3CDTF">2026-03-27T07:22:35Z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F3A824B50C984317A227546EB7249C7A_13</vt:lpwstr>
  </property>
  <property fmtid="{D5CDD505-2E9C-101B-9397-08002B2CF9AE}" pid="3" name="KSOProductBuildVer">
    <vt:lpwstr>2052-12.1.0.25225</vt:lpwstr>
  </property>
</Properties>
</file>