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20.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75" r:id="rId2"/>
    <p:sldId id="348" r:id="rId3"/>
    <p:sldId id="347" r:id="rId4"/>
    <p:sldId id="352" r:id="rId5"/>
    <p:sldId id="373" r:id="rId6"/>
    <p:sldId id="350" r:id="rId7"/>
    <p:sldId id="349" r:id="rId8"/>
    <p:sldId id="353" r:id="rId9"/>
    <p:sldId id="296" r:id="rId10"/>
    <p:sldId id="380" r:id="rId11"/>
    <p:sldId id="354" r:id="rId12"/>
    <p:sldId id="385" r:id="rId13"/>
    <p:sldId id="381" r:id="rId14"/>
    <p:sldId id="351" r:id="rId15"/>
    <p:sldId id="382" r:id="rId16"/>
    <p:sldId id="383" r:id="rId17"/>
    <p:sldId id="384" r:id="rId18"/>
    <p:sldId id="358" r:id="rId19"/>
    <p:sldId id="279" r:id="rId20"/>
    <p:sldId id="309" r:id="rId21"/>
    <p:sldId id="273" r:id="rId22"/>
    <p:sldId id="377" r:id="rId23"/>
    <p:sldId id="376"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A8A"/>
    <a:srgbClr val="006171"/>
    <a:srgbClr val="EEECE1"/>
    <a:srgbClr val="006097"/>
    <a:srgbClr val="911F22"/>
    <a:srgbClr val="C92B2F"/>
    <a:srgbClr val="0097B0"/>
    <a:srgbClr val="6FD57F"/>
    <a:srgbClr val="8100FF"/>
    <a:srgbClr val="D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09" d="100"/>
          <a:sy n="109" d="100"/>
        </p:scale>
        <p:origin x="100" y="104"/>
      </p:cViewPr>
      <p:guideLst/>
    </p:cSldViewPr>
  </p:slideViewPr>
  <p:notesTextViewPr>
    <p:cViewPr>
      <p:scale>
        <a:sx n="1" d="1"/>
        <a:sy n="1" d="1"/>
      </p:scale>
      <p:origin x="0" y="0"/>
    </p:cViewPr>
  </p:notesTextViewPr>
  <p:sorterViewPr>
    <p:cViewPr>
      <p:scale>
        <a:sx n="100" d="100"/>
        <a:sy n="100" d="100"/>
      </p:scale>
      <p:origin x="0" y="-55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0A44A-4D38-48A7-9D7C-ECFC6DB5196B}" type="datetimeFigureOut">
              <a:rPr lang="zh-CN" altLang="en-US" smtClean="0"/>
              <a:t>2025/11/6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D9C11C-D04B-4B83-A5E8-D873315BDD39}" type="slidenum">
              <a:rPr lang="zh-CN" altLang="en-US" smtClean="0"/>
              <a:t>‹#›</a:t>
            </a:fld>
            <a:endParaRPr lang="zh-CN" altLang="en-US"/>
          </a:p>
        </p:txBody>
      </p:sp>
    </p:spTree>
    <p:extLst>
      <p:ext uri="{BB962C8B-B14F-4D97-AF65-F5344CB8AC3E}">
        <p14:creationId xmlns:p14="http://schemas.microsoft.com/office/powerpoint/2010/main" val="1159941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a:t>
            </a:fld>
            <a:endParaRPr lang="zh-CN" altLang="en-US"/>
          </a:p>
        </p:txBody>
      </p:sp>
    </p:spTree>
    <p:extLst>
      <p:ext uri="{BB962C8B-B14F-4D97-AF65-F5344CB8AC3E}">
        <p14:creationId xmlns:p14="http://schemas.microsoft.com/office/powerpoint/2010/main" val="1116095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CE054B-68E7-45EF-8070-F21E5616883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78692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3</a:t>
            </a:fld>
            <a:endParaRPr lang="zh-CN" altLang="en-US"/>
          </a:p>
        </p:txBody>
      </p:sp>
    </p:spTree>
    <p:extLst>
      <p:ext uri="{BB962C8B-B14F-4D97-AF65-F5344CB8AC3E}">
        <p14:creationId xmlns:p14="http://schemas.microsoft.com/office/powerpoint/2010/main" val="3629066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4</a:t>
            </a:fld>
            <a:endParaRPr lang="zh-CN" altLang="en-US"/>
          </a:p>
        </p:txBody>
      </p:sp>
    </p:spTree>
    <p:extLst>
      <p:ext uri="{BB962C8B-B14F-4D97-AF65-F5344CB8AC3E}">
        <p14:creationId xmlns:p14="http://schemas.microsoft.com/office/powerpoint/2010/main" val="2136106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5</a:t>
            </a:fld>
            <a:endParaRPr lang="zh-CN" altLang="en-US"/>
          </a:p>
        </p:txBody>
      </p:sp>
    </p:spTree>
    <p:extLst>
      <p:ext uri="{BB962C8B-B14F-4D97-AF65-F5344CB8AC3E}">
        <p14:creationId xmlns:p14="http://schemas.microsoft.com/office/powerpoint/2010/main" val="411655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6</a:t>
            </a:fld>
            <a:endParaRPr lang="zh-CN" altLang="en-US"/>
          </a:p>
        </p:txBody>
      </p:sp>
    </p:spTree>
    <p:extLst>
      <p:ext uri="{BB962C8B-B14F-4D97-AF65-F5344CB8AC3E}">
        <p14:creationId xmlns:p14="http://schemas.microsoft.com/office/powerpoint/2010/main" val="910197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7</a:t>
            </a:fld>
            <a:endParaRPr lang="zh-CN" altLang="en-US"/>
          </a:p>
        </p:txBody>
      </p:sp>
    </p:spTree>
    <p:extLst>
      <p:ext uri="{BB962C8B-B14F-4D97-AF65-F5344CB8AC3E}">
        <p14:creationId xmlns:p14="http://schemas.microsoft.com/office/powerpoint/2010/main" val="3377584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8</a:t>
            </a:fld>
            <a:endParaRPr lang="zh-CN" altLang="en-US"/>
          </a:p>
        </p:txBody>
      </p:sp>
    </p:spTree>
    <p:extLst>
      <p:ext uri="{BB962C8B-B14F-4D97-AF65-F5344CB8AC3E}">
        <p14:creationId xmlns:p14="http://schemas.microsoft.com/office/powerpoint/2010/main" val="2803448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9</a:t>
            </a:fld>
            <a:endParaRPr lang="zh-CN" altLang="en-US"/>
          </a:p>
        </p:txBody>
      </p:sp>
    </p:spTree>
    <p:extLst>
      <p:ext uri="{BB962C8B-B14F-4D97-AF65-F5344CB8AC3E}">
        <p14:creationId xmlns:p14="http://schemas.microsoft.com/office/powerpoint/2010/main" val="3332611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10</a:t>
            </a:fld>
            <a:endParaRPr lang="zh-CN" altLang="en-US"/>
          </a:p>
        </p:txBody>
      </p:sp>
    </p:spTree>
    <p:extLst>
      <p:ext uri="{BB962C8B-B14F-4D97-AF65-F5344CB8AC3E}">
        <p14:creationId xmlns:p14="http://schemas.microsoft.com/office/powerpoint/2010/main" val="488934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11</a:t>
            </a:fld>
            <a:endParaRPr lang="zh-CN" altLang="en-US"/>
          </a:p>
        </p:txBody>
      </p:sp>
    </p:spTree>
    <p:extLst>
      <p:ext uri="{BB962C8B-B14F-4D97-AF65-F5344CB8AC3E}">
        <p14:creationId xmlns:p14="http://schemas.microsoft.com/office/powerpoint/2010/main" val="58051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13</a:t>
            </a:fld>
            <a:endParaRPr lang="zh-CN" altLang="en-US"/>
          </a:p>
        </p:txBody>
      </p:sp>
    </p:spTree>
    <p:extLst>
      <p:ext uri="{BB962C8B-B14F-4D97-AF65-F5344CB8AC3E}">
        <p14:creationId xmlns:p14="http://schemas.microsoft.com/office/powerpoint/2010/main" val="3063769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14</a:t>
            </a:fld>
            <a:endParaRPr lang="zh-CN" altLang="en-US"/>
          </a:p>
        </p:txBody>
      </p:sp>
    </p:spTree>
    <p:extLst>
      <p:ext uri="{BB962C8B-B14F-4D97-AF65-F5344CB8AC3E}">
        <p14:creationId xmlns:p14="http://schemas.microsoft.com/office/powerpoint/2010/main" val="751410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15</a:t>
            </a:fld>
            <a:endParaRPr lang="zh-CN" altLang="en-US"/>
          </a:p>
        </p:txBody>
      </p:sp>
    </p:spTree>
    <p:extLst>
      <p:ext uri="{BB962C8B-B14F-4D97-AF65-F5344CB8AC3E}">
        <p14:creationId xmlns:p14="http://schemas.microsoft.com/office/powerpoint/2010/main" val="35835970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16</a:t>
            </a:fld>
            <a:endParaRPr lang="zh-CN" altLang="en-US"/>
          </a:p>
        </p:txBody>
      </p:sp>
    </p:spTree>
    <p:extLst>
      <p:ext uri="{BB962C8B-B14F-4D97-AF65-F5344CB8AC3E}">
        <p14:creationId xmlns:p14="http://schemas.microsoft.com/office/powerpoint/2010/main" val="390178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17</a:t>
            </a:fld>
            <a:endParaRPr lang="zh-CN" altLang="en-US"/>
          </a:p>
        </p:txBody>
      </p:sp>
    </p:spTree>
    <p:extLst>
      <p:ext uri="{BB962C8B-B14F-4D97-AF65-F5344CB8AC3E}">
        <p14:creationId xmlns:p14="http://schemas.microsoft.com/office/powerpoint/2010/main" val="3383522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23</a:t>
            </a:fld>
            <a:endParaRPr lang="zh-CN" altLang="en-US"/>
          </a:p>
        </p:txBody>
      </p:sp>
    </p:spTree>
    <p:extLst>
      <p:ext uri="{BB962C8B-B14F-4D97-AF65-F5344CB8AC3E}">
        <p14:creationId xmlns:p14="http://schemas.microsoft.com/office/powerpoint/2010/main" val="130912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35C6F40-3716-483C-AC55-F04824C3D7A3}"/>
              </a:ext>
            </a:extLst>
          </p:cNvPr>
          <p:cNvSpPr>
            <a:spLocks noGrp="1"/>
          </p:cNvSpPr>
          <p:nvPr>
            <p:ph type="dt" sz="half" idx="10"/>
          </p:nvPr>
        </p:nvSpPr>
        <p:spPr/>
        <p:txBody>
          <a:bodyPr/>
          <a:lstStyle/>
          <a:p>
            <a:fld id="{5EAA93BF-772A-4C92-B1DC-E6EFAA9B7E24}" type="datetimeFigureOut">
              <a:rPr lang="zh-CN" altLang="en-US" smtClean="0"/>
              <a:t>2025/11/6</a:t>
            </a:fld>
            <a:endParaRPr lang="zh-CN" altLang="en-US"/>
          </a:p>
        </p:txBody>
      </p:sp>
      <p:sp>
        <p:nvSpPr>
          <p:cNvPr id="3" name="页脚占位符 2">
            <a:extLst>
              <a:ext uri="{FF2B5EF4-FFF2-40B4-BE49-F238E27FC236}">
                <a16:creationId xmlns:a16="http://schemas.microsoft.com/office/drawing/2014/main" id="{1229ADCD-DCA7-4F43-BEDD-CA891E27439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29543E4-6497-4D0F-9F84-21084CFE3E5B}"/>
              </a:ext>
            </a:extLst>
          </p:cNvPr>
          <p:cNvSpPr>
            <a:spLocks noGrp="1"/>
          </p:cNvSpPr>
          <p:nvPr>
            <p:ph type="sldNum" sz="quarter" idx="12"/>
          </p:nvPr>
        </p:nvSpPr>
        <p:spPr/>
        <p:txBody>
          <a:bodyPr/>
          <a:lstStyle/>
          <a:p>
            <a:fld id="{E77F9130-EB6A-4866-830C-2DB68EFB30B4}" type="slidenum">
              <a:rPr lang="zh-CN" altLang="en-US" smtClean="0"/>
              <a:t>‹#›</a:t>
            </a:fld>
            <a:endParaRPr lang="zh-CN" altLang="en-US"/>
          </a:p>
        </p:txBody>
      </p:sp>
    </p:spTree>
    <p:extLst>
      <p:ext uri="{BB962C8B-B14F-4D97-AF65-F5344CB8AC3E}">
        <p14:creationId xmlns:p14="http://schemas.microsoft.com/office/powerpoint/2010/main" val="10533030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CA8DB4-B604-4E99-876A-ABC35B998DA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98475A6-3BD4-4793-9CE8-7365CD5C7AE7}"/>
              </a:ext>
            </a:extLst>
          </p:cNvPr>
          <p:cNvSpPr>
            <a:spLocks noGrp="1"/>
          </p:cNvSpPr>
          <p:nvPr>
            <p:ph type="dt" sz="half" idx="10"/>
          </p:nvPr>
        </p:nvSpPr>
        <p:spPr/>
        <p:txBody>
          <a:bodyPr/>
          <a:lstStyle/>
          <a:p>
            <a:fld id="{5EAA93BF-772A-4C92-B1DC-E6EFAA9B7E24}" type="datetimeFigureOut">
              <a:rPr lang="zh-CN" altLang="en-US" smtClean="0"/>
              <a:t>2025/11/6</a:t>
            </a:fld>
            <a:endParaRPr lang="zh-CN" altLang="en-US"/>
          </a:p>
        </p:txBody>
      </p:sp>
      <p:sp>
        <p:nvSpPr>
          <p:cNvPr id="4" name="页脚占位符 3">
            <a:extLst>
              <a:ext uri="{FF2B5EF4-FFF2-40B4-BE49-F238E27FC236}">
                <a16:creationId xmlns:a16="http://schemas.microsoft.com/office/drawing/2014/main" id="{6FBEA250-D41A-40DB-B33A-5BB0C44C407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0869F42-9345-48BF-AAD4-C117E5F2EA7D}"/>
              </a:ext>
            </a:extLst>
          </p:cNvPr>
          <p:cNvSpPr>
            <a:spLocks noGrp="1"/>
          </p:cNvSpPr>
          <p:nvPr>
            <p:ph type="sldNum" sz="quarter" idx="12"/>
          </p:nvPr>
        </p:nvSpPr>
        <p:spPr/>
        <p:txBody>
          <a:bodyPr/>
          <a:lstStyle/>
          <a:p>
            <a:fld id="{E77F9130-EB6A-4866-830C-2DB68EFB30B4}" type="slidenum">
              <a:rPr lang="zh-CN" altLang="en-US" smtClean="0"/>
              <a:t>‹#›</a:t>
            </a:fld>
            <a:endParaRPr lang="zh-CN" altLang="en-US"/>
          </a:p>
        </p:txBody>
      </p:sp>
    </p:spTree>
    <p:extLst>
      <p:ext uri="{BB962C8B-B14F-4D97-AF65-F5344CB8AC3E}">
        <p14:creationId xmlns:p14="http://schemas.microsoft.com/office/powerpoint/2010/main" val="3350974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60"/>
            <a:ext cx="2743200" cy="365125"/>
          </a:xfrm>
        </p:spPr>
        <p:txBody>
          <a:bodyPr/>
          <a:lstStyle>
            <a:lvl1pPr>
              <a:defRPr/>
            </a:lvl1pPr>
          </a:lstStyle>
          <a:p>
            <a:fld id="{CD21E796-F371-46FE-9DFB-C441527A35E0}" type="datetime1">
              <a:rPr lang="zh-CN" altLang="en-US"/>
              <a:t>2025/11/6</a:t>
            </a:fld>
            <a:endParaRPr lang="zh-CN" altLang="en-US" sz="1680">
              <a:solidFill>
                <a:schemeClr val="tx1"/>
              </a:solidFill>
            </a:endParaRPr>
          </a:p>
        </p:txBody>
      </p:sp>
      <p:sp>
        <p:nvSpPr>
          <p:cNvPr id="4" name="页脚占位符 3"/>
          <p:cNvSpPr>
            <a:spLocks noGrp="1"/>
          </p:cNvSpPr>
          <p:nvPr>
            <p:ph type="ftr" sz="quarter" idx="11"/>
          </p:nvPr>
        </p:nvSpPr>
        <p:spPr>
          <a:xfrm>
            <a:off x="4038600" y="6356360"/>
            <a:ext cx="4114800" cy="365125"/>
          </a:xfrm>
        </p:spPr>
        <p:txBody>
          <a:bodyPr/>
          <a:lstStyle>
            <a:lvl1pPr>
              <a:defRPr/>
            </a:lvl1pPr>
          </a:lstStyle>
          <a:p>
            <a:endParaRPr lang="zh-CN" altLang="zh-CN"/>
          </a:p>
        </p:txBody>
      </p:sp>
      <p:sp>
        <p:nvSpPr>
          <p:cNvPr id="5" name="灯片编号占位符 4"/>
          <p:cNvSpPr>
            <a:spLocks noGrp="1"/>
          </p:cNvSpPr>
          <p:nvPr>
            <p:ph type="sldNum" sz="quarter" idx="12"/>
          </p:nvPr>
        </p:nvSpPr>
        <p:spPr>
          <a:xfrm>
            <a:off x="8610600" y="6356360"/>
            <a:ext cx="2743200" cy="365125"/>
          </a:xfrm>
        </p:spPr>
        <p:txBody>
          <a:bodyPr/>
          <a:lstStyle>
            <a:lvl1pPr>
              <a:defRPr/>
            </a:lvl1pPr>
          </a:lstStyle>
          <a:p>
            <a:fld id="{3F6F2044-B2A5-4D81-A2D6-A754D1FE24D3}" type="slidenum">
              <a:rPr lang="zh-CN" altLang="en-US"/>
              <a:t>‹#›</a:t>
            </a:fld>
            <a:endParaRPr lang="zh-CN" altLang="en-US" sz="1680">
              <a:solidFill>
                <a:schemeClr val="tx1"/>
              </a:solidFill>
            </a:endParaRPr>
          </a:p>
        </p:txBody>
      </p:sp>
    </p:spTree>
    <p:extLst>
      <p:ext uri="{BB962C8B-B14F-4D97-AF65-F5344CB8AC3E}">
        <p14:creationId xmlns:p14="http://schemas.microsoft.com/office/powerpoint/2010/main" val="3876342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1FC2355-F933-46E4-9B80-AC8D6831BA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E1F50CE-A273-44D2-BDE3-D371DA391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ADF6142-A627-4187-8859-27E32E5C57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A93BF-772A-4C92-B1DC-E6EFAA9B7E24}"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1A01CD1B-FB27-4D57-8082-BF7A4E942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AD5E428-82F7-41AA-8E50-4F60D65E1F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F9130-EB6A-4866-830C-2DB68EFB30B4}" type="slidenum">
              <a:rPr lang="zh-CN" altLang="en-US" smtClean="0"/>
              <a:t>‹#›</a:t>
            </a:fld>
            <a:endParaRPr lang="zh-CN" altLang="en-US"/>
          </a:p>
        </p:txBody>
      </p:sp>
    </p:spTree>
    <p:extLst>
      <p:ext uri="{BB962C8B-B14F-4D97-AF65-F5344CB8AC3E}">
        <p14:creationId xmlns:p14="http://schemas.microsoft.com/office/powerpoint/2010/main" val="3176494398"/>
      </p:ext>
    </p:extLst>
  </p:cSld>
  <p:clrMap bg1="lt1" tx1="dk1" bg2="lt2" tx2="dk2" accent1="accent1" accent2="accent2" accent3="accent3" accent4="accent4" accent5="accent5" accent6="accent6" hlink="hlink" folHlink="folHlink"/>
  <p:sldLayoutIdLst>
    <p:sldLayoutId id="2147483655" r:id="rId1"/>
    <p:sldLayoutId id="2147483673" r:id="rId2"/>
    <p:sldLayoutId id="2147483674" r:id="rId3"/>
  </p:sldLayoutIdLst>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image" Target="../media/image5.png"/><Relationship Id="rId3" Type="http://schemas.openxmlformats.org/officeDocument/2006/relationships/tags" Target="../tags/tag7.xml"/><Relationship Id="rId21" Type="http://schemas.openxmlformats.org/officeDocument/2006/relationships/notesSlide" Target="../notesSlides/notesSlide19.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image" Target="../media/image20.png"/><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image" Target="../media/image19.png"/><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image" Target="../media/image4.png"/><Relationship Id="rId10" Type="http://schemas.openxmlformats.org/officeDocument/2006/relationships/tags" Target="../tags/tag14.xml"/><Relationship Id="rId19" Type="http://schemas.openxmlformats.org/officeDocument/2006/relationships/tags" Target="../tags/tag23.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image" Target="../media/image18.png"/></Relationships>
</file>

<file path=ppt/slides/_rels/slide21.xml.rels><?xml version="1.0" encoding="UTF-8" standalone="yes"?>
<Relationships xmlns="http://schemas.openxmlformats.org/package/2006/relationships"><Relationship Id="rId13" Type="http://schemas.openxmlformats.org/officeDocument/2006/relationships/tags" Target="../tags/tag36.xml"/><Relationship Id="rId18" Type="http://schemas.openxmlformats.org/officeDocument/2006/relationships/tags" Target="../tags/tag41.xml"/><Relationship Id="rId26" Type="http://schemas.openxmlformats.org/officeDocument/2006/relationships/tags" Target="../tags/tag49.xml"/><Relationship Id="rId39" Type="http://schemas.openxmlformats.org/officeDocument/2006/relationships/tags" Target="../tags/tag62.xml"/><Relationship Id="rId21" Type="http://schemas.openxmlformats.org/officeDocument/2006/relationships/tags" Target="../tags/tag44.xml"/><Relationship Id="rId34" Type="http://schemas.openxmlformats.org/officeDocument/2006/relationships/tags" Target="../tags/tag57.xml"/><Relationship Id="rId42" Type="http://schemas.openxmlformats.org/officeDocument/2006/relationships/tags" Target="../tags/tag65.xml"/><Relationship Id="rId47" Type="http://schemas.openxmlformats.org/officeDocument/2006/relationships/tags" Target="../tags/tag70.xml"/><Relationship Id="rId50" Type="http://schemas.openxmlformats.org/officeDocument/2006/relationships/slideLayout" Target="../slideLayouts/slideLayout1.xml"/><Relationship Id="rId7" Type="http://schemas.openxmlformats.org/officeDocument/2006/relationships/tags" Target="../tags/tag30.xml"/><Relationship Id="rId2" Type="http://schemas.openxmlformats.org/officeDocument/2006/relationships/tags" Target="../tags/tag25.xml"/><Relationship Id="rId16" Type="http://schemas.openxmlformats.org/officeDocument/2006/relationships/tags" Target="../tags/tag39.xml"/><Relationship Id="rId29" Type="http://schemas.openxmlformats.org/officeDocument/2006/relationships/tags" Target="../tags/tag52.xml"/><Relationship Id="rId11" Type="http://schemas.openxmlformats.org/officeDocument/2006/relationships/tags" Target="../tags/tag34.xml"/><Relationship Id="rId24" Type="http://schemas.openxmlformats.org/officeDocument/2006/relationships/tags" Target="../tags/tag47.xml"/><Relationship Id="rId32" Type="http://schemas.openxmlformats.org/officeDocument/2006/relationships/tags" Target="../tags/tag55.xml"/><Relationship Id="rId37" Type="http://schemas.openxmlformats.org/officeDocument/2006/relationships/tags" Target="../tags/tag60.xml"/><Relationship Id="rId40" Type="http://schemas.openxmlformats.org/officeDocument/2006/relationships/tags" Target="../tags/tag63.xml"/><Relationship Id="rId45" Type="http://schemas.openxmlformats.org/officeDocument/2006/relationships/tags" Target="../tags/tag68.xml"/><Relationship Id="rId53" Type="http://schemas.openxmlformats.org/officeDocument/2006/relationships/image" Target="../media/image5.png"/><Relationship Id="rId5" Type="http://schemas.openxmlformats.org/officeDocument/2006/relationships/tags" Target="../tags/tag28.xml"/><Relationship Id="rId10" Type="http://schemas.openxmlformats.org/officeDocument/2006/relationships/tags" Target="../tags/tag33.xml"/><Relationship Id="rId19" Type="http://schemas.openxmlformats.org/officeDocument/2006/relationships/tags" Target="../tags/tag42.xml"/><Relationship Id="rId31" Type="http://schemas.openxmlformats.org/officeDocument/2006/relationships/tags" Target="../tags/tag54.xml"/><Relationship Id="rId44" Type="http://schemas.openxmlformats.org/officeDocument/2006/relationships/tags" Target="../tags/tag67.xml"/><Relationship Id="rId52" Type="http://schemas.openxmlformats.org/officeDocument/2006/relationships/image" Target="../media/image4.png"/><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tags" Target="../tags/tag45.xml"/><Relationship Id="rId27" Type="http://schemas.openxmlformats.org/officeDocument/2006/relationships/tags" Target="../tags/tag50.xml"/><Relationship Id="rId30" Type="http://schemas.openxmlformats.org/officeDocument/2006/relationships/tags" Target="../tags/tag53.xml"/><Relationship Id="rId35" Type="http://schemas.openxmlformats.org/officeDocument/2006/relationships/tags" Target="../tags/tag58.xml"/><Relationship Id="rId43" Type="http://schemas.openxmlformats.org/officeDocument/2006/relationships/tags" Target="../tags/tag66.xml"/><Relationship Id="rId48" Type="http://schemas.openxmlformats.org/officeDocument/2006/relationships/tags" Target="../tags/tag71.xml"/><Relationship Id="rId8" Type="http://schemas.openxmlformats.org/officeDocument/2006/relationships/tags" Target="../tags/tag31.xml"/><Relationship Id="rId51" Type="http://schemas.openxmlformats.org/officeDocument/2006/relationships/notesSlide" Target="../notesSlides/notesSlide20.xml"/><Relationship Id="rId3" Type="http://schemas.openxmlformats.org/officeDocument/2006/relationships/tags" Target="../tags/tag26.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tags" Target="../tags/tag48.xml"/><Relationship Id="rId33" Type="http://schemas.openxmlformats.org/officeDocument/2006/relationships/tags" Target="../tags/tag56.xml"/><Relationship Id="rId38" Type="http://schemas.openxmlformats.org/officeDocument/2006/relationships/tags" Target="../tags/tag61.xml"/><Relationship Id="rId46" Type="http://schemas.openxmlformats.org/officeDocument/2006/relationships/tags" Target="../tags/tag69.xml"/><Relationship Id="rId20" Type="http://schemas.openxmlformats.org/officeDocument/2006/relationships/tags" Target="../tags/tag43.xml"/><Relationship Id="rId41" Type="http://schemas.openxmlformats.org/officeDocument/2006/relationships/tags" Target="../tags/tag64.xml"/><Relationship Id="rId1" Type="http://schemas.openxmlformats.org/officeDocument/2006/relationships/tags" Target="../tags/tag24.xml"/><Relationship Id="rId6" Type="http://schemas.openxmlformats.org/officeDocument/2006/relationships/tags" Target="../tags/tag29.xml"/><Relationship Id="rId15" Type="http://schemas.openxmlformats.org/officeDocument/2006/relationships/tags" Target="../tags/tag38.xml"/><Relationship Id="rId23" Type="http://schemas.openxmlformats.org/officeDocument/2006/relationships/tags" Target="../tags/tag46.xml"/><Relationship Id="rId28" Type="http://schemas.openxmlformats.org/officeDocument/2006/relationships/tags" Target="../tags/tag51.xml"/><Relationship Id="rId36" Type="http://schemas.openxmlformats.org/officeDocument/2006/relationships/tags" Target="../tags/tag59.xml"/><Relationship Id="rId49" Type="http://schemas.openxmlformats.org/officeDocument/2006/relationships/tags" Target="../tags/tag72.xml"/></Relationships>
</file>

<file path=ppt/slides/_rels/slide22.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image" Target="../media/image5.png"/><Relationship Id="rId2" Type="http://schemas.openxmlformats.org/officeDocument/2006/relationships/tags" Target="../tags/tag74.xml"/><Relationship Id="rId16" Type="http://schemas.openxmlformats.org/officeDocument/2006/relationships/image" Target="../media/image4.pn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5" Type="http://schemas.openxmlformats.org/officeDocument/2006/relationships/notesSlide" Target="../notesSlides/notesSlide21.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C2FBD7-6F73-46AE-9D54-D25A5F74E43C}"/>
              </a:ext>
            </a:extLst>
          </p:cNvPr>
          <p:cNvSpPr/>
          <p:nvPr/>
        </p:nvSpPr>
        <p:spPr>
          <a:xfrm>
            <a:off x="0" y="2540000"/>
            <a:ext cx="12192000" cy="306070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92B2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a:extLst>
              <a:ext uri="{FF2B5EF4-FFF2-40B4-BE49-F238E27FC236}">
                <a16:creationId xmlns:a16="http://schemas.microsoft.com/office/drawing/2014/main" id="{05CABE9B-79C3-40F2-9B62-92C831D1C92C}"/>
              </a:ext>
            </a:extLst>
          </p:cNvPr>
          <p:cNvSpPr txBox="1"/>
          <p:nvPr/>
        </p:nvSpPr>
        <p:spPr>
          <a:xfrm>
            <a:off x="1152525" y="2837724"/>
            <a:ext cx="9886950" cy="1569660"/>
          </a:xfrm>
          <a:prstGeom prst="rect">
            <a:avLst/>
          </a:prstGeom>
          <a:noFill/>
        </p:spPr>
        <p:txBody>
          <a:bodyPr wrap="square" rtlCol="0">
            <a:spAutoFit/>
          </a:bodyPr>
          <a:lstStyle/>
          <a:p>
            <a:pPr algn="ctr"/>
            <a:r>
              <a:rPr lang="zh-CN" altLang="en-US" sz="48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大语言模型辅助的多传感器融合组合定位系统研究</a:t>
            </a:r>
          </a:p>
        </p:txBody>
      </p:sp>
      <p:sp>
        <p:nvSpPr>
          <p:cNvPr id="6" name="文本框 5">
            <a:extLst>
              <a:ext uri="{FF2B5EF4-FFF2-40B4-BE49-F238E27FC236}">
                <a16:creationId xmlns:a16="http://schemas.microsoft.com/office/drawing/2014/main" id="{0CC4882C-675A-4095-9D3F-BDC6764E50B6}"/>
              </a:ext>
            </a:extLst>
          </p:cNvPr>
          <p:cNvSpPr txBox="1"/>
          <p:nvPr/>
        </p:nvSpPr>
        <p:spPr>
          <a:xfrm>
            <a:off x="4080042" y="4902144"/>
            <a:ext cx="4585368"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团队成员 ：朱俞彤 齐颖 李欣鸿 罗烯尹</a:t>
            </a:r>
          </a:p>
        </p:txBody>
      </p:sp>
      <p:sp>
        <p:nvSpPr>
          <p:cNvPr id="7" name="文本框 6">
            <a:extLst>
              <a:ext uri="{FF2B5EF4-FFF2-40B4-BE49-F238E27FC236}">
                <a16:creationId xmlns:a16="http://schemas.microsoft.com/office/drawing/2014/main" id="{CE777395-04D3-4AD3-A176-9BE2F116CF12}"/>
              </a:ext>
            </a:extLst>
          </p:cNvPr>
          <p:cNvSpPr txBox="1"/>
          <p:nvPr/>
        </p:nvSpPr>
        <p:spPr>
          <a:xfrm>
            <a:off x="5076291" y="4461893"/>
            <a:ext cx="30226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指导教师 ：高乐天</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335" y="1586524"/>
            <a:ext cx="2017330" cy="696246"/>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409" y="441810"/>
            <a:ext cx="983182" cy="983182"/>
          </a:xfrm>
          <a:prstGeom prst="rect">
            <a:avLst/>
          </a:prstGeom>
        </p:spPr>
      </p:pic>
    </p:spTree>
    <p:extLst>
      <p:ext uri="{BB962C8B-B14F-4D97-AF65-F5344CB8AC3E}">
        <p14:creationId xmlns:p14="http://schemas.microsoft.com/office/powerpoint/2010/main" val="650539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DC07FB5-9CC4-48F2-A879-E801494520F5}"/>
              </a:ext>
            </a:extLst>
          </p:cNvPr>
          <p:cNvSpPr/>
          <p:nvPr/>
        </p:nvSpPr>
        <p:spPr>
          <a:xfrm>
            <a:off x="-22934" y="0"/>
            <a:ext cx="4680659" cy="685800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文本框 6">
            <a:extLst>
              <a:ext uri="{FF2B5EF4-FFF2-40B4-BE49-F238E27FC236}">
                <a16:creationId xmlns:a16="http://schemas.microsoft.com/office/drawing/2014/main" id="{31B582A2-E1BA-428A-9E48-3D475D1DDB23}"/>
              </a:ext>
            </a:extLst>
          </p:cNvPr>
          <p:cNvSpPr txBox="1"/>
          <p:nvPr/>
        </p:nvSpPr>
        <p:spPr>
          <a:xfrm>
            <a:off x="6290327" y="1219226"/>
            <a:ext cx="306202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b="1" noProof="0"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C</a:t>
            </a:r>
            <a:r>
              <a:rPr kumimoji="0" lang="en-US" altLang="zh-CN" sz="36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ONTENTS</a:t>
            </a:r>
            <a:endParaRPr kumimoji="0" lang="zh-CN" altLang="en-US" sz="36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a:extLst>
              <a:ext uri="{FF2B5EF4-FFF2-40B4-BE49-F238E27FC236}">
                <a16:creationId xmlns:a16="http://schemas.microsoft.com/office/drawing/2014/main" id="{47EDAF44-FC6E-471F-B579-EFFBBFD543B4}"/>
              </a:ext>
            </a:extLst>
          </p:cNvPr>
          <p:cNvGrpSpPr/>
          <p:nvPr/>
        </p:nvGrpSpPr>
        <p:grpSpPr>
          <a:xfrm>
            <a:off x="6290327" y="2411278"/>
            <a:ext cx="2910894" cy="584775"/>
            <a:chOff x="6588037" y="2227220"/>
            <a:chExt cx="2910894" cy="584775"/>
          </a:xfrm>
        </p:grpSpPr>
        <p:grpSp>
          <p:nvGrpSpPr>
            <p:cNvPr id="10" name="组合 9">
              <a:extLst>
                <a:ext uri="{FF2B5EF4-FFF2-40B4-BE49-F238E27FC236}">
                  <a16:creationId xmlns:a16="http://schemas.microsoft.com/office/drawing/2014/main" id="{7FC18541-1EDC-4A4F-BB66-D4888DCFB88C}"/>
                </a:ext>
              </a:extLst>
            </p:cNvPr>
            <p:cNvGrpSpPr/>
            <p:nvPr/>
          </p:nvGrpSpPr>
          <p:grpSpPr>
            <a:xfrm>
              <a:off x="6588037" y="2227220"/>
              <a:ext cx="2910894" cy="584775"/>
              <a:chOff x="6588037" y="2227220"/>
              <a:chExt cx="2910894" cy="584775"/>
            </a:xfrm>
          </p:grpSpPr>
          <p:sp>
            <p:nvSpPr>
              <p:cNvPr id="8" name="文本框 7">
                <a:extLst>
                  <a:ext uri="{FF2B5EF4-FFF2-40B4-BE49-F238E27FC236}">
                    <a16:creationId xmlns:a16="http://schemas.microsoft.com/office/drawing/2014/main" id="{27F7056A-74B0-40C5-ADE6-8FFD207D247D}"/>
                  </a:ext>
                </a:extLst>
              </p:cNvPr>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2DE54445-99F6-41A4-BB92-77DE17BA2779}"/>
                  </a:ext>
                </a:extLst>
              </p:cNvPr>
              <p:cNvSpPr/>
              <p:nvPr/>
            </p:nvSpPr>
            <p:spPr>
              <a:xfrm>
                <a:off x="7467606" y="2278143"/>
                <a:ext cx="2031325"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a:t>
                </a: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内容介绍</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8" name="直接连接符 17">
              <a:extLst>
                <a:ext uri="{FF2B5EF4-FFF2-40B4-BE49-F238E27FC236}">
                  <a16:creationId xmlns:a16="http://schemas.microsoft.com/office/drawing/2014/main" id="{8B9B0397-BFC7-4025-8F36-1A3071A01873}"/>
                </a:ext>
              </a:extLst>
            </p:cNvPr>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6DEE4682-1DDF-47C9-B4B7-A1D195B03673}"/>
              </a:ext>
            </a:extLst>
          </p:cNvPr>
          <p:cNvGrpSpPr/>
          <p:nvPr/>
        </p:nvGrpSpPr>
        <p:grpSpPr>
          <a:xfrm>
            <a:off x="6290327" y="3265517"/>
            <a:ext cx="2910894" cy="584775"/>
            <a:chOff x="6588037" y="2227220"/>
            <a:chExt cx="2910894" cy="584775"/>
          </a:xfrm>
        </p:grpSpPr>
        <p:grpSp>
          <p:nvGrpSpPr>
            <p:cNvPr id="22" name="组合 21">
              <a:extLst>
                <a:ext uri="{FF2B5EF4-FFF2-40B4-BE49-F238E27FC236}">
                  <a16:creationId xmlns:a16="http://schemas.microsoft.com/office/drawing/2014/main" id="{DE15DE0C-C5BF-4F51-9C05-D721DA2CA45A}"/>
                </a:ext>
              </a:extLst>
            </p:cNvPr>
            <p:cNvGrpSpPr/>
            <p:nvPr/>
          </p:nvGrpSpPr>
          <p:grpSpPr>
            <a:xfrm>
              <a:off x="6588037" y="2227220"/>
              <a:ext cx="2910894" cy="584775"/>
              <a:chOff x="6588037" y="2227220"/>
              <a:chExt cx="2910894" cy="584775"/>
            </a:xfrm>
          </p:grpSpPr>
          <p:sp>
            <p:nvSpPr>
              <p:cNvPr id="24" name="文本框 23">
                <a:extLst>
                  <a:ext uri="{FF2B5EF4-FFF2-40B4-BE49-F238E27FC236}">
                    <a16:creationId xmlns:a16="http://schemas.microsoft.com/office/drawing/2014/main" id="{373BDF19-4629-4034-9C45-D76A46D4A6F1}"/>
                  </a:ext>
                </a:extLst>
              </p:cNvPr>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a:extLst>
                  <a:ext uri="{FF2B5EF4-FFF2-40B4-BE49-F238E27FC236}">
                    <a16:creationId xmlns:a16="http://schemas.microsoft.com/office/drawing/2014/main" id="{19B6583D-65F5-4330-9E1C-25250315BB73}"/>
                  </a:ext>
                </a:extLst>
              </p:cNvPr>
              <p:cNvSpPr/>
              <p:nvPr/>
            </p:nvSpPr>
            <p:spPr>
              <a:xfrm>
                <a:off x="7467606" y="2278143"/>
                <a:ext cx="2031325"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中期工作进展</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3" name="直接连接符 22">
              <a:extLst>
                <a:ext uri="{FF2B5EF4-FFF2-40B4-BE49-F238E27FC236}">
                  <a16:creationId xmlns:a16="http://schemas.microsoft.com/office/drawing/2014/main" id="{E3B5E786-7DCC-4D63-812D-DFD0F6CB7E57}"/>
                </a:ext>
              </a:extLst>
            </p:cNvPr>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a:extLst>
              <a:ext uri="{FF2B5EF4-FFF2-40B4-BE49-F238E27FC236}">
                <a16:creationId xmlns:a16="http://schemas.microsoft.com/office/drawing/2014/main" id="{7D2C984D-3E94-4D84-8AB9-B4EB276C630B}"/>
              </a:ext>
            </a:extLst>
          </p:cNvPr>
          <p:cNvGrpSpPr/>
          <p:nvPr/>
        </p:nvGrpSpPr>
        <p:grpSpPr>
          <a:xfrm>
            <a:off x="6290327" y="4098492"/>
            <a:ext cx="3218671" cy="584775"/>
            <a:chOff x="6588037" y="2227220"/>
            <a:chExt cx="3218671" cy="584775"/>
          </a:xfrm>
        </p:grpSpPr>
        <p:grpSp>
          <p:nvGrpSpPr>
            <p:cNvPr id="27" name="组合 26">
              <a:extLst>
                <a:ext uri="{FF2B5EF4-FFF2-40B4-BE49-F238E27FC236}">
                  <a16:creationId xmlns:a16="http://schemas.microsoft.com/office/drawing/2014/main" id="{CE1F2623-C372-4252-ACE2-3AC28EC4490E}"/>
                </a:ext>
              </a:extLst>
            </p:cNvPr>
            <p:cNvGrpSpPr/>
            <p:nvPr/>
          </p:nvGrpSpPr>
          <p:grpSpPr>
            <a:xfrm>
              <a:off x="6588037" y="2227220"/>
              <a:ext cx="3218671" cy="584775"/>
              <a:chOff x="6588037" y="2227220"/>
              <a:chExt cx="3218671" cy="584775"/>
            </a:xfrm>
          </p:grpSpPr>
          <p:sp>
            <p:nvSpPr>
              <p:cNvPr id="29" name="文本框 28">
                <a:extLst>
                  <a:ext uri="{FF2B5EF4-FFF2-40B4-BE49-F238E27FC236}">
                    <a16:creationId xmlns:a16="http://schemas.microsoft.com/office/drawing/2014/main" id="{71DE4362-D07F-477E-AC41-341A241EEBA6}"/>
                  </a:ext>
                </a:extLst>
              </p:cNvPr>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a:extLst>
                  <a:ext uri="{FF2B5EF4-FFF2-40B4-BE49-F238E27FC236}">
                    <a16:creationId xmlns:a16="http://schemas.microsoft.com/office/drawing/2014/main" id="{3292BE4C-C036-44B3-9CAB-D42BB67D15B3}"/>
                  </a:ext>
                </a:extLst>
              </p:cNvPr>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存在问题与困难</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8" name="直接连接符 27">
              <a:extLst>
                <a:ext uri="{FF2B5EF4-FFF2-40B4-BE49-F238E27FC236}">
                  <a16:creationId xmlns:a16="http://schemas.microsoft.com/office/drawing/2014/main" id="{E6B2F5F7-1CF7-4640-A753-0092859B3BE6}"/>
                </a:ext>
              </a:extLst>
            </p:cNvPr>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584B32EB-9B5E-496F-8010-BFF2ACFF54BD}"/>
              </a:ext>
            </a:extLst>
          </p:cNvPr>
          <p:cNvGrpSpPr/>
          <p:nvPr/>
        </p:nvGrpSpPr>
        <p:grpSpPr>
          <a:xfrm>
            <a:off x="6290327" y="4931467"/>
            <a:ext cx="3218671" cy="881920"/>
            <a:chOff x="6588037" y="2227220"/>
            <a:chExt cx="3218671" cy="881920"/>
          </a:xfrm>
        </p:grpSpPr>
        <p:grpSp>
          <p:nvGrpSpPr>
            <p:cNvPr id="32" name="组合 31">
              <a:extLst>
                <a:ext uri="{FF2B5EF4-FFF2-40B4-BE49-F238E27FC236}">
                  <a16:creationId xmlns:a16="http://schemas.microsoft.com/office/drawing/2014/main" id="{1A182596-2005-4575-9FCE-A1EFFA8256E2}"/>
                </a:ext>
              </a:extLst>
            </p:cNvPr>
            <p:cNvGrpSpPr/>
            <p:nvPr/>
          </p:nvGrpSpPr>
          <p:grpSpPr>
            <a:xfrm>
              <a:off x="6588037" y="2227220"/>
              <a:ext cx="3218671" cy="881920"/>
              <a:chOff x="6588037" y="2227220"/>
              <a:chExt cx="3218671" cy="881920"/>
            </a:xfrm>
          </p:grpSpPr>
          <p:sp>
            <p:nvSpPr>
              <p:cNvPr id="34" name="文本框 33">
                <a:extLst>
                  <a:ext uri="{FF2B5EF4-FFF2-40B4-BE49-F238E27FC236}">
                    <a16:creationId xmlns:a16="http://schemas.microsoft.com/office/drawing/2014/main" id="{12FD6E5A-E1F1-4755-89DA-BAB615458FBF}"/>
                  </a:ext>
                </a:extLst>
              </p:cNvPr>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kumimoji="0" lang="zh-CN" altLang="en-US" sz="3200" b="1" i="0" u="none" strike="noStrike" kern="1200" cap="none" spc="0" normalizeH="0" baseline="0" noProof="0" dirty="0">
                  <a:ln>
                    <a:noFill/>
                  </a:ln>
                  <a:solidFill>
                    <a:srgbClr val="005A8A"/>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34">
                <a:extLst>
                  <a:ext uri="{FF2B5EF4-FFF2-40B4-BE49-F238E27FC236}">
                    <a16:creationId xmlns:a16="http://schemas.microsoft.com/office/drawing/2014/main" id="{745AA64B-6D07-4BC7-A593-B6B9806417C9}"/>
                  </a:ext>
                </a:extLst>
              </p:cNvPr>
              <p:cNvSpPr/>
              <p:nvPr/>
            </p:nvSpPr>
            <p:spPr>
              <a:xfrm>
                <a:off x="7467606" y="2278143"/>
                <a:ext cx="2339102" cy="830997"/>
              </a:xfrm>
              <a:prstGeom prst="rect">
                <a:avLst/>
              </a:prstGeom>
            </p:spPr>
            <p:txBody>
              <a:bodyPr wrap="none">
                <a:spAutoFit/>
              </a:bodyPr>
              <a:lstStyle/>
              <a:p>
                <a:pPr>
                  <a:defRPr/>
                </a:pPr>
                <a:r>
                  <a:rPr lang="zh-CN" altLang="en-US" sz="24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下一步工作计划</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33" name="直接连接符 32">
              <a:extLst>
                <a:ext uri="{FF2B5EF4-FFF2-40B4-BE49-F238E27FC236}">
                  <a16:creationId xmlns:a16="http://schemas.microsoft.com/office/drawing/2014/main" id="{5864F116-E011-4EEF-8894-6A5F2416C2C9}"/>
                </a:ext>
              </a:extLst>
            </p:cNvPr>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pic>
        <p:nvPicPr>
          <p:cNvPr id="4" name="图片 3">
            <a:extLst>
              <a:ext uri="{FF2B5EF4-FFF2-40B4-BE49-F238E27FC236}">
                <a16:creationId xmlns:a16="http://schemas.microsoft.com/office/drawing/2014/main" id="{865C1287-DAC9-4447-9797-CC4BEB1D44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4895" y="2928431"/>
            <a:ext cx="1905000" cy="1905000"/>
          </a:xfrm>
          <a:prstGeom prst="rect">
            <a:avLst/>
          </a:prstGeom>
        </p:spPr>
      </p:pic>
      <p:pic>
        <p:nvPicPr>
          <p:cNvPr id="36" name="图片 35"/>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1308730" y="1865557"/>
            <a:ext cx="2017330" cy="696246"/>
          </a:xfrm>
          <a:prstGeom prst="rect">
            <a:avLst/>
          </a:prstGeom>
        </p:spPr>
      </p:pic>
      <p:pic>
        <p:nvPicPr>
          <p:cNvPr id="37" name="图片 36"/>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1825804" y="720843"/>
            <a:ext cx="983182" cy="983182"/>
          </a:xfrm>
          <a:prstGeom prst="rect">
            <a:avLst/>
          </a:prstGeom>
        </p:spPr>
      </p:pic>
    </p:spTree>
    <p:extLst>
      <p:ext uri="{BB962C8B-B14F-4D97-AF65-F5344CB8AC3E}">
        <p14:creationId xmlns:p14="http://schemas.microsoft.com/office/powerpoint/2010/main" val="2775190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500"/>
                                        <p:tgtEl>
                                          <p:spTgt spid="20"/>
                                        </p:tgtEl>
                                      </p:cBhvr>
                                    </p:animEffect>
                                  </p:childTnLst>
                                </p:cTn>
                              </p:par>
                              <p:par>
                                <p:cTn id="12" presetID="22" presetClass="entr" presetSubtype="1"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up)">
                                      <p:cBhvr>
                                        <p:cTn id="14" dur="500"/>
                                        <p:tgtEl>
                                          <p:spTgt spid="21"/>
                                        </p:tgtEl>
                                      </p:cBhvr>
                                    </p:animEffect>
                                  </p:childTnLst>
                                </p:cTn>
                              </p:par>
                              <p:par>
                                <p:cTn id="15" presetID="22" presetClass="entr" presetSubtype="1"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up)">
                                      <p:cBhvr>
                                        <p:cTn id="17" dur="500"/>
                                        <p:tgtEl>
                                          <p:spTgt spid="26"/>
                                        </p:tgtEl>
                                      </p:cBhvr>
                                    </p:animEffect>
                                  </p:childTnLst>
                                </p:cTn>
                              </p:par>
                              <p:par>
                                <p:cTn id="18" presetID="22" presetClass="entr" presetSubtype="1"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410282" y="3276025"/>
            <a:ext cx="3509294" cy="120032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研究内容介绍</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6" name="图片 5"/>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7" name="图片 6"/>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14602081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a:extLst>
              <a:ext uri="{FF2B5EF4-FFF2-40B4-BE49-F238E27FC236}">
                <a16:creationId xmlns:a16="http://schemas.microsoft.com/office/drawing/2014/main" id="{F9145711-DDCD-4C07-9FA0-103685B45B5B}"/>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a:extLst>
              <a:ext uri="{FF2B5EF4-FFF2-40B4-BE49-F238E27FC236}">
                <a16:creationId xmlns:a16="http://schemas.microsoft.com/office/drawing/2014/main" id="{17425591-3DE0-4540-85DA-212F983AAE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a:extLst>
              <a:ext uri="{FF2B5EF4-FFF2-40B4-BE49-F238E27FC236}">
                <a16:creationId xmlns:a16="http://schemas.microsoft.com/office/drawing/2014/main" id="{F03A647D-B02F-48E2-9B0D-413987C722BF}"/>
              </a:ext>
            </a:extLst>
          </p:cNvPr>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组合 5">
            <a:extLst>
              <a:ext uri="{FF2B5EF4-FFF2-40B4-BE49-F238E27FC236}">
                <a16:creationId xmlns:a16="http://schemas.microsoft.com/office/drawing/2014/main" id="{DA48051E-7274-4DC8-BB8C-D300D76DAD04}"/>
              </a:ext>
            </a:extLst>
          </p:cNvPr>
          <p:cNvGrpSpPr/>
          <p:nvPr/>
        </p:nvGrpSpPr>
        <p:grpSpPr>
          <a:xfrm>
            <a:off x="839338" y="1920155"/>
            <a:ext cx="3549058" cy="4213774"/>
            <a:chOff x="828125" y="461963"/>
            <a:chExt cx="4004429" cy="5577489"/>
          </a:xfrm>
        </p:grpSpPr>
        <p:sp>
          <p:nvSpPr>
            <p:cNvPr id="7" name="任意多边形 4">
              <a:extLst>
                <a:ext uri="{FF2B5EF4-FFF2-40B4-BE49-F238E27FC236}">
                  <a16:creationId xmlns:a16="http://schemas.microsoft.com/office/drawing/2014/main" id="{0AC69D1E-4ED4-4287-942F-F95B2AC61D69}"/>
                </a:ext>
              </a:extLst>
            </p:cNvPr>
            <p:cNvSpPr/>
            <p:nvPr/>
          </p:nvSpPr>
          <p:spPr>
            <a:xfrm>
              <a:off x="3052761" y="469197"/>
              <a:ext cx="1357312" cy="850017"/>
            </a:xfrm>
            <a:custGeom>
              <a:avLst/>
              <a:gdLst>
                <a:gd name="connsiteX0" fmla="*/ 295275 w 1295400"/>
                <a:gd name="connsiteY0" fmla="*/ 0 h 857250"/>
                <a:gd name="connsiteX1" fmla="*/ 1295400 w 1295400"/>
                <a:gd name="connsiteY1" fmla="*/ 504825 h 857250"/>
                <a:gd name="connsiteX2" fmla="*/ 847725 w 1295400"/>
                <a:gd name="connsiteY2" fmla="*/ 857250 h 857250"/>
                <a:gd name="connsiteX3" fmla="*/ 0 w 1295400"/>
                <a:gd name="connsiteY3" fmla="*/ 333375 h 857250"/>
                <a:gd name="connsiteX4" fmla="*/ 295275 w 1295400"/>
                <a:gd name="connsiteY4" fmla="*/ 0 h 85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00" h="857250">
                  <a:moveTo>
                    <a:pt x="295275" y="0"/>
                  </a:moveTo>
                  <a:lnTo>
                    <a:pt x="1295400" y="504825"/>
                  </a:lnTo>
                  <a:lnTo>
                    <a:pt x="847725" y="857250"/>
                  </a:lnTo>
                  <a:lnTo>
                    <a:pt x="0" y="333375"/>
                  </a:lnTo>
                  <a:lnTo>
                    <a:pt x="295275" y="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任意多边形 5">
              <a:extLst>
                <a:ext uri="{FF2B5EF4-FFF2-40B4-BE49-F238E27FC236}">
                  <a16:creationId xmlns:a16="http://schemas.microsoft.com/office/drawing/2014/main" id="{28039023-1B53-4076-97F8-299659D1A133}"/>
                </a:ext>
              </a:extLst>
            </p:cNvPr>
            <p:cNvSpPr/>
            <p:nvPr/>
          </p:nvSpPr>
          <p:spPr>
            <a:xfrm>
              <a:off x="1428954" y="1699698"/>
              <a:ext cx="3403600" cy="908548"/>
            </a:xfrm>
            <a:custGeom>
              <a:avLst/>
              <a:gdLst>
                <a:gd name="connsiteX0" fmla="*/ 819150 w 3403600"/>
                <a:gd name="connsiteY0" fmla="*/ 0 h 889000"/>
                <a:gd name="connsiteX1" fmla="*/ 3403600 w 3403600"/>
                <a:gd name="connsiteY1" fmla="*/ 330200 h 889000"/>
                <a:gd name="connsiteX2" fmla="*/ 2641600 w 3403600"/>
                <a:gd name="connsiteY2" fmla="*/ 812800 h 889000"/>
                <a:gd name="connsiteX3" fmla="*/ 0 w 3403600"/>
                <a:gd name="connsiteY3" fmla="*/ 889000 h 889000"/>
                <a:gd name="connsiteX4" fmla="*/ 819150 w 3403600"/>
                <a:gd name="connsiteY4" fmla="*/ 0 h 88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3600" h="889000">
                  <a:moveTo>
                    <a:pt x="819150" y="0"/>
                  </a:moveTo>
                  <a:lnTo>
                    <a:pt x="3403600" y="330200"/>
                  </a:lnTo>
                  <a:lnTo>
                    <a:pt x="2641600" y="812800"/>
                  </a:lnTo>
                  <a:lnTo>
                    <a:pt x="0" y="889000"/>
                  </a:lnTo>
                  <a:lnTo>
                    <a:pt x="819150" y="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任意多边形 6">
              <a:extLst>
                <a:ext uri="{FF2B5EF4-FFF2-40B4-BE49-F238E27FC236}">
                  <a16:creationId xmlns:a16="http://schemas.microsoft.com/office/drawing/2014/main" id="{EBBF3585-4314-4004-A9AC-EB7666D05E1D}"/>
                </a:ext>
              </a:extLst>
            </p:cNvPr>
            <p:cNvSpPr/>
            <p:nvPr/>
          </p:nvSpPr>
          <p:spPr>
            <a:xfrm>
              <a:off x="1681163" y="931348"/>
              <a:ext cx="3145041" cy="2349500"/>
            </a:xfrm>
            <a:custGeom>
              <a:avLst/>
              <a:gdLst>
                <a:gd name="connsiteX0" fmla="*/ 2711450 w 3136900"/>
                <a:gd name="connsiteY0" fmla="*/ 0 h 2343150"/>
                <a:gd name="connsiteX1" fmla="*/ 3136900 w 3136900"/>
                <a:gd name="connsiteY1" fmla="*/ 920750 h 2343150"/>
                <a:gd name="connsiteX2" fmla="*/ 381000 w 3136900"/>
                <a:gd name="connsiteY2" fmla="*/ 2343150 h 2343150"/>
                <a:gd name="connsiteX3" fmla="*/ 0 w 3136900"/>
                <a:gd name="connsiteY3" fmla="*/ 2279650 h 2343150"/>
                <a:gd name="connsiteX4" fmla="*/ 2711450 w 3136900"/>
                <a:gd name="connsiteY4" fmla="*/ 0 h 234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6900" h="2343150">
                  <a:moveTo>
                    <a:pt x="2711450" y="0"/>
                  </a:moveTo>
                  <a:lnTo>
                    <a:pt x="3136900" y="920750"/>
                  </a:lnTo>
                  <a:lnTo>
                    <a:pt x="381000" y="2343150"/>
                  </a:lnTo>
                  <a:lnTo>
                    <a:pt x="0" y="2279650"/>
                  </a:lnTo>
                  <a:lnTo>
                    <a:pt x="2711450"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任意多边形 7">
              <a:extLst>
                <a:ext uri="{FF2B5EF4-FFF2-40B4-BE49-F238E27FC236}">
                  <a16:creationId xmlns:a16="http://schemas.microsoft.com/office/drawing/2014/main" id="{14063B28-D2C6-4467-A125-284F0BCF8BFB}"/>
                </a:ext>
              </a:extLst>
            </p:cNvPr>
            <p:cNvSpPr/>
            <p:nvPr/>
          </p:nvSpPr>
          <p:spPr>
            <a:xfrm>
              <a:off x="1682954" y="3204648"/>
              <a:ext cx="2533650" cy="825500"/>
            </a:xfrm>
            <a:custGeom>
              <a:avLst/>
              <a:gdLst>
                <a:gd name="connsiteX0" fmla="*/ 0 w 2533650"/>
                <a:gd name="connsiteY0" fmla="*/ 0 h 825500"/>
                <a:gd name="connsiteX1" fmla="*/ 107950 w 2533650"/>
                <a:gd name="connsiteY1" fmla="*/ 222250 h 825500"/>
                <a:gd name="connsiteX2" fmla="*/ 1898650 w 2533650"/>
                <a:gd name="connsiteY2" fmla="*/ 825500 h 825500"/>
                <a:gd name="connsiteX3" fmla="*/ 2533650 w 2533650"/>
                <a:gd name="connsiteY3" fmla="*/ 520700 h 825500"/>
                <a:gd name="connsiteX4" fmla="*/ 0 w 2533650"/>
                <a:gd name="connsiteY4" fmla="*/ 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3650" h="825500">
                  <a:moveTo>
                    <a:pt x="0" y="0"/>
                  </a:moveTo>
                  <a:lnTo>
                    <a:pt x="107950" y="222250"/>
                  </a:lnTo>
                  <a:lnTo>
                    <a:pt x="1898650" y="825500"/>
                  </a:lnTo>
                  <a:lnTo>
                    <a:pt x="2533650" y="520700"/>
                  </a:lnTo>
                  <a:lnTo>
                    <a:pt x="0" y="0"/>
                  </a:lnTo>
                  <a:close/>
                </a:path>
              </a:pathLst>
            </a:custGeom>
            <a:solidFill>
              <a:srgbClr val="005A8A"/>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任意多边形 8">
              <a:extLst>
                <a:ext uri="{FF2B5EF4-FFF2-40B4-BE49-F238E27FC236}">
                  <a16:creationId xmlns:a16="http://schemas.microsoft.com/office/drawing/2014/main" id="{3F4FAF34-207D-40C9-9F53-3B073F155311}"/>
                </a:ext>
              </a:extLst>
            </p:cNvPr>
            <p:cNvSpPr/>
            <p:nvPr/>
          </p:nvSpPr>
          <p:spPr>
            <a:xfrm>
              <a:off x="2051254" y="2029898"/>
              <a:ext cx="2774950" cy="1911350"/>
            </a:xfrm>
            <a:custGeom>
              <a:avLst/>
              <a:gdLst>
                <a:gd name="connsiteX0" fmla="*/ 2781300 w 2781300"/>
                <a:gd name="connsiteY0" fmla="*/ 0 h 1911350"/>
                <a:gd name="connsiteX1" fmla="*/ 2749550 w 2781300"/>
                <a:gd name="connsiteY1" fmla="*/ 463550 h 1911350"/>
                <a:gd name="connsiteX2" fmla="*/ 260350 w 2781300"/>
                <a:gd name="connsiteY2" fmla="*/ 1911350 h 1911350"/>
                <a:gd name="connsiteX3" fmla="*/ 0 w 2781300"/>
                <a:gd name="connsiteY3" fmla="*/ 1816100 h 1911350"/>
                <a:gd name="connsiteX4" fmla="*/ 2781300 w 2781300"/>
                <a:gd name="connsiteY4" fmla="*/ 0 h 191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300" h="1911350">
                  <a:moveTo>
                    <a:pt x="2781300" y="0"/>
                  </a:moveTo>
                  <a:lnTo>
                    <a:pt x="2749550" y="463550"/>
                  </a:lnTo>
                  <a:lnTo>
                    <a:pt x="260350" y="1911350"/>
                  </a:lnTo>
                  <a:lnTo>
                    <a:pt x="0" y="1816100"/>
                  </a:lnTo>
                  <a:lnTo>
                    <a:pt x="278130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任意多边形 9">
              <a:extLst>
                <a:ext uri="{FF2B5EF4-FFF2-40B4-BE49-F238E27FC236}">
                  <a16:creationId xmlns:a16="http://schemas.microsoft.com/office/drawing/2014/main" id="{049A6CD0-9277-45DC-A185-51F406B10393}"/>
                </a:ext>
              </a:extLst>
            </p:cNvPr>
            <p:cNvSpPr/>
            <p:nvPr/>
          </p:nvSpPr>
          <p:spPr>
            <a:xfrm>
              <a:off x="2051254" y="3826948"/>
              <a:ext cx="1898650" cy="755650"/>
            </a:xfrm>
            <a:custGeom>
              <a:avLst/>
              <a:gdLst>
                <a:gd name="connsiteX0" fmla="*/ 0 w 1898650"/>
                <a:gd name="connsiteY0" fmla="*/ 0 h 736600"/>
                <a:gd name="connsiteX1" fmla="*/ 57150 w 1898650"/>
                <a:gd name="connsiteY1" fmla="*/ 222250 h 736600"/>
                <a:gd name="connsiteX2" fmla="*/ 1441450 w 1898650"/>
                <a:gd name="connsiteY2" fmla="*/ 736600 h 736600"/>
                <a:gd name="connsiteX3" fmla="*/ 1898650 w 1898650"/>
                <a:gd name="connsiteY3" fmla="*/ 730250 h 736600"/>
                <a:gd name="connsiteX4" fmla="*/ 0 w 1898650"/>
                <a:gd name="connsiteY4" fmla="*/ 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8650" h="736600">
                  <a:moveTo>
                    <a:pt x="0" y="0"/>
                  </a:moveTo>
                  <a:lnTo>
                    <a:pt x="57150" y="222250"/>
                  </a:lnTo>
                  <a:lnTo>
                    <a:pt x="1441450" y="736600"/>
                  </a:lnTo>
                  <a:lnTo>
                    <a:pt x="1898650" y="730250"/>
                  </a:lnTo>
                  <a:lnTo>
                    <a:pt x="0" y="0"/>
                  </a:lnTo>
                  <a:close/>
                </a:path>
              </a:pathLst>
            </a:cu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10">
              <a:extLst>
                <a:ext uri="{FF2B5EF4-FFF2-40B4-BE49-F238E27FC236}">
                  <a16:creationId xmlns:a16="http://schemas.microsoft.com/office/drawing/2014/main" id="{5D3A4EE9-DAC9-40BF-8867-C6F0C42EB589}"/>
                </a:ext>
              </a:extLst>
            </p:cNvPr>
            <p:cNvSpPr/>
            <p:nvPr/>
          </p:nvSpPr>
          <p:spPr>
            <a:xfrm>
              <a:off x="2305254" y="3731698"/>
              <a:ext cx="1898650" cy="863600"/>
            </a:xfrm>
            <a:custGeom>
              <a:avLst/>
              <a:gdLst>
                <a:gd name="connsiteX0" fmla="*/ 1917700 w 1917700"/>
                <a:gd name="connsiteY0" fmla="*/ 0 h 863600"/>
                <a:gd name="connsiteX1" fmla="*/ 1790700 w 1917700"/>
                <a:gd name="connsiteY1" fmla="*/ 463550 h 863600"/>
                <a:gd name="connsiteX2" fmla="*/ 527050 w 1917700"/>
                <a:gd name="connsiteY2" fmla="*/ 857250 h 863600"/>
                <a:gd name="connsiteX3" fmla="*/ 0 w 1917700"/>
                <a:gd name="connsiteY3" fmla="*/ 863600 h 863600"/>
                <a:gd name="connsiteX4" fmla="*/ 1917700 w 1917700"/>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700" h="863600">
                  <a:moveTo>
                    <a:pt x="1917700" y="0"/>
                  </a:moveTo>
                  <a:lnTo>
                    <a:pt x="1790700" y="463550"/>
                  </a:lnTo>
                  <a:lnTo>
                    <a:pt x="527050" y="857250"/>
                  </a:lnTo>
                  <a:lnTo>
                    <a:pt x="0" y="863600"/>
                  </a:lnTo>
                  <a:lnTo>
                    <a:pt x="191770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任意多边形 11">
              <a:extLst>
                <a:ext uri="{FF2B5EF4-FFF2-40B4-BE49-F238E27FC236}">
                  <a16:creationId xmlns:a16="http://schemas.microsoft.com/office/drawing/2014/main" id="{9BFDE52D-2290-4A8E-A621-B167EB44F1C9}"/>
                </a:ext>
              </a:extLst>
            </p:cNvPr>
            <p:cNvSpPr/>
            <p:nvPr/>
          </p:nvSpPr>
          <p:spPr>
            <a:xfrm>
              <a:off x="2298904" y="4576248"/>
              <a:ext cx="1657350" cy="133350"/>
            </a:xfrm>
            <a:custGeom>
              <a:avLst/>
              <a:gdLst>
                <a:gd name="connsiteX0" fmla="*/ 107950 w 1657350"/>
                <a:gd name="connsiteY0" fmla="*/ 133350 h 133350"/>
                <a:gd name="connsiteX1" fmla="*/ 1549400 w 1657350"/>
                <a:gd name="connsiteY1" fmla="*/ 133350 h 133350"/>
                <a:gd name="connsiteX2" fmla="*/ 1657350 w 1657350"/>
                <a:gd name="connsiteY2" fmla="*/ 0 h 133350"/>
                <a:gd name="connsiteX3" fmla="*/ 0 w 1657350"/>
                <a:gd name="connsiteY3" fmla="*/ 12700 h 133350"/>
                <a:gd name="connsiteX4" fmla="*/ 107950 w 1657350"/>
                <a:gd name="connsiteY4" fmla="*/ 133350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0" h="133350">
                  <a:moveTo>
                    <a:pt x="107950" y="133350"/>
                  </a:moveTo>
                  <a:lnTo>
                    <a:pt x="1549400" y="133350"/>
                  </a:lnTo>
                  <a:lnTo>
                    <a:pt x="1657350" y="0"/>
                  </a:lnTo>
                  <a:lnTo>
                    <a:pt x="0" y="12700"/>
                  </a:lnTo>
                  <a:lnTo>
                    <a:pt x="107950" y="133350"/>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圆角矩形 12">
              <a:extLst>
                <a:ext uri="{FF2B5EF4-FFF2-40B4-BE49-F238E27FC236}">
                  <a16:creationId xmlns:a16="http://schemas.microsoft.com/office/drawing/2014/main" id="{9624991B-79B2-4989-8701-B332E1E1F366}"/>
                </a:ext>
              </a:extLst>
            </p:cNvPr>
            <p:cNvSpPr/>
            <p:nvPr/>
          </p:nvSpPr>
          <p:spPr>
            <a:xfrm>
              <a:off x="2403679" y="4855134"/>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圆角矩形 13">
              <a:extLst>
                <a:ext uri="{FF2B5EF4-FFF2-40B4-BE49-F238E27FC236}">
                  <a16:creationId xmlns:a16="http://schemas.microsoft.com/office/drawing/2014/main" id="{A5091833-C6B5-428A-AE21-92ECCDCC3752}"/>
                </a:ext>
              </a:extLst>
            </p:cNvPr>
            <p:cNvSpPr/>
            <p:nvPr/>
          </p:nvSpPr>
          <p:spPr>
            <a:xfrm>
              <a:off x="2403679" y="5060201"/>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圆角矩形 14">
              <a:extLst>
                <a:ext uri="{FF2B5EF4-FFF2-40B4-BE49-F238E27FC236}">
                  <a16:creationId xmlns:a16="http://schemas.microsoft.com/office/drawing/2014/main" id="{3A14CAEF-C33F-4B35-8D74-B4CA9A42D229}"/>
                </a:ext>
              </a:extLst>
            </p:cNvPr>
            <p:cNvSpPr/>
            <p:nvPr/>
          </p:nvSpPr>
          <p:spPr>
            <a:xfrm>
              <a:off x="2403679" y="5265268"/>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圆角矩形 15">
              <a:extLst>
                <a:ext uri="{FF2B5EF4-FFF2-40B4-BE49-F238E27FC236}">
                  <a16:creationId xmlns:a16="http://schemas.microsoft.com/office/drawing/2014/main" id="{48B979D9-9AB3-44EA-8044-804CA911FC66}"/>
                </a:ext>
              </a:extLst>
            </p:cNvPr>
            <p:cNvSpPr/>
            <p:nvPr/>
          </p:nvSpPr>
          <p:spPr>
            <a:xfrm>
              <a:off x="2403679" y="5470335"/>
              <a:ext cx="1447800" cy="119063"/>
            </a:xfrm>
            <a:prstGeom prst="round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任意多边形 16">
              <a:extLst>
                <a:ext uri="{FF2B5EF4-FFF2-40B4-BE49-F238E27FC236}">
                  <a16:creationId xmlns:a16="http://schemas.microsoft.com/office/drawing/2014/main" id="{D32A0049-771F-4C4E-9168-0D543F38839D}"/>
                </a:ext>
              </a:extLst>
            </p:cNvPr>
            <p:cNvSpPr/>
            <p:nvPr/>
          </p:nvSpPr>
          <p:spPr>
            <a:xfrm>
              <a:off x="2403679" y="5645666"/>
              <a:ext cx="1447800" cy="393786"/>
            </a:xfrm>
            <a:custGeom>
              <a:avLst/>
              <a:gdLst>
                <a:gd name="connsiteX0" fmla="*/ 271858 w 1447800"/>
                <a:gd name="connsiteY0" fmla="*/ 259555 h 393786"/>
                <a:gd name="connsiteX1" fmla="*/ 1166414 w 1447800"/>
                <a:gd name="connsiteY1" fmla="*/ 259555 h 393786"/>
                <a:gd name="connsiteX2" fmla="*/ 1166414 w 1447800"/>
                <a:gd name="connsiteY2" fmla="*/ 357913 h 393786"/>
                <a:gd name="connsiteX3" fmla="*/ 1130541 w 1447800"/>
                <a:gd name="connsiteY3" fmla="*/ 393786 h 393786"/>
                <a:gd name="connsiteX4" fmla="*/ 307731 w 1447800"/>
                <a:gd name="connsiteY4" fmla="*/ 393786 h 393786"/>
                <a:gd name="connsiteX5" fmla="*/ 271858 w 1447800"/>
                <a:gd name="connsiteY5" fmla="*/ 357913 h 393786"/>
                <a:gd name="connsiteX6" fmla="*/ 36806 w 1447800"/>
                <a:gd name="connsiteY6" fmla="*/ 81519 h 393786"/>
                <a:gd name="connsiteX7" fmla="*/ 1410994 w 1447800"/>
                <a:gd name="connsiteY7" fmla="*/ 81519 h 393786"/>
                <a:gd name="connsiteX8" fmla="*/ 1250225 w 1447800"/>
                <a:gd name="connsiteY8" fmla="*/ 259555 h 393786"/>
                <a:gd name="connsiteX9" fmla="*/ 1166414 w 1447800"/>
                <a:gd name="connsiteY9" fmla="*/ 259555 h 393786"/>
                <a:gd name="connsiteX10" fmla="*/ 1166414 w 1447800"/>
                <a:gd name="connsiteY10" fmla="*/ 214420 h 393786"/>
                <a:gd name="connsiteX11" fmla="*/ 1130541 w 1447800"/>
                <a:gd name="connsiteY11" fmla="*/ 178547 h 393786"/>
                <a:gd name="connsiteX12" fmla="*/ 307731 w 1447800"/>
                <a:gd name="connsiteY12" fmla="*/ 178547 h 393786"/>
                <a:gd name="connsiteX13" fmla="*/ 271858 w 1447800"/>
                <a:gd name="connsiteY13" fmla="*/ 214420 h 393786"/>
                <a:gd name="connsiteX14" fmla="*/ 271858 w 1447800"/>
                <a:gd name="connsiteY14" fmla="*/ 259555 h 393786"/>
                <a:gd name="connsiteX15" fmla="*/ 197575 w 1447800"/>
                <a:gd name="connsiteY15" fmla="*/ 259555 h 393786"/>
                <a:gd name="connsiteX16" fmla="*/ 1447800 w 1447800"/>
                <a:gd name="connsiteY16" fmla="*/ 40759 h 393786"/>
                <a:gd name="connsiteX17" fmla="*/ 1447800 w 1447800"/>
                <a:gd name="connsiteY17" fmla="*/ 67932 h 393786"/>
                <a:gd name="connsiteX18" fmla="*/ 1434213 w 1447800"/>
                <a:gd name="connsiteY18" fmla="*/ 81519 h 393786"/>
                <a:gd name="connsiteX19" fmla="*/ 1410994 w 1447800"/>
                <a:gd name="connsiteY19" fmla="*/ 81519 h 393786"/>
                <a:gd name="connsiteX20" fmla="*/ 0 w 1447800"/>
                <a:gd name="connsiteY20" fmla="*/ 40759 h 393786"/>
                <a:gd name="connsiteX21" fmla="*/ 36806 w 1447800"/>
                <a:gd name="connsiteY21" fmla="*/ 81519 h 393786"/>
                <a:gd name="connsiteX22" fmla="*/ 13587 w 1447800"/>
                <a:gd name="connsiteY22" fmla="*/ 81519 h 393786"/>
                <a:gd name="connsiteX23" fmla="*/ 0 w 1447800"/>
                <a:gd name="connsiteY23" fmla="*/ 67932 h 393786"/>
                <a:gd name="connsiteX24" fmla="*/ 13587 w 1447800"/>
                <a:gd name="connsiteY24" fmla="*/ 0 h 393786"/>
                <a:gd name="connsiteX25" fmla="*/ 1434213 w 1447800"/>
                <a:gd name="connsiteY25" fmla="*/ 0 h 393786"/>
                <a:gd name="connsiteX26" fmla="*/ 1447800 w 1447800"/>
                <a:gd name="connsiteY26" fmla="*/ 13587 h 393786"/>
                <a:gd name="connsiteX27" fmla="*/ 1447800 w 1447800"/>
                <a:gd name="connsiteY27" fmla="*/ 40759 h 393786"/>
                <a:gd name="connsiteX28" fmla="*/ 0 w 1447800"/>
                <a:gd name="connsiteY28" fmla="*/ 40759 h 393786"/>
                <a:gd name="connsiteX29" fmla="*/ 0 w 1447800"/>
                <a:gd name="connsiteY29" fmla="*/ 13587 h 393786"/>
                <a:gd name="connsiteX30" fmla="*/ 13587 w 1447800"/>
                <a:gd name="connsiteY30" fmla="*/ 0 h 39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47800" h="393786">
                  <a:moveTo>
                    <a:pt x="271858" y="259555"/>
                  </a:moveTo>
                  <a:lnTo>
                    <a:pt x="1166414" y="259555"/>
                  </a:lnTo>
                  <a:lnTo>
                    <a:pt x="1166414" y="357913"/>
                  </a:lnTo>
                  <a:cubicBezTo>
                    <a:pt x="1166414" y="377725"/>
                    <a:pt x="1150353" y="393786"/>
                    <a:pt x="1130541" y="393786"/>
                  </a:cubicBezTo>
                  <a:lnTo>
                    <a:pt x="307731" y="393786"/>
                  </a:lnTo>
                  <a:cubicBezTo>
                    <a:pt x="287919" y="393786"/>
                    <a:pt x="271858" y="377725"/>
                    <a:pt x="271858" y="357913"/>
                  </a:cubicBezTo>
                  <a:close/>
                  <a:moveTo>
                    <a:pt x="36806" y="81519"/>
                  </a:moveTo>
                  <a:lnTo>
                    <a:pt x="1410994" y="81519"/>
                  </a:lnTo>
                  <a:lnTo>
                    <a:pt x="1250225" y="259555"/>
                  </a:lnTo>
                  <a:lnTo>
                    <a:pt x="1166414" y="259555"/>
                  </a:lnTo>
                  <a:lnTo>
                    <a:pt x="1166414" y="214420"/>
                  </a:lnTo>
                  <a:cubicBezTo>
                    <a:pt x="1166414" y="194608"/>
                    <a:pt x="1150353" y="178547"/>
                    <a:pt x="1130541" y="178547"/>
                  </a:cubicBezTo>
                  <a:lnTo>
                    <a:pt x="307731" y="178547"/>
                  </a:lnTo>
                  <a:cubicBezTo>
                    <a:pt x="287919" y="178547"/>
                    <a:pt x="271858" y="194608"/>
                    <a:pt x="271858" y="214420"/>
                  </a:cubicBezTo>
                  <a:lnTo>
                    <a:pt x="271858" y="259555"/>
                  </a:lnTo>
                  <a:lnTo>
                    <a:pt x="197575" y="259555"/>
                  </a:lnTo>
                  <a:close/>
                  <a:moveTo>
                    <a:pt x="1447800" y="40759"/>
                  </a:moveTo>
                  <a:lnTo>
                    <a:pt x="1447800" y="67932"/>
                  </a:lnTo>
                  <a:cubicBezTo>
                    <a:pt x="1447800" y="75436"/>
                    <a:pt x="1441717" y="81519"/>
                    <a:pt x="1434213" y="81519"/>
                  </a:cubicBezTo>
                  <a:lnTo>
                    <a:pt x="1410994" y="81519"/>
                  </a:lnTo>
                  <a:close/>
                  <a:moveTo>
                    <a:pt x="0" y="40759"/>
                  </a:moveTo>
                  <a:lnTo>
                    <a:pt x="36806" y="81519"/>
                  </a:lnTo>
                  <a:lnTo>
                    <a:pt x="13587" y="81519"/>
                  </a:lnTo>
                  <a:cubicBezTo>
                    <a:pt x="6083" y="81519"/>
                    <a:pt x="0" y="75436"/>
                    <a:pt x="0" y="67932"/>
                  </a:cubicBezTo>
                  <a:close/>
                  <a:moveTo>
                    <a:pt x="13587" y="0"/>
                  </a:moveTo>
                  <a:lnTo>
                    <a:pt x="1434213" y="0"/>
                  </a:lnTo>
                  <a:cubicBezTo>
                    <a:pt x="1441717" y="0"/>
                    <a:pt x="1447800" y="6083"/>
                    <a:pt x="1447800" y="13587"/>
                  </a:cubicBezTo>
                  <a:lnTo>
                    <a:pt x="1447800" y="40759"/>
                  </a:lnTo>
                  <a:lnTo>
                    <a:pt x="0" y="40759"/>
                  </a:lnTo>
                  <a:lnTo>
                    <a:pt x="0" y="13587"/>
                  </a:lnTo>
                  <a:cubicBezTo>
                    <a:pt x="0" y="6083"/>
                    <a:pt x="6083" y="0"/>
                    <a:pt x="13587" y="0"/>
                  </a:cubicBezTo>
                  <a:close/>
                </a:path>
              </a:pathLst>
            </a:cu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梯形 19">
              <a:extLst>
                <a:ext uri="{FF2B5EF4-FFF2-40B4-BE49-F238E27FC236}">
                  <a16:creationId xmlns:a16="http://schemas.microsoft.com/office/drawing/2014/main" id="{F502A0D4-BB85-4618-AEF8-034439312A79}"/>
                </a:ext>
              </a:extLst>
            </p:cNvPr>
            <p:cNvSpPr/>
            <p:nvPr/>
          </p:nvSpPr>
          <p:spPr>
            <a:xfrm rot="19013191">
              <a:off x="828125" y="877017"/>
              <a:ext cx="2652572" cy="776999"/>
            </a:xfrm>
            <a:prstGeom prst="trapezoid">
              <a:avLst>
                <a:gd name="adj" fmla="val 95892"/>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任意多边形 18">
              <a:extLst>
                <a:ext uri="{FF2B5EF4-FFF2-40B4-BE49-F238E27FC236}">
                  <a16:creationId xmlns:a16="http://schemas.microsoft.com/office/drawing/2014/main" id="{7F085488-D42C-4A8F-B56F-1AD4E8C76EA2}"/>
                </a:ext>
              </a:extLst>
            </p:cNvPr>
            <p:cNvSpPr/>
            <p:nvPr/>
          </p:nvSpPr>
          <p:spPr>
            <a:xfrm>
              <a:off x="3319463" y="461963"/>
              <a:ext cx="1081087" cy="528637"/>
            </a:xfrm>
            <a:custGeom>
              <a:avLst/>
              <a:gdLst>
                <a:gd name="connsiteX0" fmla="*/ 1081087 w 1081087"/>
                <a:gd name="connsiteY0" fmla="*/ 471487 h 528637"/>
                <a:gd name="connsiteX1" fmla="*/ 109537 w 1081087"/>
                <a:gd name="connsiteY1" fmla="*/ 0 h 528637"/>
                <a:gd name="connsiteX2" fmla="*/ 0 w 1081087"/>
                <a:gd name="connsiteY2" fmla="*/ 109537 h 528637"/>
                <a:gd name="connsiteX3" fmla="*/ 966787 w 1081087"/>
                <a:gd name="connsiteY3" fmla="*/ 509587 h 528637"/>
                <a:gd name="connsiteX4" fmla="*/ 1009650 w 1081087"/>
                <a:gd name="connsiteY4" fmla="*/ 528637 h 528637"/>
                <a:gd name="connsiteX5" fmla="*/ 1081087 w 1081087"/>
                <a:gd name="connsiteY5" fmla="*/ 47148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1087" h="528637">
                  <a:moveTo>
                    <a:pt x="1081087" y="471487"/>
                  </a:moveTo>
                  <a:lnTo>
                    <a:pt x="109537" y="0"/>
                  </a:lnTo>
                  <a:lnTo>
                    <a:pt x="0" y="109537"/>
                  </a:lnTo>
                  <a:lnTo>
                    <a:pt x="966787" y="509587"/>
                  </a:lnTo>
                  <a:lnTo>
                    <a:pt x="1009650" y="528637"/>
                  </a:lnTo>
                  <a:lnTo>
                    <a:pt x="1081087" y="471487"/>
                  </a:lnTo>
                  <a:close/>
                </a:path>
              </a:pathLst>
            </a:custGeom>
            <a:solidFill>
              <a:srgbClr val="006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任意多边形 19">
              <a:extLst>
                <a:ext uri="{FF2B5EF4-FFF2-40B4-BE49-F238E27FC236}">
                  <a16:creationId xmlns:a16="http://schemas.microsoft.com/office/drawing/2014/main" id="{836D3BE7-D9B3-4486-9568-7CEA3F4EF40F}"/>
                </a:ext>
              </a:extLst>
            </p:cNvPr>
            <p:cNvSpPr/>
            <p:nvPr/>
          </p:nvSpPr>
          <p:spPr>
            <a:xfrm>
              <a:off x="1414463" y="1938338"/>
              <a:ext cx="504825" cy="676275"/>
            </a:xfrm>
            <a:custGeom>
              <a:avLst/>
              <a:gdLst>
                <a:gd name="connsiteX0" fmla="*/ 438150 w 504825"/>
                <a:gd name="connsiteY0" fmla="*/ 0 h 676275"/>
                <a:gd name="connsiteX1" fmla="*/ 0 w 504825"/>
                <a:gd name="connsiteY1" fmla="*/ 595312 h 676275"/>
                <a:gd name="connsiteX2" fmla="*/ 4762 w 504825"/>
                <a:gd name="connsiteY2" fmla="*/ 676275 h 676275"/>
                <a:gd name="connsiteX3" fmla="*/ 504825 w 504825"/>
                <a:gd name="connsiteY3" fmla="*/ 128587 h 676275"/>
                <a:gd name="connsiteX4" fmla="*/ 438150 w 504825"/>
                <a:gd name="connsiteY4" fmla="*/ 0 h 676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76275">
                  <a:moveTo>
                    <a:pt x="438150" y="0"/>
                  </a:moveTo>
                  <a:lnTo>
                    <a:pt x="0" y="595312"/>
                  </a:lnTo>
                  <a:lnTo>
                    <a:pt x="4762" y="676275"/>
                  </a:lnTo>
                  <a:lnTo>
                    <a:pt x="504825" y="128587"/>
                  </a:lnTo>
                  <a:lnTo>
                    <a:pt x="438150" y="0"/>
                  </a:lnTo>
                  <a:close/>
                </a:path>
              </a:pathLst>
            </a:cu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pic>
        <p:nvPicPr>
          <p:cNvPr id="26" name="图片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7" name="矩形 26">
            <a:extLst>
              <a:ext uri="{FF2B5EF4-FFF2-40B4-BE49-F238E27FC236}">
                <a16:creationId xmlns:a16="http://schemas.microsoft.com/office/drawing/2014/main" id="{E98A8DFF-3E4F-D513-A6CD-944177866CE3}"/>
              </a:ext>
            </a:extLst>
          </p:cNvPr>
          <p:cNvSpPr/>
          <p:nvPr/>
        </p:nvSpPr>
        <p:spPr>
          <a:xfrm>
            <a:off x="5373768" y="2061823"/>
            <a:ext cx="5561481" cy="3731278"/>
          </a:xfrm>
          <a:prstGeom prst="rect">
            <a:avLst/>
          </a:prstGeom>
        </p:spPr>
        <p:txBody>
          <a:bodyPr wrap="square">
            <a:spAutoFit/>
          </a:bodyPr>
          <a:lstStyle/>
          <a:p>
            <a:pPr>
              <a:lnSpc>
                <a:spcPct val="150000"/>
              </a:lnSpc>
            </a:pPr>
            <a:r>
              <a:rPr lang="zh-CN" altLang="en-US" sz="2000" dirty="0">
                <a:latin typeface="字魂105号-简雅黑" panose="00000500000000000000" pitchFamily="2" charset="-122"/>
                <a:ea typeface="字魂105号-简雅黑" panose="00000500000000000000" pitchFamily="2" charset="-122"/>
                <a:sym typeface="字魂105号-简雅黑" panose="00000500000000000000" pitchFamily="2" charset="-122"/>
              </a:rPr>
              <a:t>       在自动驾驶技术快速发展的当下，车辆精确的位置信息是自动驾驶系统安全、高效运行的核心要素。精准定位能够让车辆准确规划行驶路径、及时响应交通状况，极大提升自动驾驶的可靠性与安全性。目前定位系统多采用多传感器融合的方案，而不同的传感器在不同的行驶环境中具有不同的特性，传感器的信号质量对于组合系统的定位精度和鲁棒性有很大影响。</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extLst>
      <p:ext uri="{BB962C8B-B14F-4D97-AF65-F5344CB8AC3E}">
        <p14:creationId xmlns:p14="http://schemas.microsoft.com/office/powerpoint/2010/main" val="22977802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íṧlíďe">
            <a:extLst>
              <a:ext uri="{FF2B5EF4-FFF2-40B4-BE49-F238E27FC236}">
                <a16:creationId xmlns:a16="http://schemas.microsoft.com/office/drawing/2014/main" id="{CDC3C392-9079-4493-9CD6-F182C37632A0}"/>
              </a:ext>
            </a:extLst>
          </p:cNvPr>
          <p:cNvSpPr/>
          <p:nvPr/>
        </p:nvSpPr>
        <p:spPr bwMode="auto">
          <a:xfrm>
            <a:off x="8293100" y="1143496"/>
            <a:ext cx="3696949" cy="5714504"/>
          </a:xfrm>
          <a:custGeom>
            <a:avLst/>
            <a:gdLst>
              <a:gd name="T0" fmla="*/ 179 w 1208"/>
              <a:gd name="T1" fmla="*/ 1688 h 1871"/>
              <a:gd name="T2" fmla="*/ 202 w 1208"/>
              <a:gd name="T3" fmla="*/ 1722 h 1871"/>
              <a:gd name="T4" fmla="*/ 213 w 1208"/>
              <a:gd name="T5" fmla="*/ 1871 h 1871"/>
              <a:gd name="T6" fmla="*/ 1031 w 1208"/>
              <a:gd name="T7" fmla="*/ 1871 h 1871"/>
              <a:gd name="T8" fmla="*/ 1055 w 1208"/>
              <a:gd name="T9" fmla="*/ 1729 h 1871"/>
              <a:gd name="T10" fmla="*/ 1100 w 1208"/>
              <a:gd name="T11" fmla="*/ 1530 h 1871"/>
              <a:gd name="T12" fmla="*/ 1167 w 1208"/>
              <a:gd name="T13" fmla="*/ 1351 h 1871"/>
              <a:gd name="T14" fmla="*/ 1196 w 1208"/>
              <a:gd name="T15" fmla="*/ 1037 h 1871"/>
              <a:gd name="T16" fmla="*/ 1100 w 1208"/>
              <a:gd name="T17" fmla="*/ 823 h 1871"/>
              <a:gd name="T18" fmla="*/ 945 w 1208"/>
              <a:gd name="T19" fmla="*/ 690 h 1871"/>
              <a:gd name="T20" fmla="*/ 925 w 1208"/>
              <a:gd name="T21" fmla="*/ 639 h 1871"/>
              <a:gd name="T22" fmla="*/ 890 w 1208"/>
              <a:gd name="T23" fmla="*/ 576 h 1871"/>
              <a:gd name="T24" fmla="*/ 949 w 1208"/>
              <a:gd name="T25" fmla="*/ 452 h 1871"/>
              <a:gd name="T26" fmla="*/ 925 w 1208"/>
              <a:gd name="T27" fmla="*/ 121 h 1871"/>
              <a:gd name="T28" fmla="*/ 810 w 1208"/>
              <a:gd name="T29" fmla="*/ 28 h 1871"/>
              <a:gd name="T30" fmla="*/ 796 w 1208"/>
              <a:gd name="T31" fmla="*/ 24 h 1871"/>
              <a:gd name="T32" fmla="*/ 733 w 1208"/>
              <a:gd name="T33" fmla="*/ 8 h 1871"/>
              <a:gd name="T34" fmla="*/ 508 w 1208"/>
              <a:gd name="T35" fmla="*/ 56 h 1871"/>
              <a:gd name="T36" fmla="*/ 386 w 1208"/>
              <a:gd name="T37" fmla="*/ 160 h 1871"/>
              <a:gd name="T38" fmla="*/ 402 w 1208"/>
              <a:gd name="T39" fmla="*/ 190 h 1871"/>
              <a:gd name="T40" fmla="*/ 396 w 1208"/>
              <a:gd name="T41" fmla="*/ 263 h 1871"/>
              <a:gd name="T42" fmla="*/ 410 w 1208"/>
              <a:gd name="T43" fmla="*/ 426 h 1871"/>
              <a:gd name="T44" fmla="*/ 386 w 1208"/>
              <a:gd name="T45" fmla="*/ 527 h 1871"/>
              <a:gd name="T46" fmla="*/ 418 w 1208"/>
              <a:gd name="T47" fmla="*/ 588 h 1871"/>
              <a:gd name="T48" fmla="*/ 226 w 1208"/>
              <a:gd name="T49" fmla="*/ 673 h 1871"/>
              <a:gd name="T50" fmla="*/ 153 w 1208"/>
              <a:gd name="T51" fmla="*/ 963 h 1871"/>
              <a:gd name="T52" fmla="*/ 120 w 1208"/>
              <a:gd name="T53" fmla="*/ 1022 h 1871"/>
              <a:gd name="T54" fmla="*/ 106 w 1208"/>
              <a:gd name="T55" fmla="*/ 1057 h 1871"/>
              <a:gd name="T56" fmla="*/ 6 w 1208"/>
              <a:gd name="T57" fmla="*/ 1371 h 1871"/>
              <a:gd name="T58" fmla="*/ 175 w 1208"/>
              <a:gd name="T59" fmla="*/ 1664 h 1871"/>
              <a:gd name="T60" fmla="*/ 326 w 1208"/>
              <a:gd name="T61" fmla="*/ 888 h 1871"/>
              <a:gd name="T62" fmla="*/ 373 w 1208"/>
              <a:gd name="T63" fmla="*/ 811 h 1871"/>
              <a:gd name="T64" fmla="*/ 441 w 1208"/>
              <a:gd name="T65" fmla="*/ 773 h 1871"/>
              <a:gd name="T66" fmla="*/ 484 w 1208"/>
              <a:gd name="T67" fmla="*/ 746 h 1871"/>
              <a:gd name="T68" fmla="*/ 526 w 1208"/>
              <a:gd name="T69" fmla="*/ 718 h 1871"/>
              <a:gd name="T70" fmla="*/ 569 w 1208"/>
              <a:gd name="T71" fmla="*/ 738 h 1871"/>
              <a:gd name="T72" fmla="*/ 453 w 1208"/>
              <a:gd name="T73" fmla="*/ 813 h 1871"/>
              <a:gd name="T74" fmla="*/ 341 w 1208"/>
              <a:gd name="T75" fmla="*/ 911 h 1871"/>
              <a:gd name="T76" fmla="*/ 300 w 1208"/>
              <a:gd name="T77" fmla="*/ 998 h 1871"/>
              <a:gd name="T78" fmla="*/ 261 w 1208"/>
              <a:gd name="T79" fmla="*/ 1014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08" h="1871">
                <a:moveTo>
                  <a:pt x="175" y="1664"/>
                </a:moveTo>
                <a:cubicBezTo>
                  <a:pt x="179" y="1668"/>
                  <a:pt x="181" y="1678"/>
                  <a:pt x="179" y="1688"/>
                </a:cubicBezTo>
                <a:cubicBezTo>
                  <a:pt x="177" y="1696"/>
                  <a:pt x="177" y="1704"/>
                  <a:pt x="175" y="1716"/>
                </a:cubicBezTo>
                <a:cubicBezTo>
                  <a:pt x="181" y="1716"/>
                  <a:pt x="190" y="1720"/>
                  <a:pt x="202" y="1722"/>
                </a:cubicBezTo>
                <a:cubicBezTo>
                  <a:pt x="212" y="1725"/>
                  <a:pt x="220" y="1727"/>
                  <a:pt x="226" y="1727"/>
                </a:cubicBezTo>
                <a:cubicBezTo>
                  <a:pt x="224" y="1758"/>
                  <a:pt x="220" y="1806"/>
                  <a:pt x="213" y="1871"/>
                </a:cubicBezTo>
                <a:cubicBezTo>
                  <a:pt x="1031" y="1871"/>
                  <a:pt x="1031" y="1871"/>
                  <a:pt x="1031" y="1871"/>
                </a:cubicBezTo>
                <a:cubicBezTo>
                  <a:pt x="1031" y="1871"/>
                  <a:pt x="1031" y="1871"/>
                  <a:pt x="1031" y="1871"/>
                </a:cubicBezTo>
                <a:cubicBezTo>
                  <a:pt x="1035" y="1856"/>
                  <a:pt x="1039" y="1846"/>
                  <a:pt x="1041" y="1842"/>
                </a:cubicBezTo>
                <a:cubicBezTo>
                  <a:pt x="1045" y="1818"/>
                  <a:pt x="1051" y="1781"/>
                  <a:pt x="1055" y="1729"/>
                </a:cubicBezTo>
                <a:cubicBezTo>
                  <a:pt x="1059" y="1676"/>
                  <a:pt x="1065" y="1639"/>
                  <a:pt x="1071" y="1615"/>
                </a:cubicBezTo>
                <a:cubicBezTo>
                  <a:pt x="1076" y="1593"/>
                  <a:pt x="1086" y="1564"/>
                  <a:pt x="1100" y="1530"/>
                </a:cubicBezTo>
                <a:cubicBezTo>
                  <a:pt x="1123" y="1471"/>
                  <a:pt x="1135" y="1440"/>
                  <a:pt x="1135" y="1440"/>
                </a:cubicBezTo>
                <a:cubicBezTo>
                  <a:pt x="1155" y="1382"/>
                  <a:pt x="1165" y="1351"/>
                  <a:pt x="1167" y="1351"/>
                </a:cubicBezTo>
                <a:cubicBezTo>
                  <a:pt x="1180" y="1319"/>
                  <a:pt x="1194" y="1294"/>
                  <a:pt x="1208" y="1278"/>
                </a:cubicBezTo>
                <a:cubicBezTo>
                  <a:pt x="1206" y="1164"/>
                  <a:pt x="1202" y="1083"/>
                  <a:pt x="1196" y="1037"/>
                </a:cubicBezTo>
                <a:cubicBezTo>
                  <a:pt x="1188" y="957"/>
                  <a:pt x="1167" y="899"/>
                  <a:pt x="1135" y="856"/>
                </a:cubicBezTo>
                <a:cubicBezTo>
                  <a:pt x="1129" y="848"/>
                  <a:pt x="1116" y="836"/>
                  <a:pt x="1100" y="823"/>
                </a:cubicBezTo>
                <a:cubicBezTo>
                  <a:pt x="1080" y="805"/>
                  <a:pt x="1067" y="793"/>
                  <a:pt x="1061" y="787"/>
                </a:cubicBezTo>
                <a:cubicBezTo>
                  <a:pt x="1014" y="740"/>
                  <a:pt x="976" y="708"/>
                  <a:pt x="945" y="690"/>
                </a:cubicBezTo>
                <a:cubicBezTo>
                  <a:pt x="945" y="681"/>
                  <a:pt x="939" y="665"/>
                  <a:pt x="927" y="645"/>
                </a:cubicBezTo>
                <a:cubicBezTo>
                  <a:pt x="927" y="643"/>
                  <a:pt x="925" y="641"/>
                  <a:pt x="925" y="639"/>
                </a:cubicBezTo>
                <a:cubicBezTo>
                  <a:pt x="912" y="614"/>
                  <a:pt x="904" y="594"/>
                  <a:pt x="904" y="580"/>
                </a:cubicBezTo>
                <a:cubicBezTo>
                  <a:pt x="900" y="576"/>
                  <a:pt x="896" y="576"/>
                  <a:pt x="890" y="576"/>
                </a:cubicBezTo>
                <a:cubicBezTo>
                  <a:pt x="886" y="576"/>
                  <a:pt x="880" y="574"/>
                  <a:pt x="871" y="574"/>
                </a:cubicBezTo>
                <a:cubicBezTo>
                  <a:pt x="906" y="549"/>
                  <a:pt x="931" y="509"/>
                  <a:pt x="949" y="452"/>
                </a:cubicBezTo>
                <a:cubicBezTo>
                  <a:pt x="965" y="397"/>
                  <a:pt x="971" y="340"/>
                  <a:pt x="967" y="280"/>
                </a:cubicBezTo>
                <a:cubicBezTo>
                  <a:pt x="963" y="217"/>
                  <a:pt x="949" y="162"/>
                  <a:pt x="925" y="121"/>
                </a:cubicBezTo>
                <a:cubicBezTo>
                  <a:pt x="896" y="73"/>
                  <a:pt x="859" y="44"/>
                  <a:pt x="812" y="36"/>
                </a:cubicBezTo>
                <a:cubicBezTo>
                  <a:pt x="806" y="36"/>
                  <a:pt x="806" y="32"/>
                  <a:pt x="810" y="28"/>
                </a:cubicBezTo>
                <a:cubicBezTo>
                  <a:pt x="812" y="24"/>
                  <a:pt x="812" y="22"/>
                  <a:pt x="808" y="22"/>
                </a:cubicBezTo>
                <a:cubicBezTo>
                  <a:pt x="802" y="20"/>
                  <a:pt x="798" y="20"/>
                  <a:pt x="796" y="24"/>
                </a:cubicBezTo>
                <a:cubicBezTo>
                  <a:pt x="794" y="28"/>
                  <a:pt x="792" y="32"/>
                  <a:pt x="790" y="32"/>
                </a:cubicBezTo>
                <a:cubicBezTo>
                  <a:pt x="782" y="22"/>
                  <a:pt x="763" y="14"/>
                  <a:pt x="733" y="8"/>
                </a:cubicBezTo>
                <a:cubicBezTo>
                  <a:pt x="706" y="2"/>
                  <a:pt x="680" y="0"/>
                  <a:pt x="657" y="0"/>
                </a:cubicBezTo>
                <a:cubicBezTo>
                  <a:pt x="614" y="6"/>
                  <a:pt x="565" y="24"/>
                  <a:pt x="508" y="56"/>
                </a:cubicBezTo>
                <a:cubicBezTo>
                  <a:pt x="477" y="75"/>
                  <a:pt x="437" y="99"/>
                  <a:pt x="386" y="129"/>
                </a:cubicBezTo>
                <a:cubicBezTo>
                  <a:pt x="390" y="140"/>
                  <a:pt x="388" y="150"/>
                  <a:pt x="386" y="160"/>
                </a:cubicBezTo>
                <a:cubicBezTo>
                  <a:pt x="382" y="166"/>
                  <a:pt x="377" y="174"/>
                  <a:pt x="373" y="190"/>
                </a:cubicBezTo>
                <a:cubicBezTo>
                  <a:pt x="384" y="192"/>
                  <a:pt x="394" y="192"/>
                  <a:pt x="402" y="190"/>
                </a:cubicBezTo>
                <a:cubicBezTo>
                  <a:pt x="412" y="186"/>
                  <a:pt x="418" y="186"/>
                  <a:pt x="420" y="186"/>
                </a:cubicBezTo>
                <a:cubicBezTo>
                  <a:pt x="416" y="202"/>
                  <a:pt x="408" y="229"/>
                  <a:pt x="396" y="263"/>
                </a:cubicBezTo>
                <a:cubicBezTo>
                  <a:pt x="388" y="292"/>
                  <a:pt x="386" y="324"/>
                  <a:pt x="386" y="353"/>
                </a:cubicBezTo>
                <a:cubicBezTo>
                  <a:pt x="414" y="369"/>
                  <a:pt x="422" y="393"/>
                  <a:pt x="410" y="426"/>
                </a:cubicBezTo>
                <a:cubicBezTo>
                  <a:pt x="404" y="444"/>
                  <a:pt x="390" y="472"/>
                  <a:pt x="369" y="511"/>
                </a:cubicBezTo>
                <a:cubicBezTo>
                  <a:pt x="369" y="519"/>
                  <a:pt x="375" y="523"/>
                  <a:pt x="386" y="527"/>
                </a:cubicBezTo>
                <a:cubicBezTo>
                  <a:pt x="390" y="529"/>
                  <a:pt x="398" y="531"/>
                  <a:pt x="412" y="531"/>
                </a:cubicBezTo>
                <a:cubicBezTo>
                  <a:pt x="412" y="556"/>
                  <a:pt x="414" y="574"/>
                  <a:pt x="418" y="588"/>
                </a:cubicBezTo>
                <a:cubicBezTo>
                  <a:pt x="422" y="596"/>
                  <a:pt x="431" y="608"/>
                  <a:pt x="443" y="625"/>
                </a:cubicBezTo>
                <a:cubicBezTo>
                  <a:pt x="367" y="608"/>
                  <a:pt x="296" y="625"/>
                  <a:pt x="226" y="673"/>
                </a:cubicBezTo>
                <a:cubicBezTo>
                  <a:pt x="218" y="698"/>
                  <a:pt x="206" y="744"/>
                  <a:pt x="194" y="815"/>
                </a:cubicBezTo>
                <a:cubicBezTo>
                  <a:pt x="181" y="884"/>
                  <a:pt x="167" y="933"/>
                  <a:pt x="153" y="963"/>
                </a:cubicBezTo>
                <a:cubicBezTo>
                  <a:pt x="149" y="972"/>
                  <a:pt x="143" y="984"/>
                  <a:pt x="132" y="1002"/>
                </a:cubicBezTo>
                <a:cubicBezTo>
                  <a:pt x="128" y="1010"/>
                  <a:pt x="124" y="1016"/>
                  <a:pt x="120" y="1022"/>
                </a:cubicBezTo>
                <a:cubicBezTo>
                  <a:pt x="116" y="1030"/>
                  <a:pt x="112" y="1039"/>
                  <a:pt x="110" y="1045"/>
                </a:cubicBezTo>
                <a:cubicBezTo>
                  <a:pt x="108" y="1049"/>
                  <a:pt x="108" y="1053"/>
                  <a:pt x="106" y="1057"/>
                </a:cubicBezTo>
                <a:cubicBezTo>
                  <a:pt x="73" y="1134"/>
                  <a:pt x="53" y="1181"/>
                  <a:pt x="47" y="1201"/>
                </a:cubicBezTo>
                <a:cubicBezTo>
                  <a:pt x="24" y="1262"/>
                  <a:pt x="10" y="1319"/>
                  <a:pt x="6" y="1371"/>
                </a:cubicBezTo>
                <a:cubicBezTo>
                  <a:pt x="0" y="1457"/>
                  <a:pt x="8" y="1528"/>
                  <a:pt x="26" y="1578"/>
                </a:cubicBezTo>
                <a:cubicBezTo>
                  <a:pt x="55" y="1647"/>
                  <a:pt x="104" y="1676"/>
                  <a:pt x="175" y="1664"/>
                </a:cubicBezTo>
                <a:close/>
                <a:moveTo>
                  <a:pt x="296" y="917"/>
                </a:moveTo>
                <a:cubicBezTo>
                  <a:pt x="300" y="911"/>
                  <a:pt x="312" y="901"/>
                  <a:pt x="326" y="888"/>
                </a:cubicBezTo>
                <a:cubicBezTo>
                  <a:pt x="341" y="876"/>
                  <a:pt x="351" y="864"/>
                  <a:pt x="357" y="856"/>
                </a:cubicBezTo>
                <a:cubicBezTo>
                  <a:pt x="363" y="846"/>
                  <a:pt x="369" y="832"/>
                  <a:pt x="373" y="811"/>
                </a:cubicBezTo>
                <a:cubicBezTo>
                  <a:pt x="379" y="789"/>
                  <a:pt x="386" y="773"/>
                  <a:pt x="390" y="763"/>
                </a:cubicBezTo>
                <a:cubicBezTo>
                  <a:pt x="410" y="771"/>
                  <a:pt x="426" y="775"/>
                  <a:pt x="441" y="773"/>
                </a:cubicBezTo>
                <a:cubicBezTo>
                  <a:pt x="455" y="771"/>
                  <a:pt x="471" y="767"/>
                  <a:pt x="490" y="759"/>
                </a:cubicBezTo>
                <a:cubicBezTo>
                  <a:pt x="490" y="754"/>
                  <a:pt x="488" y="750"/>
                  <a:pt x="484" y="746"/>
                </a:cubicBezTo>
                <a:cubicBezTo>
                  <a:pt x="479" y="742"/>
                  <a:pt x="479" y="738"/>
                  <a:pt x="479" y="734"/>
                </a:cubicBezTo>
                <a:cubicBezTo>
                  <a:pt x="494" y="738"/>
                  <a:pt x="510" y="734"/>
                  <a:pt x="526" y="718"/>
                </a:cubicBezTo>
                <a:cubicBezTo>
                  <a:pt x="545" y="704"/>
                  <a:pt x="561" y="700"/>
                  <a:pt x="575" y="706"/>
                </a:cubicBezTo>
                <a:cubicBezTo>
                  <a:pt x="577" y="714"/>
                  <a:pt x="577" y="726"/>
                  <a:pt x="569" y="738"/>
                </a:cubicBezTo>
                <a:cubicBezTo>
                  <a:pt x="559" y="754"/>
                  <a:pt x="555" y="765"/>
                  <a:pt x="553" y="767"/>
                </a:cubicBezTo>
                <a:cubicBezTo>
                  <a:pt x="543" y="775"/>
                  <a:pt x="508" y="791"/>
                  <a:pt x="453" y="813"/>
                </a:cubicBezTo>
                <a:cubicBezTo>
                  <a:pt x="410" y="832"/>
                  <a:pt x="382" y="850"/>
                  <a:pt x="365" y="870"/>
                </a:cubicBezTo>
                <a:cubicBezTo>
                  <a:pt x="357" y="878"/>
                  <a:pt x="351" y="892"/>
                  <a:pt x="341" y="911"/>
                </a:cubicBezTo>
                <a:cubicBezTo>
                  <a:pt x="333" y="929"/>
                  <a:pt x="324" y="943"/>
                  <a:pt x="316" y="951"/>
                </a:cubicBezTo>
                <a:cubicBezTo>
                  <a:pt x="314" y="968"/>
                  <a:pt x="308" y="984"/>
                  <a:pt x="300" y="998"/>
                </a:cubicBezTo>
                <a:cubicBezTo>
                  <a:pt x="296" y="1008"/>
                  <a:pt x="286" y="1020"/>
                  <a:pt x="275" y="1037"/>
                </a:cubicBezTo>
                <a:cubicBezTo>
                  <a:pt x="267" y="1030"/>
                  <a:pt x="263" y="1022"/>
                  <a:pt x="261" y="1014"/>
                </a:cubicBezTo>
                <a:cubicBezTo>
                  <a:pt x="253" y="990"/>
                  <a:pt x="265" y="957"/>
                  <a:pt x="296" y="917"/>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任意多边形: 形状 17">
            <a:extLst>
              <a:ext uri="{FF2B5EF4-FFF2-40B4-BE49-F238E27FC236}">
                <a16:creationId xmlns:a16="http://schemas.microsoft.com/office/drawing/2014/main" id="{B3F60C1A-F7FD-4692-9E97-F46FBCF02B01}"/>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a:extLst>
              <a:ext uri="{FF2B5EF4-FFF2-40B4-BE49-F238E27FC236}">
                <a16:creationId xmlns:a16="http://schemas.microsoft.com/office/drawing/2014/main" id="{C2655C01-BC79-46D1-800C-05E7F0F79E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a:extLst>
              <a:ext uri="{FF2B5EF4-FFF2-40B4-BE49-F238E27FC236}">
                <a16:creationId xmlns:a16="http://schemas.microsoft.com/office/drawing/2014/main" id="{35A76BEE-183C-48D2-8A90-EBD195E55246}"/>
              </a:ext>
            </a:extLst>
          </p:cNvPr>
          <p:cNvSpPr/>
          <p:nvPr/>
        </p:nvSpPr>
        <p:spPr>
          <a:xfrm>
            <a:off x="1348840" y="65787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研究目的</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文本框 2">
            <a:extLst>
              <a:ext uri="{FF2B5EF4-FFF2-40B4-BE49-F238E27FC236}">
                <a16:creationId xmlns:a16="http://schemas.microsoft.com/office/drawing/2014/main" id="{64A75241-CD17-E9A0-5416-1942879B261C}"/>
              </a:ext>
            </a:extLst>
          </p:cNvPr>
          <p:cNvSpPr txBox="1"/>
          <p:nvPr/>
        </p:nvSpPr>
        <p:spPr>
          <a:xfrm>
            <a:off x="1150774" y="2274166"/>
            <a:ext cx="6187871" cy="3358099"/>
          </a:xfrm>
          <a:prstGeom prst="rect">
            <a:avLst/>
          </a:prstGeom>
          <a:noFill/>
        </p:spPr>
        <p:txBody>
          <a:bodyPr wrap="square">
            <a:spAutoFit/>
          </a:bodyPr>
          <a:lstStyle/>
          <a:p>
            <a:pPr>
              <a:lnSpc>
                <a:spcPct val="150000"/>
              </a:lnSpc>
            </a:pPr>
            <a:r>
              <a:rPr lang="zh-CN" altLang="en-US" sz="2400" dirty="0">
                <a:ea typeface="字魂105号-简雅黑" panose="00000500000000000000" pitchFamily="2" charset="-122"/>
              </a:rPr>
              <a:t>       本项目拟发挥视觉大语言模型的优势，通过对车载摄像头采集的行驶环境图片进行理解分析，识别当前行驶环境，提前预测组合定位系统中各传感器信号质量，从而对组合定位系统中信息融合时各传感器信息的权重做出调整，获取更加精确鲁棒的定位信息。</a:t>
            </a:r>
          </a:p>
        </p:txBody>
      </p:sp>
    </p:spTree>
    <p:extLst>
      <p:ext uri="{BB962C8B-B14F-4D97-AF65-F5344CB8AC3E}">
        <p14:creationId xmlns:p14="http://schemas.microsoft.com/office/powerpoint/2010/main" val="17493464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D58CB4BD-0B21-477A-AF3A-FAD807D86159}"/>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 name="图片 2">
            <a:extLst>
              <a:ext uri="{FF2B5EF4-FFF2-40B4-BE49-F238E27FC236}">
                <a16:creationId xmlns:a16="http://schemas.microsoft.com/office/drawing/2014/main" id="{30B34753-DFAB-4CFA-AA56-A18DB2D498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4" name="矩形 3">
            <a:extLst>
              <a:ext uri="{FF2B5EF4-FFF2-40B4-BE49-F238E27FC236}">
                <a16:creationId xmlns:a16="http://schemas.microsoft.com/office/drawing/2014/main" id="{88725BCA-393D-404A-BC65-F0740411D3DC}"/>
              </a:ext>
            </a:extLst>
          </p:cNvPr>
          <p:cNvSpPr/>
          <p:nvPr/>
        </p:nvSpPr>
        <p:spPr>
          <a:xfrm>
            <a:off x="1359000" y="647713"/>
            <a:ext cx="2680542"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主要研究内容</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2547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E26DE167-FFF2-408D-9232-344919080282}"/>
              </a:ext>
            </a:extLst>
          </p:cNvPr>
          <p:cNvGrpSpPr>
            <a:grpSpLocks noChangeAspect="1"/>
          </p:cNvGrpSpPr>
          <p:nvPr>
            <p:custDataLst>
              <p:tags r:id="rId1"/>
            </p:custDataLst>
          </p:nvPr>
        </p:nvGrpSpPr>
        <p:grpSpPr>
          <a:xfrm>
            <a:off x="1023997" y="1846632"/>
            <a:ext cx="9880267" cy="3528009"/>
            <a:chOff x="1023997" y="1881429"/>
            <a:chExt cx="9880267" cy="3528009"/>
          </a:xfrm>
        </p:grpSpPr>
        <p:sp>
          <p:nvSpPr>
            <p:cNvPr id="6" name="iŝḻiḍe">
              <a:extLst>
                <a:ext uri="{FF2B5EF4-FFF2-40B4-BE49-F238E27FC236}">
                  <a16:creationId xmlns:a16="http://schemas.microsoft.com/office/drawing/2014/main" id="{C86D7AE6-7FE9-4489-B0C1-CA0D1C953826}"/>
                </a:ext>
              </a:extLst>
            </p:cNvPr>
            <p:cNvSpPr/>
            <p:nvPr/>
          </p:nvSpPr>
          <p:spPr bwMode="auto">
            <a:xfrm>
              <a:off x="2981880"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headEnd/>
              <a:tailEnd/>
            </a:ln>
          </p:spPr>
          <p:txBody>
            <a:bodyPr vert="horz" wrap="square" lIns="91440" tIns="45720" rIns="91440" bIns="45720" numCol="1" anchor="t" anchorCtr="0" compatLnSpc="1">
              <a:prstTxWarp prst="textNoShape">
                <a:avLst/>
              </a:prstTxWarp>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ïşļiďê">
              <a:extLst>
                <a:ext uri="{FF2B5EF4-FFF2-40B4-BE49-F238E27FC236}">
                  <a16:creationId xmlns:a16="http://schemas.microsoft.com/office/drawing/2014/main" id="{6A0F3884-0F0B-4B30-AB9B-B3385FA3D3A5}"/>
                </a:ext>
              </a:extLst>
            </p:cNvPr>
            <p:cNvSpPr/>
            <p:nvPr/>
          </p:nvSpPr>
          <p:spPr bwMode="auto">
            <a:xfrm>
              <a:off x="4845888"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headEnd/>
              <a:tailEnd/>
            </a:ln>
          </p:spPr>
          <p:txBody>
            <a:bodyPr vert="horz" wrap="square" lIns="91440" tIns="45720" rIns="91440" bIns="45720" numCol="1" anchor="t" anchorCtr="0" compatLnSpc="1">
              <a:prstTxWarp prst="textNoShape">
                <a:avLst/>
              </a:prstTxWarp>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íṩlïḑê">
              <a:extLst>
                <a:ext uri="{FF2B5EF4-FFF2-40B4-BE49-F238E27FC236}">
                  <a16:creationId xmlns:a16="http://schemas.microsoft.com/office/drawing/2014/main" id="{C89B5495-EBB3-4C70-987D-D0E0B947BE8A}"/>
                </a:ext>
              </a:extLst>
            </p:cNvPr>
            <p:cNvSpPr/>
            <p:nvPr/>
          </p:nvSpPr>
          <p:spPr bwMode="auto">
            <a:xfrm>
              <a:off x="7122274"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headEnd/>
              <a:tailEnd/>
            </a:ln>
          </p:spPr>
          <p:txBody>
            <a:bodyPr vert="horz" wrap="square" lIns="91440" tIns="45720" rIns="91440" bIns="45720" numCol="1" anchor="t" anchorCtr="0" compatLnSpc="1">
              <a:prstTxWarp prst="textNoShape">
                <a:avLst/>
              </a:prstTxWarp>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îşľiḍè">
              <a:extLst>
                <a:ext uri="{FF2B5EF4-FFF2-40B4-BE49-F238E27FC236}">
                  <a16:creationId xmlns:a16="http://schemas.microsoft.com/office/drawing/2014/main" id="{DF2D32DA-E1CA-4305-8F7C-A86D9F022246}"/>
                </a:ext>
              </a:extLst>
            </p:cNvPr>
            <p:cNvSpPr/>
            <p:nvPr/>
          </p:nvSpPr>
          <p:spPr bwMode="auto">
            <a:xfrm>
              <a:off x="8986282"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headEnd/>
              <a:tailEnd/>
            </a:ln>
          </p:spPr>
          <p:txBody>
            <a:bodyPr vert="horz" wrap="square" lIns="91440" tIns="45720" rIns="91440" bIns="45720" numCol="1" anchor="t" anchorCtr="0" compatLnSpc="1">
              <a:prstTxWarp prst="textNoShape">
                <a:avLst/>
              </a:prstTxWarp>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îṩ1îďê">
              <a:extLst>
                <a:ext uri="{FF2B5EF4-FFF2-40B4-BE49-F238E27FC236}">
                  <a16:creationId xmlns:a16="http://schemas.microsoft.com/office/drawing/2014/main" id="{B8811D17-E2A7-4C87-8B5E-9FB2CA1808F9}"/>
                </a:ext>
              </a:extLst>
            </p:cNvPr>
            <p:cNvGrpSpPr/>
            <p:nvPr/>
          </p:nvGrpSpPr>
          <p:grpSpPr>
            <a:xfrm>
              <a:off x="1287735" y="1881429"/>
              <a:ext cx="1335742" cy="1335742"/>
              <a:chOff x="1286435" y="2083173"/>
              <a:chExt cx="1335742" cy="1335742"/>
            </a:xfrm>
          </p:grpSpPr>
          <p:sp>
            <p:nvSpPr>
              <p:cNvPr id="38" name="îṧļiḍê">
                <a:extLst>
                  <a:ext uri="{FF2B5EF4-FFF2-40B4-BE49-F238E27FC236}">
                    <a16:creationId xmlns:a16="http://schemas.microsoft.com/office/drawing/2014/main" id="{1E9CAD36-1646-4409-AD38-CFDF13709F61}"/>
                  </a:ext>
                </a:extLst>
              </p:cNvPr>
              <p:cNvSpPr/>
              <p:nvPr/>
            </p:nvSpPr>
            <p:spPr>
              <a:xfrm>
                <a:off x="1286435" y="2083173"/>
                <a:ext cx="1335742" cy="1335742"/>
              </a:xfrm>
              <a:prstGeom prst="ellipse">
                <a:avLst/>
              </a:prstGeom>
              <a:solidFill>
                <a:srgbClr val="005A8A"/>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îṣḻïḑê">
                <a:extLst>
                  <a:ext uri="{FF2B5EF4-FFF2-40B4-BE49-F238E27FC236}">
                    <a16:creationId xmlns:a16="http://schemas.microsoft.com/office/drawing/2014/main" id="{96C21AE4-71FB-48F9-88A1-3BF707BE1EB6}"/>
                  </a:ext>
                </a:extLst>
              </p:cNvPr>
              <p:cNvSpPr/>
              <p:nvPr/>
            </p:nvSpPr>
            <p:spPr>
              <a:xfrm>
                <a:off x="1652420"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1" name="iŝľïḓé">
              <a:extLst>
                <a:ext uri="{FF2B5EF4-FFF2-40B4-BE49-F238E27FC236}">
                  <a16:creationId xmlns:a16="http://schemas.microsoft.com/office/drawing/2014/main" id="{64606BD7-8A79-48D2-9D42-14C463A21C8C}"/>
                </a:ext>
              </a:extLst>
            </p:cNvPr>
            <p:cNvSpPr/>
            <p:nvPr/>
          </p:nvSpPr>
          <p:spPr bwMode="auto">
            <a:xfrm>
              <a:off x="1023997" y="4383756"/>
              <a:ext cx="1863219" cy="1025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13" name="直接箭头连接符 12">
              <a:extLst>
                <a:ext uri="{FF2B5EF4-FFF2-40B4-BE49-F238E27FC236}">
                  <a16:creationId xmlns:a16="http://schemas.microsoft.com/office/drawing/2014/main" id="{79598F20-7E5A-4912-A4EF-6924A9DBAF05}"/>
                </a:ext>
              </a:extLst>
            </p:cNvPr>
            <p:cNvCxnSpPr>
              <a:cxnSpLocks/>
              <a:stCxn id="38" idx="4"/>
              <a:endCxn id="11" idx="0"/>
            </p:cNvCxnSpPr>
            <p:nvPr/>
          </p:nvCxnSpPr>
          <p:spPr>
            <a:xfrm>
              <a:off x="1955606" y="3217171"/>
              <a:ext cx="1" cy="1166585"/>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4" name="íśḷîḓê">
              <a:extLst>
                <a:ext uri="{FF2B5EF4-FFF2-40B4-BE49-F238E27FC236}">
                  <a16:creationId xmlns:a16="http://schemas.microsoft.com/office/drawing/2014/main" id="{0A1D3856-EB3F-46FD-A971-2248E4A8C3A4}"/>
                </a:ext>
              </a:extLst>
            </p:cNvPr>
            <p:cNvGrpSpPr/>
            <p:nvPr/>
          </p:nvGrpSpPr>
          <p:grpSpPr>
            <a:xfrm>
              <a:off x="3564121" y="2087618"/>
              <a:ext cx="923364" cy="923364"/>
              <a:chOff x="3563471" y="2289362"/>
              <a:chExt cx="923364" cy="923364"/>
            </a:xfrm>
          </p:grpSpPr>
          <p:sp>
            <p:nvSpPr>
              <p:cNvPr id="36" name="îṧ1îḓê">
                <a:extLst>
                  <a:ext uri="{FF2B5EF4-FFF2-40B4-BE49-F238E27FC236}">
                    <a16:creationId xmlns:a16="http://schemas.microsoft.com/office/drawing/2014/main" id="{41B5665A-D60E-40A8-9FB2-6A49C7A7A580}"/>
                  </a:ext>
                </a:extLst>
              </p:cNvPr>
              <p:cNvSpPr/>
              <p:nvPr/>
            </p:nvSpPr>
            <p:spPr>
              <a:xfrm>
                <a:off x="3563471" y="2289362"/>
                <a:ext cx="923364" cy="923364"/>
              </a:xfrm>
              <a:prstGeom prst="ellipse">
                <a:avLst/>
              </a:prstGeom>
              <a:solidFill>
                <a:schemeClr val="tx1">
                  <a:lumMod val="50000"/>
                  <a:lumOff val="50000"/>
                </a:schemeClr>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islíḍé">
                <a:extLst>
                  <a:ext uri="{FF2B5EF4-FFF2-40B4-BE49-F238E27FC236}">
                    <a16:creationId xmlns:a16="http://schemas.microsoft.com/office/drawing/2014/main" id="{B9B9DE49-D646-4B34-AA73-C73381540CF9}"/>
                  </a:ext>
                </a:extLst>
              </p:cNvPr>
              <p:cNvSpPr/>
              <p:nvPr/>
            </p:nvSpPr>
            <p:spPr>
              <a:xfrm>
                <a:off x="3821216" y="2543737"/>
                <a:ext cx="407876" cy="414616"/>
              </a:xfrm>
              <a:custGeom>
                <a:avLst/>
                <a:gdLst>
                  <a:gd name="connsiteX0" fmla="*/ 24879 w 541917"/>
                  <a:gd name="connsiteY0" fmla="*/ 387059 h 550871"/>
                  <a:gd name="connsiteX1" fmla="*/ 518330 w 541917"/>
                  <a:gd name="connsiteY1" fmla="*/ 387059 h 550871"/>
                  <a:gd name="connsiteX2" fmla="*/ 536414 w 541917"/>
                  <a:gd name="connsiteY2" fmla="*/ 396088 h 550871"/>
                  <a:gd name="connsiteX3" fmla="*/ 541581 w 541917"/>
                  <a:gd name="connsiteY3" fmla="*/ 415436 h 550871"/>
                  <a:gd name="connsiteX4" fmla="*/ 522205 w 541917"/>
                  <a:gd name="connsiteY4" fmla="*/ 550871 h 550871"/>
                  <a:gd name="connsiteX5" fmla="*/ 19712 w 541917"/>
                  <a:gd name="connsiteY5" fmla="*/ 550871 h 550871"/>
                  <a:gd name="connsiteX6" fmla="*/ 336 w 541917"/>
                  <a:gd name="connsiteY6" fmla="*/ 415436 h 550871"/>
                  <a:gd name="connsiteX7" fmla="*/ 5503 w 541917"/>
                  <a:gd name="connsiteY7" fmla="*/ 396088 h 550871"/>
                  <a:gd name="connsiteX8" fmla="*/ 24879 w 541917"/>
                  <a:gd name="connsiteY8" fmla="*/ 387059 h 550871"/>
                  <a:gd name="connsiteX9" fmla="*/ 292206 w 541917"/>
                  <a:gd name="connsiteY9" fmla="*/ 330316 h 550871"/>
                  <a:gd name="connsiteX10" fmla="*/ 417595 w 541917"/>
                  <a:gd name="connsiteY10" fmla="*/ 330316 h 550871"/>
                  <a:gd name="connsiteX11" fmla="*/ 426644 w 541917"/>
                  <a:gd name="connsiteY11" fmla="*/ 341907 h 550871"/>
                  <a:gd name="connsiteX12" fmla="*/ 424058 w 541917"/>
                  <a:gd name="connsiteY12" fmla="*/ 359937 h 550871"/>
                  <a:gd name="connsiteX13" fmla="*/ 411132 w 541917"/>
                  <a:gd name="connsiteY13" fmla="*/ 371528 h 550871"/>
                  <a:gd name="connsiteX14" fmla="*/ 267645 w 541917"/>
                  <a:gd name="connsiteY14" fmla="*/ 371528 h 550871"/>
                  <a:gd name="connsiteX15" fmla="*/ 267645 w 541917"/>
                  <a:gd name="connsiteY15" fmla="*/ 361225 h 550871"/>
                  <a:gd name="connsiteX16" fmla="*/ 268938 w 541917"/>
                  <a:gd name="connsiteY16" fmla="*/ 359937 h 550871"/>
                  <a:gd name="connsiteX17" fmla="*/ 292206 w 541917"/>
                  <a:gd name="connsiteY17" fmla="*/ 330316 h 550871"/>
                  <a:gd name="connsiteX18" fmla="*/ 274065 w 541917"/>
                  <a:gd name="connsiteY18" fmla="*/ 245200 h 550871"/>
                  <a:gd name="connsiteX19" fmla="*/ 429145 w 541917"/>
                  <a:gd name="connsiteY19" fmla="*/ 245200 h 550871"/>
                  <a:gd name="connsiteX20" fmla="*/ 439484 w 541917"/>
                  <a:gd name="connsiteY20" fmla="*/ 259348 h 550871"/>
                  <a:gd name="connsiteX21" fmla="*/ 436899 w 541917"/>
                  <a:gd name="connsiteY21" fmla="*/ 279927 h 550871"/>
                  <a:gd name="connsiteX22" fmla="*/ 422684 w 541917"/>
                  <a:gd name="connsiteY22" fmla="*/ 294074 h 550871"/>
                  <a:gd name="connsiteX23" fmla="*/ 289573 w 541917"/>
                  <a:gd name="connsiteY23" fmla="*/ 294074 h 550871"/>
                  <a:gd name="connsiteX24" fmla="*/ 281819 w 541917"/>
                  <a:gd name="connsiteY24" fmla="*/ 283785 h 550871"/>
                  <a:gd name="connsiteX25" fmla="*/ 274065 w 541917"/>
                  <a:gd name="connsiteY25" fmla="*/ 245200 h 550871"/>
                  <a:gd name="connsiteX26" fmla="*/ 205692 w 541917"/>
                  <a:gd name="connsiteY26" fmla="*/ 219313 h 550871"/>
                  <a:gd name="connsiteX27" fmla="*/ 267629 w 541917"/>
                  <a:gd name="connsiteY27" fmla="*/ 298025 h 550871"/>
                  <a:gd name="connsiteX28" fmla="*/ 270210 w 541917"/>
                  <a:gd name="connsiteY28" fmla="*/ 296735 h 550871"/>
                  <a:gd name="connsiteX29" fmla="*/ 279242 w 541917"/>
                  <a:gd name="connsiteY29" fmla="*/ 318671 h 550871"/>
                  <a:gd name="connsiteX30" fmla="*/ 262468 w 541917"/>
                  <a:gd name="connsiteY30" fmla="*/ 345768 h 550871"/>
                  <a:gd name="connsiteX31" fmla="*/ 259887 w 541917"/>
                  <a:gd name="connsiteY31" fmla="*/ 344478 h 550871"/>
                  <a:gd name="connsiteX32" fmla="*/ 243112 w 541917"/>
                  <a:gd name="connsiteY32" fmla="*/ 370285 h 550871"/>
                  <a:gd name="connsiteX33" fmla="*/ 187627 w 541917"/>
                  <a:gd name="connsiteY33" fmla="*/ 370285 h 550871"/>
                  <a:gd name="connsiteX34" fmla="*/ 168272 w 541917"/>
                  <a:gd name="connsiteY34" fmla="*/ 345768 h 550871"/>
                  <a:gd name="connsiteX35" fmla="*/ 165691 w 541917"/>
                  <a:gd name="connsiteY35" fmla="*/ 345768 h 550871"/>
                  <a:gd name="connsiteX36" fmla="*/ 146336 w 541917"/>
                  <a:gd name="connsiteY36" fmla="*/ 318671 h 550871"/>
                  <a:gd name="connsiteX37" fmla="*/ 152787 w 541917"/>
                  <a:gd name="connsiteY37" fmla="*/ 296735 h 550871"/>
                  <a:gd name="connsiteX38" fmla="*/ 154078 w 541917"/>
                  <a:gd name="connsiteY38" fmla="*/ 296735 h 550871"/>
                  <a:gd name="connsiteX39" fmla="*/ 205692 w 541917"/>
                  <a:gd name="connsiteY39" fmla="*/ 219313 h 550871"/>
                  <a:gd name="connsiteX40" fmla="*/ 76563 w 541917"/>
                  <a:gd name="connsiteY40" fmla="*/ 122600 h 550871"/>
                  <a:gd name="connsiteX41" fmla="*/ 464111 w 541917"/>
                  <a:gd name="connsiteY41" fmla="*/ 122600 h 550871"/>
                  <a:gd name="connsiteX42" fmla="*/ 536453 w 541917"/>
                  <a:gd name="connsiteY42" fmla="*/ 194836 h 550871"/>
                  <a:gd name="connsiteX43" fmla="*/ 513200 w 541917"/>
                  <a:gd name="connsiteY43" fmla="*/ 362527 h 550871"/>
                  <a:gd name="connsiteX44" fmla="*/ 479613 w 541917"/>
                  <a:gd name="connsiteY44" fmla="*/ 362527 h 550871"/>
                  <a:gd name="connsiteX45" fmla="*/ 501574 w 541917"/>
                  <a:gd name="connsiteY45" fmla="*/ 194836 h 550871"/>
                  <a:gd name="connsiteX46" fmla="*/ 464111 w 541917"/>
                  <a:gd name="connsiteY46" fmla="*/ 157428 h 550871"/>
                  <a:gd name="connsiteX47" fmla="*/ 76563 w 541917"/>
                  <a:gd name="connsiteY47" fmla="*/ 157428 h 550871"/>
                  <a:gd name="connsiteX48" fmla="*/ 39100 w 541917"/>
                  <a:gd name="connsiteY48" fmla="*/ 194836 h 550871"/>
                  <a:gd name="connsiteX49" fmla="*/ 63645 w 541917"/>
                  <a:gd name="connsiteY49" fmla="*/ 365107 h 550871"/>
                  <a:gd name="connsiteX50" fmla="*/ 30057 w 541917"/>
                  <a:gd name="connsiteY50" fmla="*/ 365107 h 550871"/>
                  <a:gd name="connsiteX51" fmla="*/ 4221 w 541917"/>
                  <a:gd name="connsiteY51" fmla="*/ 194836 h 550871"/>
                  <a:gd name="connsiteX52" fmla="*/ 76563 w 541917"/>
                  <a:gd name="connsiteY52" fmla="*/ 122600 h 550871"/>
                  <a:gd name="connsiteX53" fmla="*/ 89318 w 541917"/>
                  <a:gd name="connsiteY53" fmla="*/ 57986 h 550871"/>
                  <a:gd name="connsiteX54" fmla="*/ 436859 w 541917"/>
                  <a:gd name="connsiteY54" fmla="*/ 57986 h 550871"/>
                  <a:gd name="connsiteX55" fmla="*/ 444611 w 541917"/>
                  <a:gd name="connsiteY55" fmla="*/ 61864 h 550871"/>
                  <a:gd name="connsiteX56" fmla="*/ 445903 w 541917"/>
                  <a:gd name="connsiteY56" fmla="*/ 69619 h 550871"/>
                  <a:gd name="connsiteX57" fmla="*/ 440735 w 541917"/>
                  <a:gd name="connsiteY57" fmla="*/ 95470 h 550871"/>
                  <a:gd name="connsiteX58" fmla="*/ 86734 w 541917"/>
                  <a:gd name="connsiteY58" fmla="*/ 95470 h 550871"/>
                  <a:gd name="connsiteX59" fmla="*/ 80274 w 541917"/>
                  <a:gd name="connsiteY59" fmla="*/ 69619 h 550871"/>
                  <a:gd name="connsiteX60" fmla="*/ 81566 w 541917"/>
                  <a:gd name="connsiteY60" fmla="*/ 61864 h 550871"/>
                  <a:gd name="connsiteX61" fmla="*/ 89318 w 541917"/>
                  <a:gd name="connsiteY61" fmla="*/ 57986 h 550871"/>
                  <a:gd name="connsiteX62" fmla="*/ 125555 w 541917"/>
                  <a:gd name="connsiteY62" fmla="*/ 0 h 550871"/>
                  <a:gd name="connsiteX63" fmla="*/ 401914 w 541917"/>
                  <a:gd name="connsiteY63" fmla="*/ 0 h 550871"/>
                  <a:gd name="connsiteX64" fmla="*/ 408371 w 541917"/>
                  <a:gd name="connsiteY64" fmla="*/ 3878 h 550871"/>
                  <a:gd name="connsiteX65" fmla="*/ 409663 w 541917"/>
                  <a:gd name="connsiteY65" fmla="*/ 10341 h 550871"/>
                  <a:gd name="connsiteX66" fmla="*/ 405789 w 541917"/>
                  <a:gd name="connsiteY66" fmla="*/ 37484 h 550871"/>
                  <a:gd name="connsiteX67" fmla="*/ 121681 w 541917"/>
                  <a:gd name="connsiteY67" fmla="*/ 37484 h 550871"/>
                  <a:gd name="connsiteX68" fmla="*/ 116516 w 541917"/>
                  <a:gd name="connsiteY68" fmla="*/ 10341 h 550871"/>
                  <a:gd name="connsiteX69" fmla="*/ 117807 w 541917"/>
                  <a:gd name="connsiteY69" fmla="*/ 3878 h 550871"/>
                  <a:gd name="connsiteX70" fmla="*/ 125555 w 541917"/>
                  <a:gd name="connsiteY70"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41917" h="550871">
                    <a:moveTo>
                      <a:pt x="24879" y="387059"/>
                    </a:moveTo>
                    <a:lnTo>
                      <a:pt x="518330" y="387059"/>
                    </a:lnTo>
                    <a:cubicBezTo>
                      <a:pt x="524789" y="387059"/>
                      <a:pt x="531247" y="390929"/>
                      <a:pt x="536414" y="396088"/>
                    </a:cubicBezTo>
                    <a:cubicBezTo>
                      <a:pt x="540290" y="401248"/>
                      <a:pt x="542873" y="407697"/>
                      <a:pt x="541581" y="415436"/>
                    </a:cubicBezTo>
                    <a:lnTo>
                      <a:pt x="522205" y="550871"/>
                    </a:lnTo>
                    <a:lnTo>
                      <a:pt x="19712" y="550871"/>
                    </a:lnTo>
                    <a:lnTo>
                      <a:pt x="336" y="415436"/>
                    </a:lnTo>
                    <a:cubicBezTo>
                      <a:pt x="-956" y="407697"/>
                      <a:pt x="1627" y="401248"/>
                      <a:pt x="5503" y="396088"/>
                    </a:cubicBezTo>
                    <a:cubicBezTo>
                      <a:pt x="10670" y="390929"/>
                      <a:pt x="17128" y="387059"/>
                      <a:pt x="24879" y="387059"/>
                    </a:cubicBezTo>
                    <a:close/>
                    <a:moveTo>
                      <a:pt x="292206" y="330316"/>
                    </a:moveTo>
                    <a:lnTo>
                      <a:pt x="417595" y="330316"/>
                    </a:lnTo>
                    <a:cubicBezTo>
                      <a:pt x="424058" y="330316"/>
                      <a:pt x="427936" y="335468"/>
                      <a:pt x="426644" y="341907"/>
                    </a:cubicBezTo>
                    <a:lnTo>
                      <a:pt x="424058" y="359937"/>
                    </a:lnTo>
                    <a:cubicBezTo>
                      <a:pt x="422766" y="366377"/>
                      <a:pt x="417595" y="371528"/>
                      <a:pt x="411132" y="371528"/>
                    </a:cubicBezTo>
                    <a:lnTo>
                      <a:pt x="267645" y="371528"/>
                    </a:lnTo>
                    <a:lnTo>
                      <a:pt x="267645" y="361225"/>
                    </a:lnTo>
                    <a:cubicBezTo>
                      <a:pt x="267645" y="359937"/>
                      <a:pt x="268938" y="359937"/>
                      <a:pt x="268938" y="359937"/>
                    </a:cubicBezTo>
                    <a:cubicBezTo>
                      <a:pt x="279279" y="356074"/>
                      <a:pt x="288328" y="343195"/>
                      <a:pt x="292206" y="330316"/>
                    </a:cubicBezTo>
                    <a:close/>
                    <a:moveTo>
                      <a:pt x="274065" y="245200"/>
                    </a:moveTo>
                    <a:lnTo>
                      <a:pt x="429145" y="245200"/>
                    </a:lnTo>
                    <a:cubicBezTo>
                      <a:pt x="436899" y="245200"/>
                      <a:pt x="440776" y="251631"/>
                      <a:pt x="439484" y="259348"/>
                    </a:cubicBezTo>
                    <a:lnTo>
                      <a:pt x="436899" y="279927"/>
                    </a:lnTo>
                    <a:cubicBezTo>
                      <a:pt x="435607" y="287643"/>
                      <a:pt x="429145" y="292788"/>
                      <a:pt x="422684" y="294074"/>
                    </a:cubicBezTo>
                    <a:lnTo>
                      <a:pt x="289573" y="294074"/>
                    </a:lnTo>
                    <a:cubicBezTo>
                      <a:pt x="286989" y="288930"/>
                      <a:pt x="285696" y="286357"/>
                      <a:pt x="281819" y="283785"/>
                    </a:cubicBezTo>
                    <a:cubicBezTo>
                      <a:pt x="280527" y="268351"/>
                      <a:pt x="277942" y="255490"/>
                      <a:pt x="274065" y="245200"/>
                    </a:cubicBezTo>
                    <a:close/>
                    <a:moveTo>
                      <a:pt x="205692" y="219313"/>
                    </a:moveTo>
                    <a:cubicBezTo>
                      <a:pt x="257306" y="219313"/>
                      <a:pt x="266339" y="264476"/>
                      <a:pt x="267629" y="298025"/>
                    </a:cubicBezTo>
                    <a:cubicBezTo>
                      <a:pt x="267629" y="296735"/>
                      <a:pt x="268919" y="296735"/>
                      <a:pt x="270210" y="296735"/>
                    </a:cubicBezTo>
                    <a:cubicBezTo>
                      <a:pt x="277952" y="296735"/>
                      <a:pt x="279242" y="307058"/>
                      <a:pt x="279242" y="318671"/>
                    </a:cubicBezTo>
                    <a:cubicBezTo>
                      <a:pt x="277952" y="330284"/>
                      <a:pt x="270210" y="345768"/>
                      <a:pt x="262468" y="345768"/>
                    </a:cubicBezTo>
                    <a:cubicBezTo>
                      <a:pt x="261177" y="345768"/>
                      <a:pt x="259887" y="345768"/>
                      <a:pt x="259887" y="344478"/>
                    </a:cubicBezTo>
                    <a:cubicBezTo>
                      <a:pt x="254725" y="354801"/>
                      <a:pt x="249564" y="363833"/>
                      <a:pt x="243112" y="370285"/>
                    </a:cubicBezTo>
                    <a:lnTo>
                      <a:pt x="187627" y="370285"/>
                    </a:lnTo>
                    <a:cubicBezTo>
                      <a:pt x="179885" y="363833"/>
                      <a:pt x="173433" y="354801"/>
                      <a:pt x="168272" y="345768"/>
                    </a:cubicBezTo>
                    <a:cubicBezTo>
                      <a:pt x="166981" y="345768"/>
                      <a:pt x="166981" y="345768"/>
                      <a:pt x="165691" y="345768"/>
                    </a:cubicBezTo>
                    <a:cubicBezTo>
                      <a:pt x="157949" y="345768"/>
                      <a:pt x="147626" y="330284"/>
                      <a:pt x="146336" y="318671"/>
                    </a:cubicBezTo>
                    <a:cubicBezTo>
                      <a:pt x="145045" y="307058"/>
                      <a:pt x="145045" y="296735"/>
                      <a:pt x="152787" y="296735"/>
                    </a:cubicBezTo>
                    <a:cubicBezTo>
                      <a:pt x="152787" y="296735"/>
                      <a:pt x="154078" y="296735"/>
                      <a:pt x="154078" y="296735"/>
                    </a:cubicBezTo>
                    <a:cubicBezTo>
                      <a:pt x="151497" y="263185"/>
                      <a:pt x="157949" y="219313"/>
                      <a:pt x="205692" y="219313"/>
                    </a:cubicBezTo>
                    <a:close/>
                    <a:moveTo>
                      <a:pt x="76563" y="122600"/>
                    </a:moveTo>
                    <a:lnTo>
                      <a:pt x="464111" y="122600"/>
                    </a:lnTo>
                    <a:cubicBezTo>
                      <a:pt x="504158" y="122600"/>
                      <a:pt x="536453" y="154849"/>
                      <a:pt x="536453" y="194836"/>
                    </a:cubicBezTo>
                    <a:lnTo>
                      <a:pt x="513200" y="362527"/>
                    </a:lnTo>
                    <a:lnTo>
                      <a:pt x="479613" y="362527"/>
                    </a:lnTo>
                    <a:lnTo>
                      <a:pt x="501574" y="194836"/>
                    </a:lnTo>
                    <a:cubicBezTo>
                      <a:pt x="501574" y="174197"/>
                      <a:pt x="484780" y="157428"/>
                      <a:pt x="464111" y="157428"/>
                    </a:cubicBezTo>
                    <a:lnTo>
                      <a:pt x="76563" y="157428"/>
                    </a:lnTo>
                    <a:cubicBezTo>
                      <a:pt x="55894" y="157428"/>
                      <a:pt x="39100" y="174197"/>
                      <a:pt x="39100" y="194836"/>
                    </a:cubicBezTo>
                    <a:lnTo>
                      <a:pt x="63645" y="365107"/>
                    </a:lnTo>
                    <a:lnTo>
                      <a:pt x="30057" y="365107"/>
                    </a:lnTo>
                    <a:lnTo>
                      <a:pt x="4221" y="194836"/>
                    </a:lnTo>
                    <a:cubicBezTo>
                      <a:pt x="4221" y="154849"/>
                      <a:pt x="36516" y="122600"/>
                      <a:pt x="76563" y="122600"/>
                    </a:cubicBezTo>
                    <a:close/>
                    <a:moveTo>
                      <a:pt x="89318" y="57986"/>
                    </a:moveTo>
                    <a:lnTo>
                      <a:pt x="436859" y="57986"/>
                    </a:lnTo>
                    <a:cubicBezTo>
                      <a:pt x="440735" y="57986"/>
                      <a:pt x="443319" y="59279"/>
                      <a:pt x="444611" y="61864"/>
                    </a:cubicBezTo>
                    <a:cubicBezTo>
                      <a:pt x="445903" y="64449"/>
                      <a:pt x="447195" y="67034"/>
                      <a:pt x="445903" y="69619"/>
                    </a:cubicBezTo>
                    <a:lnTo>
                      <a:pt x="440735" y="95470"/>
                    </a:lnTo>
                    <a:lnTo>
                      <a:pt x="86734" y="95470"/>
                    </a:lnTo>
                    <a:lnTo>
                      <a:pt x="80274" y="69619"/>
                    </a:lnTo>
                    <a:cubicBezTo>
                      <a:pt x="78982" y="67034"/>
                      <a:pt x="80274" y="64449"/>
                      <a:pt x="81566" y="61864"/>
                    </a:cubicBezTo>
                    <a:cubicBezTo>
                      <a:pt x="84150" y="59279"/>
                      <a:pt x="86734" y="57986"/>
                      <a:pt x="89318" y="57986"/>
                    </a:cubicBezTo>
                    <a:close/>
                    <a:moveTo>
                      <a:pt x="125555" y="0"/>
                    </a:moveTo>
                    <a:lnTo>
                      <a:pt x="401914" y="0"/>
                    </a:lnTo>
                    <a:cubicBezTo>
                      <a:pt x="404497" y="0"/>
                      <a:pt x="407080" y="1293"/>
                      <a:pt x="408371" y="3878"/>
                    </a:cubicBezTo>
                    <a:cubicBezTo>
                      <a:pt x="409663" y="5170"/>
                      <a:pt x="410954" y="7756"/>
                      <a:pt x="409663" y="10341"/>
                    </a:cubicBezTo>
                    <a:lnTo>
                      <a:pt x="405789" y="37484"/>
                    </a:lnTo>
                    <a:lnTo>
                      <a:pt x="121681" y="37484"/>
                    </a:lnTo>
                    <a:lnTo>
                      <a:pt x="116516" y="10341"/>
                    </a:lnTo>
                    <a:cubicBezTo>
                      <a:pt x="115224" y="7756"/>
                      <a:pt x="116516" y="5170"/>
                      <a:pt x="117807" y="3878"/>
                    </a:cubicBezTo>
                    <a:cubicBezTo>
                      <a:pt x="120390" y="1293"/>
                      <a:pt x="122973" y="0"/>
                      <a:pt x="125555"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7" name="直接箭头连接符 16">
              <a:extLst>
                <a:ext uri="{FF2B5EF4-FFF2-40B4-BE49-F238E27FC236}">
                  <a16:creationId xmlns:a16="http://schemas.microsoft.com/office/drawing/2014/main" id="{3A2251F0-E43A-42D6-8B1D-8F13776DAA9F}"/>
                </a:ext>
              </a:extLst>
            </p:cNvPr>
            <p:cNvCxnSpPr>
              <a:cxnSpLocks/>
              <a:stCxn id="36" idx="4"/>
            </p:cNvCxnSpPr>
            <p:nvPr/>
          </p:nvCxnSpPr>
          <p:spPr>
            <a:xfrm>
              <a:off x="4025803" y="3010982"/>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8" name="îşļïḑè">
              <a:extLst>
                <a:ext uri="{FF2B5EF4-FFF2-40B4-BE49-F238E27FC236}">
                  <a16:creationId xmlns:a16="http://schemas.microsoft.com/office/drawing/2014/main" id="{F6BF8999-68AF-4D0E-A722-F541D2668C96}"/>
                </a:ext>
              </a:extLst>
            </p:cNvPr>
            <p:cNvGrpSpPr/>
            <p:nvPr/>
          </p:nvGrpSpPr>
          <p:grpSpPr>
            <a:xfrm>
              <a:off x="5428129" y="1881429"/>
              <a:ext cx="1335742" cy="1335742"/>
              <a:chOff x="5428129" y="2083173"/>
              <a:chExt cx="1335742" cy="1335742"/>
            </a:xfrm>
          </p:grpSpPr>
          <p:sp>
            <p:nvSpPr>
              <p:cNvPr id="34" name="îṧlîḍê">
                <a:extLst>
                  <a:ext uri="{FF2B5EF4-FFF2-40B4-BE49-F238E27FC236}">
                    <a16:creationId xmlns:a16="http://schemas.microsoft.com/office/drawing/2014/main" id="{E0BD86C2-068B-4BE7-8586-3D0449195729}"/>
                  </a:ext>
                </a:extLst>
              </p:cNvPr>
              <p:cNvSpPr/>
              <p:nvPr/>
            </p:nvSpPr>
            <p:spPr>
              <a:xfrm>
                <a:off x="5428129" y="2083173"/>
                <a:ext cx="1335742" cy="1335742"/>
              </a:xfrm>
              <a:prstGeom prst="ellipse">
                <a:avLst/>
              </a:prstGeom>
              <a:solidFill>
                <a:srgbClr val="005A8A"/>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ïŝļiḑé">
                <a:extLst>
                  <a:ext uri="{FF2B5EF4-FFF2-40B4-BE49-F238E27FC236}">
                    <a16:creationId xmlns:a16="http://schemas.microsoft.com/office/drawing/2014/main" id="{3765D45E-01E3-4724-AFD8-D67B247165E1}"/>
                  </a:ext>
                </a:extLst>
              </p:cNvPr>
              <p:cNvSpPr/>
              <p:nvPr/>
            </p:nvSpPr>
            <p:spPr>
              <a:xfrm>
                <a:off x="5794113"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1" name="直接箭头连接符 20">
              <a:extLst>
                <a:ext uri="{FF2B5EF4-FFF2-40B4-BE49-F238E27FC236}">
                  <a16:creationId xmlns:a16="http://schemas.microsoft.com/office/drawing/2014/main" id="{A0B31960-54A5-477E-B98D-673C8045FEA7}"/>
                </a:ext>
              </a:extLst>
            </p:cNvPr>
            <p:cNvCxnSpPr>
              <a:cxnSpLocks/>
              <a:stCxn id="34" idx="4"/>
            </p:cNvCxnSpPr>
            <p:nvPr/>
          </p:nvCxnSpPr>
          <p:spPr>
            <a:xfrm>
              <a:off x="6096000" y="3217171"/>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22" name="íṡḷiḋê">
              <a:extLst>
                <a:ext uri="{FF2B5EF4-FFF2-40B4-BE49-F238E27FC236}">
                  <a16:creationId xmlns:a16="http://schemas.microsoft.com/office/drawing/2014/main" id="{42F3210A-5519-4277-A2C6-BED1DA8270F4}"/>
                </a:ext>
              </a:extLst>
            </p:cNvPr>
            <p:cNvGrpSpPr/>
            <p:nvPr/>
          </p:nvGrpSpPr>
          <p:grpSpPr>
            <a:xfrm>
              <a:off x="7704515" y="2087618"/>
              <a:ext cx="923364" cy="923364"/>
              <a:chOff x="7705165" y="2289362"/>
              <a:chExt cx="923364" cy="923364"/>
            </a:xfrm>
          </p:grpSpPr>
          <p:sp>
            <p:nvSpPr>
              <p:cNvPr id="32" name="iṧ1idé">
                <a:extLst>
                  <a:ext uri="{FF2B5EF4-FFF2-40B4-BE49-F238E27FC236}">
                    <a16:creationId xmlns:a16="http://schemas.microsoft.com/office/drawing/2014/main" id="{4F7E6197-44C1-4BD8-BF82-1F4E1B4D8D0D}"/>
                  </a:ext>
                </a:extLst>
              </p:cNvPr>
              <p:cNvSpPr/>
              <p:nvPr/>
            </p:nvSpPr>
            <p:spPr>
              <a:xfrm>
                <a:off x="7705165" y="2289362"/>
                <a:ext cx="923364" cy="923364"/>
              </a:xfrm>
              <a:prstGeom prst="ellipse">
                <a:avLst/>
              </a:prstGeom>
              <a:solidFill>
                <a:schemeClr val="tx1">
                  <a:lumMod val="50000"/>
                  <a:lumOff val="50000"/>
                </a:schemeClr>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î$ḻidê">
                <a:extLst>
                  <a:ext uri="{FF2B5EF4-FFF2-40B4-BE49-F238E27FC236}">
                    <a16:creationId xmlns:a16="http://schemas.microsoft.com/office/drawing/2014/main" id="{814B33AE-AC91-481E-8530-71B19475B413}"/>
                  </a:ext>
                </a:extLst>
              </p:cNvPr>
              <p:cNvSpPr/>
              <p:nvPr/>
            </p:nvSpPr>
            <p:spPr>
              <a:xfrm>
                <a:off x="7962910" y="2543737"/>
                <a:ext cx="407876" cy="414616"/>
              </a:xfrm>
              <a:custGeom>
                <a:avLst/>
                <a:gdLst>
                  <a:gd name="connsiteX0" fmla="*/ 24879 w 541917"/>
                  <a:gd name="connsiteY0" fmla="*/ 387059 h 550871"/>
                  <a:gd name="connsiteX1" fmla="*/ 518330 w 541917"/>
                  <a:gd name="connsiteY1" fmla="*/ 387059 h 550871"/>
                  <a:gd name="connsiteX2" fmla="*/ 536414 w 541917"/>
                  <a:gd name="connsiteY2" fmla="*/ 396088 h 550871"/>
                  <a:gd name="connsiteX3" fmla="*/ 541581 w 541917"/>
                  <a:gd name="connsiteY3" fmla="*/ 415436 h 550871"/>
                  <a:gd name="connsiteX4" fmla="*/ 522205 w 541917"/>
                  <a:gd name="connsiteY4" fmla="*/ 550871 h 550871"/>
                  <a:gd name="connsiteX5" fmla="*/ 19712 w 541917"/>
                  <a:gd name="connsiteY5" fmla="*/ 550871 h 550871"/>
                  <a:gd name="connsiteX6" fmla="*/ 336 w 541917"/>
                  <a:gd name="connsiteY6" fmla="*/ 415436 h 550871"/>
                  <a:gd name="connsiteX7" fmla="*/ 5503 w 541917"/>
                  <a:gd name="connsiteY7" fmla="*/ 396088 h 550871"/>
                  <a:gd name="connsiteX8" fmla="*/ 24879 w 541917"/>
                  <a:gd name="connsiteY8" fmla="*/ 387059 h 550871"/>
                  <a:gd name="connsiteX9" fmla="*/ 292206 w 541917"/>
                  <a:gd name="connsiteY9" fmla="*/ 330316 h 550871"/>
                  <a:gd name="connsiteX10" fmla="*/ 417595 w 541917"/>
                  <a:gd name="connsiteY10" fmla="*/ 330316 h 550871"/>
                  <a:gd name="connsiteX11" fmla="*/ 426644 w 541917"/>
                  <a:gd name="connsiteY11" fmla="*/ 341907 h 550871"/>
                  <a:gd name="connsiteX12" fmla="*/ 424058 w 541917"/>
                  <a:gd name="connsiteY12" fmla="*/ 359937 h 550871"/>
                  <a:gd name="connsiteX13" fmla="*/ 411132 w 541917"/>
                  <a:gd name="connsiteY13" fmla="*/ 371528 h 550871"/>
                  <a:gd name="connsiteX14" fmla="*/ 267645 w 541917"/>
                  <a:gd name="connsiteY14" fmla="*/ 371528 h 550871"/>
                  <a:gd name="connsiteX15" fmla="*/ 267645 w 541917"/>
                  <a:gd name="connsiteY15" fmla="*/ 361225 h 550871"/>
                  <a:gd name="connsiteX16" fmla="*/ 268938 w 541917"/>
                  <a:gd name="connsiteY16" fmla="*/ 359937 h 550871"/>
                  <a:gd name="connsiteX17" fmla="*/ 292206 w 541917"/>
                  <a:gd name="connsiteY17" fmla="*/ 330316 h 550871"/>
                  <a:gd name="connsiteX18" fmla="*/ 274065 w 541917"/>
                  <a:gd name="connsiteY18" fmla="*/ 245200 h 550871"/>
                  <a:gd name="connsiteX19" fmla="*/ 429145 w 541917"/>
                  <a:gd name="connsiteY19" fmla="*/ 245200 h 550871"/>
                  <a:gd name="connsiteX20" fmla="*/ 439484 w 541917"/>
                  <a:gd name="connsiteY20" fmla="*/ 259348 h 550871"/>
                  <a:gd name="connsiteX21" fmla="*/ 436899 w 541917"/>
                  <a:gd name="connsiteY21" fmla="*/ 279927 h 550871"/>
                  <a:gd name="connsiteX22" fmla="*/ 422684 w 541917"/>
                  <a:gd name="connsiteY22" fmla="*/ 294074 h 550871"/>
                  <a:gd name="connsiteX23" fmla="*/ 289573 w 541917"/>
                  <a:gd name="connsiteY23" fmla="*/ 294074 h 550871"/>
                  <a:gd name="connsiteX24" fmla="*/ 281819 w 541917"/>
                  <a:gd name="connsiteY24" fmla="*/ 283785 h 550871"/>
                  <a:gd name="connsiteX25" fmla="*/ 274065 w 541917"/>
                  <a:gd name="connsiteY25" fmla="*/ 245200 h 550871"/>
                  <a:gd name="connsiteX26" fmla="*/ 205692 w 541917"/>
                  <a:gd name="connsiteY26" fmla="*/ 219313 h 550871"/>
                  <a:gd name="connsiteX27" fmla="*/ 267629 w 541917"/>
                  <a:gd name="connsiteY27" fmla="*/ 298025 h 550871"/>
                  <a:gd name="connsiteX28" fmla="*/ 270210 w 541917"/>
                  <a:gd name="connsiteY28" fmla="*/ 296735 h 550871"/>
                  <a:gd name="connsiteX29" fmla="*/ 279242 w 541917"/>
                  <a:gd name="connsiteY29" fmla="*/ 318671 h 550871"/>
                  <a:gd name="connsiteX30" fmla="*/ 262468 w 541917"/>
                  <a:gd name="connsiteY30" fmla="*/ 345768 h 550871"/>
                  <a:gd name="connsiteX31" fmla="*/ 259887 w 541917"/>
                  <a:gd name="connsiteY31" fmla="*/ 344478 h 550871"/>
                  <a:gd name="connsiteX32" fmla="*/ 243112 w 541917"/>
                  <a:gd name="connsiteY32" fmla="*/ 370285 h 550871"/>
                  <a:gd name="connsiteX33" fmla="*/ 187627 w 541917"/>
                  <a:gd name="connsiteY33" fmla="*/ 370285 h 550871"/>
                  <a:gd name="connsiteX34" fmla="*/ 168272 w 541917"/>
                  <a:gd name="connsiteY34" fmla="*/ 345768 h 550871"/>
                  <a:gd name="connsiteX35" fmla="*/ 165691 w 541917"/>
                  <a:gd name="connsiteY35" fmla="*/ 345768 h 550871"/>
                  <a:gd name="connsiteX36" fmla="*/ 146336 w 541917"/>
                  <a:gd name="connsiteY36" fmla="*/ 318671 h 550871"/>
                  <a:gd name="connsiteX37" fmla="*/ 152787 w 541917"/>
                  <a:gd name="connsiteY37" fmla="*/ 296735 h 550871"/>
                  <a:gd name="connsiteX38" fmla="*/ 154078 w 541917"/>
                  <a:gd name="connsiteY38" fmla="*/ 296735 h 550871"/>
                  <a:gd name="connsiteX39" fmla="*/ 205692 w 541917"/>
                  <a:gd name="connsiteY39" fmla="*/ 219313 h 550871"/>
                  <a:gd name="connsiteX40" fmla="*/ 76563 w 541917"/>
                  <a:gd name="connsiteY40" fmla="*/ 122600 h 550871"/>
                  <a:gd name="connsiteX41" fmla="*/ 464111 w 541917"/>
                  <a:gd name="connsiteY41" fmla="*/ 122600 h 550871"/>
                  <a:gd name="connsiteX42" fmla="*/ 536453 w 541917"/>
                  <a:gd name="connsiteY42" fmla="*/ 194836 h 550871"/>
                  <a:gd name="connsiteX43" fmla="*/ 513200 w 541917"/>
                  <a:gd name="connsiteY43" fmla="*/ 362527 h 550871"/>
                  <a:gd name="connsiteX44" fmla="*/ 479613 w 541917"/>
                  <a:gd name="connsiteY44" fmla="*/ 362527 h 550871"/>
                  <a:gd name="connsiteX45" fmla="*/ 501574 w 541917"/>
                  <a:gd name="connsiteY45" fmla="*/ 194836 h 550871"/>
                  <a:gd name="connsiteX46" fmla="*/ 464111 w 541917"/>
                  <a:gd name="connsiteY46" fmla="*/ 157428 h 550871"/>
                  <a:gd name="connsiteX47" fmla="*/ 76563 w 541917"/>
                  <a:gd name="connsiteY47" fmla="*/ 157428 h 550871"/>
                  <a:gd name="connsiteX48" fmla="*/ 39100 w 541917"/>
                  <a:gd name="connsiteY48" fmla="*/ 194836 h 550871"/>
                  <a:gd name="connsiteX49" fmla="*/ 63645 w 541917"/>
                  <a:gd name="connsiteY49" fmla="*/ 365107 h 550871"/>
                  <a:gd name="connsiteX50" fmla="*/ 30057 w 541917"/>
                  <a:gd name="connsiteY50" fmla="*/ 365107 h 550871"/>
                  <a:gd name="connsiteX51" fmla="*/ 4221 w 541917"/>
                  <a:gd name="connsiteY51" fmla="*/ 194836 h 550871"/>
                  <a:gd name="connsiteX52" fmla="*/ 76563 w 541917"/>
                  <a:gd name="connsiteY52" fmla="*/ 122600 h 550871"/>
                  <a:gd name="connsiteX53" fmla="*/ 89318 w 541917"/>
                  <a:gd name="connsiteY53" fmla="*/ 57986 h 550871"/>
                  <a:gd name="connsiteX54" fmla="*/ 436859 w 541917"/>
                  <a:gd name="connsiteY54" fmla="*/ 57986 h 550871"/>
                  <a:gd name="connsiteX55" fmla="*/ 444611 w 541917"/>
                  <a:gd name="connsiteY55" fmla="*/ 61864 h 550871"/>
                  <a:gd name="connsiteX56" fmla="*/ 445903 w 541917"/>
                  <a:gd name="connsiteY56" fmla="*/ 69619 h 550871"/>
                  <a:gd name="connsiteX57" fmla="*/ 440735 w 541917"/>
                  <a:gd name="connsiteY57" fmla="*/ 95470 h 550871"/>
                  <a:gd name="connsiteX58" fmla="*/ 86734 w 541917"/>
                  <a:gd name="connsiteY58" fmla="*/ 95470 h 550871"/>
                  <a:gd name="connsiteX59" fmla="*/ 80274 w 541917"/>
                  <a:gd name="connsiteY59" fmla="*/ 69619 h 550871"/>
                  <a:gd name="connsiteX60" fmla="*/ 81566 w 541917"/>
                  <a:gd name="connsiteY60" fmla="*/ 61864 h 550871"/>
                  <a:gd name="connsiteX61" fmla="*/ 89318 w 541917"/>
                  <a:gd name="connsiteY61" fmla="*/ 57986 h 550871"/>
                  <a:gd name="connsiteX62" fmla="*/ 125555 w 541917"/>
                  <a:gd name="connsiteY62" fmla="*/ 0 h 550871"/>
                  <a:gd name="connsiteX63" fmla="*/ 401914 w 541917"/>
                  <a:gd name="connsiteY63" fmla="*/ 0 h 550871"/>
                  <a:gd name="connsiteX64" fmla="*/ 408371 w 541917"/>
                  <a:gd name="connsiteY64" fmla="*/ 3878 h 550871"/>
                  <a:gd name="connsiteX65" fmla="*/ 409663 w 541917"/>
                  <a:gd name="connsiteY65" fmla="*/ 10341 h 550871"/>
                  <a:gd name="connsiteX66" fmla="*/ 405789 w 541917"/>
                  <a:gd name="connsiteY66" fmla="*/ 37484 h 550871"/>
                  <a:gd name="connsiteX67" fmla="*/ 121681 w 541917"/>
                  <a:gd name="connsiteY67" fmla="*/ 37484 h 550871"/>
                  <a:gd name="connsiteX68" fmla="*/ 116516 w 541917"/>
                  <a:gd name="connsiteY68" fmla="*/ 10341 h 550871"/>
                  <a:gd name="connsiteX69" fmla="*/ 117807 w 541917"/>
                  <a:gd name="connsiteY69" fmla="*/ 3878 h 550871"/>
                  <a:gd name="connsiteX70" fmla="*/ 125555 w 541917"/>
                  <a:gd name="connsiteY70"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41917" h="550871">
                    <a:moveTo>
                      <a:pt x="24879" y="387059"/>
                    </a:moveTo>
                    <a:lnTo>
                      <a:pt x="518330" y="387059"/>
                    </a:lnTo>
                    <a:cubicBezTo>
                      <a:pt x="524789" y="387059"/>
                      <a:pt x="531247" y="390929"/>
                      <a:pt x="536414" y="396088"/>
                    </a:cubicBezTo>
                    <a:cubicBezTo>
                      <a:pt x="540290" y="401248"/>
                      <a:pt x="542873" y="407697"/>
                      <a:pt x="541581" y="415436"/>
                    </a:cubicBezTo>
                    <a:lnTo>
                      <a:pt x="522205" y="550871"/>
                    </a:lnTo>
                    <a:lnTo>
                      <a:pt x="19712" y="550871"/>
                    </a:lnTo>
                    <a:lnTo>
                      <a:pt x="336" y="415436"/>
                    </a:lnTo>
                    <a:cubicBezTo>
                      <a:pt x="-956" y="407697"/>
                      <a:pt x="1627" y="401248"/>
                      <a:pt x="5503" y="396088"/>
                    </a:cubicBezTo>
                    <a:cubicBezTo>
                      <a:pt x="10670" y="390929"/>
                      <a:pt x="17128" y="387059"/>
                      <a:pt x="24879" y="387059"/>
                    </a:cubicBezTo>
                    <a:close/>
                    <a:moveTo>
                      <a:pt x="292206" y="330316"/>
                    </a:moveTo>
                    <a:lnTo>
                      <a:pt x="417595" y="330316"/>
                    </a:lnTo>
                    <a:cubicBezTo>
                      <a:pt x="424058" y="330316"/>
                      <a:pt x="427936" y="335468"/>
                      <a:pt x="426644" y="341907"/>
                    </a:cubicBezTo>
                    <a:lnTo>
                      <a:pt x="424058" y="359937"/>
                    </a:lnTo>
                    <a:cubicBezTo>
                      <a:pt x="422766" y="366377"/>
                      <a:pt x="417595" y="371528"/>
                      <a:pt x="411132" y="371528"/>
                    </a:cubicBezTo>
                    <a:lnTo>
                      <a:pt x="267645" y="371528"/>
                    </a:lnTo>
                    <a:lnTo>
                      <a:pt x="267645" y="361225"/>
                    </a:lnTo>
                    <a:cubicBezTo>
                      <a:pt x="267645" y="359937"/>
                      <a:pt x="268938" y="359937"/>
                      <a:pt x="268938" y="359937"/>
                    </a:cubicBezTo>
                    <a:cubicBezTo>
                      <a:pt x="279279" y="356074"/>
                      <a:pt x="288328" y="343195"/>
                      <a:pt x="292206" y="330316"/>
                    </a:cubicBezTo>
                    <a:close/>
                    <a:moveTo>
                      <a:pt x="274065" y="245200"/>
                    </a:moveTo>
                    <a:lnTo>
                      <a:pt x="429145" y="245200"/>
                    </a:lnTo>
                    <a:cubicBezTo>
                      <a:pt x="436899" y="245200"/>
                      <a:pt x="440776" y="251631"/>
                      <a:pt x="439484" y="259348"/>
                    </a:cubicBezTo>
                    <a:lnTo>
                      <a:pt x="436899" y="279927"/>
                    </a:lnTo>
                    <a:cubicBezTo>
                      <a:pt x="435607" y="287643"/>
                      <a:pt x="429145" y="292788"/>
                      <a:pt x="422684" y="294074"/>
                    </a:cubicBezTo>
                    <a:lnTo>
                      <a:pt x="289573" y="294074"/>
                    </a:lnTo>
                    <a:cubicBezTo>
                      <a:pt x="286989" y="288930"/>
                      <a:pt x="285696" y="286357"/>
                      <a:pt x="281819" y="283785"/>
                    </a:cubicBezTo>
                    <a:cubicBezTo>
                      <a:pt x="280527" y="268351"/>
                      <a:pt x="277942" y="255490"/>
                      <a:pt x="274065" y="245200"/>
                    </a:cubicBezTo>
                    <a:close/>
                    <a:moveTo>
                      <a:pt x="205692" y="219313"/>
                    </a:moveTo>
                    <a:cubicBezTo>
                      <a:pt x="257306" y="219313"/>
                      <a:pt x="266339" y="264476"/>
                      <a:pt x="267629" y="298025"/>
                    </a:cubicBezTo>
                    <a:cubicBezTo>
                      <a:pt x="267629" y="296735"/>
                      <a:pt x="268919" y="296735"/>
                      <a:pt x="270210" y="296735"/>
                    </a:cubicBezTo>
                    <a:cubicBezTo>
                      <a:pt x="277952" y="296735"/>
                      <a:pt x="279242" y="307058"/>
                      <a:pt x="279242" y="318671"/>
                    </a:cubicBezTo>
                    <a:cubicBezTo>
                      <a:pt x="277952" y="330284"/>
                      <a:pt x="270210" y="345768"/>
                      <a:pt x="262468" y="345768"/>
                    </a:cubicBezTo>
                    <a:cubicBezTo>
                      <a:pt x="261177" y="345768"/>
                      <a:pt x="259887" y="345768"/>
                      <a:pt x="259887" y="344478"/>
                    </a:cubicBezTo>
                    <a:cubicBezTo>
                      <a:pt x="254725" y="354801"/>
                      <a:pt x="249564" y="363833"/>
                      <a:pt x="243112" y="370285"/>
                    </a:cubicBezTo>
                    <a:lnTo>
                      <a:pt x="187627" y="370285"/>
                    </a:lnTo>
                    <a:cubicBezTo>
                      <a:pt x="179885" y="363833"/>
                      <a:pt x="173433" y="354801"/>
                      <a:pt x="168272" y="345768"/>
                    </a:cubicBezTo>
                    <a:cubicBezTo>
                      <a:pt x="166981" y="345768"/>
                      <a:pt x="166981" y="345768"/>
                      <a:pt x="165691" y="345768"/>
                    </a:cubicBezTo>
                    <a:cubicBezTo>
                      <a:pt x="157949" y="345768"/>
                      <a:pt x="147626" y="330284"/>
                      <a:pt x="146336" y="318671"/>
                    </a:cubicBezTo>
                    <a:cubicBezTo>
                      <a:pt x="145045" y="307058"/>
                      <a:pt x="145045" y="296735"/>
                      <a:pt x="152787" y="296735"/>
                    </a:cubicBezTo>
                    <a:cubicBezTo>
                      <a:pt x="152787" y="296735"/>
                      <a:pt x="154078" y="296735"/>
                      <a:pt x="154078" y="296735"/>
                    </a:cubicBezTo>
                    <a:cubicBezTo>
                      <a:pt x="151497" y="263185"/>
                      <a:pt x="157949" y="219313"/>
                      <a:pt x="205692" y="219313"/>
                    </a:cubicBezTo>
                    <a:close/>
                    <a:moveTo>
                      <a:pt x="76563" y="122600"/>
                    </a:moveTo>
                    <a:lnTo>
                      <a:pt x="464111" y="122600"/>
                    </a:lnTo>
                    <a:cubicBezTo>
                      <a:pt x="504158" y="122600"/>
                      <a:pt x="536453" y="154849"/>
                      <a:pt x="536453" y="194836"/>
                    </a:cubicBezTo>
                    <a:lnTo>
                      <a:pt x="513200" y="362527"/>
                    </a:lnTo>
                    <a:lnTo>
                      <a:pt x="479613" y="362527"/>
                    </a:lnTo>
                    <a:lnTo>
                      <a:pt x="501574" y="194836"/>
                    </a:lnTo>
                    <a:cubicBezTo>
                      <a:pt x="501574" y="174197"/>
                      <a:pt x="484780" y="157428"/>
                      <a:pt x="464111" y="157428"/>
                    </a:cubicBezTo>
                    <a:lnTo>
                      <a:pt x="76563" y="157428"/>
                    </a:lnTo>
                    <a:cubicBezTo>
                      <a:pt x="55894" y="157428"/>
                      <a:pt x="39100" y="174197"/>
                      <a:pt x="39100" y="194836"/>
                    </a:cubicBezTo>
                    <a:lnTo>
                      <a:pt x="63645" y="365107"/>
                    </a:lnTo>
                    <a:lnTo>
                      <a:pt x="30057" y="365107"/>
                    </a:lnTo>
                    <a:lnTo>
                      <a:pt x="4221" y="194836"/>
                    </a:lnTo>
                    <a:cubicBezTo>
                      <a:pt x="4221" y="154849"/>
                      <a:pt x="36516" y="122600"/>
                      <a:pt x="76563" y="122600"/>
                    </a:cubicBezTo>
                    <a:close/>
                    <a:moveTo>
                      <a:pt x="89318" y="57986"/>
                    </a:moveTo>
                    <a:lnTo>
                      <a:pt x="436859" y="57986"/>
                    </a:lnTo>
                    <a:cubicBezTo>
                      <a:pt x="440735" y="57986"/>
                      <a:pt x="443319" y="59279"/>
                      <a:pt x="444611" y="61864"/>
                    </a:cubicBezTo>
                    <a:cubicBezTo>
                      <a:pt x="445903" y="64449"/>
                      <a:pt x="447195" y="67034"/>
                      <a:pt x="445903" y="69619"/>
                    </a:cubicBezTo>
                    <a:lnTo>
                      <a:pt x="440735" y="95470"/>
                    </a:lnTo>
                    <a:lnTo>
                      <a:pt x="86734" y="95470"/>
                    </a:lnTo>
                    <a:lnTo>
                      <a:pt x="80274" y="69619"/>
                    </a:lnTo>
                    <a:cubicBezTo>
                      <a:pt x="78982" y="67034"/>
                      <a:pt x="80274" y="64449"/>
                      <a:pt x="81566" y="61864"/>
                    </a:cubicBezTo>
                    <a:cubicBezTo>
                      <a:pt x="84150" y="59279"/>
                      <a:pt x="86734" y="57986"/>
                      <a:pt x="89318" y="57986"/>
                    </a:cubicBezTo>
                    <a:close/>
                    <a:moveTo>
                      <a:pt x="125555" y="0"/>
                    </a:moveTo>
                    <a:lnTo>
                      <a:pt x="401914" y="0"/>
                    </a:lnTo>
                    <a:cubicBezTo>
                      <a:pt x="404497" y="0"/>
                      <a:pt x="407080" y="1293"/>
                      <a:pt x="408371" y="3878"/>
                    </a:cubicBezTo>
                    <a:cubicBezTo>
                      <a:pt x="409663" y="5170"/>
                      <a:pt x="410954" y="7756"/>
                      <a:pt x="409663" y="10341"/>
                    </a:cubicBezTo>
                    <a:lnTo>
                      <a:pt x="405789" y="37484"/>
                    </a:lnTo>
                    <a:lnTo>
                      <a:pt x="121681" y="37484"/>
                    </a:lnTo>
                    <a:lnTo>
                      <a:pt x="116516" y="10341"/>
                    </a:lnTo>
                    <a:cubicBezTo>
                      <a:pt x="115224" y="7756"/>
                      <a:pt x="116516" y="5170"/>
                      <a:pt x="117807" y="3878"/>
                    </a:cubicBezTo>
                    <a:cubicBezTo>
                      <a:pt x="120390" y="1293"/>
                      <a:pt x="122973" y="0"/>
                      <a:pt x="125555"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5" name="直接箭头连接符 24">
              <a:extLst>
                <a:ext uri="{FF2B5EF4-FFF2-40B4-BE49-F238E27FC236}">
                  <a16:creationId xmlns:a16="http://schemas.microsoft.com/office/drawing/2014/main" id="{0B3B798B-AFEC-474E-B232-BD7E8248B239}"/>
                </a:ext>
              </a:extLst>
            </p:cNvPr>
            <p:cNvCxnSpPr>
              <a:cxnSpLocks/>
              <a:stCxn id="32" idx="4"/>
            </p:cNvCxnSpPr>
            <p:nvPr/>
          </p:nvCxnSpPr>
          <p:spPr>
            <a:xfrm>
              <a:off x="8166197" y="3010982"/>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26" name="ïşḷiḋè">
              <a:extLst>
                <a:ext uri="{FF2B5EF4-FFF2-40B4-BE49-F238E27FC236}">
                  <a16:creationId xmlns:a16="http://schemas.microsoft.com/office/drawing/2014/main" id="{67D914D5-769B-4548-B11F-048363476C81}"/>
                </a:ext>
              </a:extLst>
            </p:cNvPr>
            <p:cNvGrpSpPr/>
            <p:nvPr/>
          </p:nvGrpSpPr>
          <p:grpSpPr>
            <a:xfrm>
              <a:off x="9568522" y="1881429"/>
              <a:ext cx="1335742" cy="1335742"/>
              <a:chOff x="9569823" y="2083173"/>
              <a:chExt cx="1335742" cy="1335742"/>
            </a:xfrm>
          </p:grpSpPr>
          <p:sp>
            <p:nvSpPr>
              <p:cNvPr id="30" name="íSḻîḑe">
                <a:extLst>
                  <a:ext uri="{FF2B5EF4-FFF2-40B4-BE49-F238E27FC236}">
                    <a16:creationId xmlns:a16="http://schemas.microsoft.com/office/drawing/2014/main" id="{45BBBC06-589B-40F7-9D53-F83F0C9CE428}"/>
                  </a:ext>
                </a:extLst>
              </p:cNvPr>
              <p:cNvSpPr/>
              <p:nvPr/>
            </p:nvSpPr>
            <p:spPr>
              <a:xfrm>
                <a:off x="9569823" y="2083173"/>
                <a:ext cx="1335742" cy="1335742"/>
              </a:xfrm>
              <a:prstGeom prst="ellipse">
                <a:avLst/>
              </a:prstGeom>
              <a:solidFill>
                <a:srgbClr val="005A8A"/>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ļíḑé">
                <a:extLst>
                  <a:ext uri="{FF2B5EF4-FFF2-40B4-BE49-F238E27FC236}">
                    <a16:creationId xmlns:a16="http://schemas.microsoft.com/office/drawing/2014/main" id="{D7B77846-6560-43B8-AC7C-CB31A102FDBD}"/>
                  </a:ext>
                </a:extLst>
              </p:cNvPr>
              <p:cNvSpPr/>
              <p:nvPr/>
            </p:nvSpPr>
            <p:spPr>
              <a:xfrm>
                <a:off x="9935808"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9" name="直接箭头连接符 28">
              <a:extLst>
                <a:ext uri="{FF2B5EF4-FFF2-40B4-BE49-F238E27FC236}">
                  <a16:creationId xmlns:a16="http://schemas.microsoft.com/office/drawing/2014/main" id="{29D8686B-06B6-4532-A6ED-CD520AA11AA5}"/>
                </a:ext>
              </a:extLst>
            </p:cNvPr>
            <p:cNvCxnSpPr>
              <a:cxnSpLocks/>
              <a:stCxn id="30" idx="4"/>
            </p:cNvCxnSpPr>
            <p:nvPr/>
          </p:nvCxnSpPr>
          <p:spPr>
            <a:xfrm>
              <a:off x="10236393" y="3217171"/>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sp>
        <p:nvSpPr>
          <p:cNvPr id="41" name="矩形 40">
            <a:extLst>
              <a:ext uri="{FF2B5EF4-FFF2-40B4-BE49-F238E27FC236}">
                <a16:creationId xmlns:a16="http://schemas.microsoft.com/office/drawing/2014/main" id="{D1B3779E-B306-42AA-85DF-93F345D7F1B1}"/>
              </a:ext>
            </a:extLst>
          </p:cNvPr>
          <p:cNvSpPr/>
          <p:nvPr/>
        </p:nvSpPr>
        <p:spPr>
          <a:xfrm>
            <a:off x="1023996" y="4433381"/>
            <a:ext cx="1863219" cy="1295163"/>
          </a:xfrm>
          <a:prstGeom prst="rect">
            <a:avLst/>
          </a:prstGeom>
        </p:spPr>
        <p:txBody>
          <a:bodyPr wrap="square">
            <a:spAutoFit/>
          </a:bodyPr>
          <a:lstStyle/>
          <a:p>
            <a:pPr algn="ctr">
              <a:lnSpc>
                <a:spcPct val="150000"/>
              </a:lnSpc>
              <a:spcAft>
                <a:spcPts val="600"/>
              </a:spcAft>
            </a:pPr>
            <a:r>
              <a:rPr lang="zh-CN" altLang="en-US" dirty="0">
                <a:ea typeface="字魂105号-简雅黑" panose="00000500000000000000" pitchFamily="2" charset="-122"/>
                <a:sym typeface="字魂105号-简雅黑" panose="00000500000000000000" pitchFamily="2" charset="-122"/>
              </a:rPr>
              <a:t>视觉大语言模型发展现状调研及其本地部署</a:t>
            </a:r>
            <a:endParaRPr lang="en-US" altLang="zh-CN" dirty="0">
              <a:ea typeface="字魂105号-简雅黑" panose="00000500000000000000" pitchFamily="2" charset="-122"/>
              <a:sym typeface="字魂105号-简雅黑" panose="00000500000000000000" pitchFamily="2" charset="-122"/>
            </a:endParaRPr>
          </a:p>
        </p:txBody>
      </p:sp>
      <p:sp>
        <p:nvSpPr>
          <p:cNvPr id="42" name="矩形 41">
            <a:extLst>
              <a:ext uri="{FF2B5EF4-FFF2-40B4-BE49-F238E27FC236}">
                <a16:creationId xmlns:a16="http://schemas.microsoft.com/office/drawing/2014/main" id="{68A31A9C-48A0-4AD4-8D28-318FBE750871}"/>
              </a:ext>
            </a:extLst>
          </p:cNvPr>
          <p:cNvSpPr/>
          <p:nvPr/>
        </p:nvSpPr>
        <p:spPr>
          <a:xfrm>
            <a:off x="5164389" y="4433380"/>
            <a:ext cx="1863219" cy="879664"/>
          </a:xfrm>
          <a:prstGeom prst="rect">
            <a:avLst/>
          </a:prstGeom>
        </p:spPr>
        <p:txBody>
          <a:bodyPr wrap="square">
            <a:spAutoFit/>
          </a:bodyPr>
          <a:lstStyle/>
          <a:p>
            <a:pPr algn="ctr">
              <a:lnSpc>
                <a:spcPct val="150000"/>
              </a:lnSpc>
              <a:spcAft>
                <a:spcPts val="600"/>
              </a:spcAft>
            </a:pPr>
            <a:r>
              <a:rPr lang="zh-CN" altLang="en-US" dirty="0">
                <a:ea typeface="字魂105号-简雅黑" panose="00000500000000000000" pitchFamily="2" charset="-122"/>
                <a:sym typeface="字魂105号-简雅黑" panose="00000500000000000000" pitchFamily="2" charset="-122"/>
              </a:rPr>
              <a:t>车载摄像头实时图像采集及处理</a:t>
            </a:r>
            <a:endParaRPr lang="en-US" altLang="zh-CN" dirty="0">
              <a:ea typeface="字魂105号-简雅黑" panose="00000500000000000000" pitchFamily="2" charset="-122"/>
              <a:sym typeface="字魂105号-简雅黑" panose="00000500000000000000" pitchFamily="2" charset="-122"/>
            </a:endParaRPr>
          </a:p>
        </p:txBody>
      </p:sp>
      <p:sp>
        <p:nvSpPr>
          <p:cNvPr id="43" name="矩形 42">
            <a:extLst>
              <a:ext uri="{FF2B5EF4-FFF2-40B4-BE49-F238E27FC236}">
                <a16:creationId xmlns:a16="http://schemas.microsoft.com/office/drawing/2014/main" id="{5154E54B-6924-463F-86D8-A1EA820CF461}"/>
              </a:ext>
            </a:extLst>
          </p:cNvPr>
          <p:cNvSpPr/>
          <p:nvPr/>
        </p:nvSpPr>
        <p:spPr>
          <a:xfrm>
            <a:off x="3093799" y="4042569"/>
            <a:ext cx="1863219" cy="1710661"/>
          </a:xfrm>
          <a:prstGeom prst="rect">
            <a:avLst/>
          </a:prstGeom>
        </p:spPr>
        <p:txBody>
          <a:bodyPr wrap="square">
            <a:spAutoFit/>
          </a:bodyPr>
          <a:lstStyle/>
          <a:p>
            <a:pPr algn="ctr">
              <a:lnSpc>
                <a:spcPct val="150000"/>
              </a:lnSpc>
              <a:spcAft>
                <a:spcPts val="600"/>
              </a:spcAft>
            </a:pPr>
            <a:r>
              <a:rPr lang="zh-CN" altLang="en-US" dirty="0">
                <a:solidFill>
                  <a:srgbClr val="005A8A"/>
                </a:solidFill>
                <a:ea typeface="字魂105号-简雅黑" panose="00000500000000000000" pitchFamily="2" charset="-122"/>
                <a:sym typeface="字魂105号-简雅黑" panose="00000500000000000000" pitchFamily="2" charset="-122"/>
              </a:rPr>
              <a:t>视觉大语言模型环境理解提示词设计及输出结果数字化</a:t>
            </a:r>
            <a:endParaRPr lang="en-US" altLang="zh-CN" dirty="0">
              <a:solidFill>
                <a:srgbClr val="005A8A"/>
              </a:solidFill>
              <a:ea typeface="字魂105号-简雅黑" panose="00000500000000000000" pitchFamily="2" charset="-122"/>
              <a:sym typeface="字魂105号-简雅黑" panose="00000500000000000000" pitchFamily="2" charset="-122"/>
            </a:endParaRPr>
          </a:p>
        </p:txBody>
      </p:sp>
      <p:sp>
        <p:nvSpPr>
          <p:cNvPr id="44" name="矩形 43">
            <a:extLst>
              <a:ext uri="{FF2B5EF4-FFF2-40B4-BE49-F238E27FC236}">
                <a16:creationId xmlns:a16="http://schemas.microsoft.com/office/drawing/2014/main" id="{44FBE151-8BE1-47BD-BE99-BBC2A11894BB}"/>
              </a:ext>
            </a:extLst>
          </p:cNvPr>
          <p:cNvSpPr/>
          <p:nvPr/>
        </p:nvSpPr>
        <p:spPr>
          <a:xfrm>
            <a:off x="9304784" y="4433379"/>
            <a:ext cx="1863219" cy="879664"/>
          </a:xfrm>
          <a:prstGeom prst="rect">
            <a:avLst/>
          </a:prstGeom>
        </p:spPr>
        <p:txBody>
          <a:bodyPr wrap="square">
            <a:spAutoFit/>
          </a:bodyPr>
          <a:lstStyle/>
          <a:p>
            <a:pPr algn="ctr">
              <a:lnSpc>
                <a:spcPct val="150000"/>
              </a:lnSpc>
              <a:spcAft>
                <a:spcPts val="600"/>
              </a:spcAft>
            </a:pPr>
            <a:r>
              <a:rPr lang="zh-CN" altLang="en-US" dirty="0">
                <a:ea typeface="字魂105号-简雅黑" panose="00000500000000000000" pitchFamily="2" charset="-122"/>
                <a:sym typeface="字魂105号-简雅黑" panose="00000500000000000000" pitchFamily="2" charset="-122"/>
              </a:rPr>
              <a:t>实车试验或离线数据测试</a:t>
            </a:r>
            <a:endParaRPr lang="en-US" altLang="zh-CN" dirty="0">
              <a:ea typeface="字魂105号-简雅黑" panose="00000500000000000000" pitchFamily="2" charset="-122"/>
              <a:sym typeface="字魂105号-简雅黑" panose="00000500000000000000" pitchFamily="2" charset="-122"/>
            </a:endParaRPr>
          </a:p>
        </p:txBody>
      </p:sp>
      <p:sp>
        <p:nvSpPr>
          <p:cNvPr id="45" name="矩形 44">
            <a:extLst>
              <a:ext uri="{FF2B5EF4-FFF2-40B4-BE49-F238E27FC236}">
                <a16:creationId xmlns:a16="http://schemas.microsoft.com/office/drawing/2014/main" id="{B67025A6-FF76-479F-A9DB-3C74F2C74BB2}"/>
              </a:ext>
            </a:extLst>
          </p:cNvPr>
          <p:cNvSpPr/>
          <p:nvPr/>
        </p:nvSpPr>
        <p:spPr>
          <a:xfrm>
            <a:off x="7234191" y="4042569"/>
            <a:ext cx="1863219" cy="1295163"/>
          </a:xfrm>
          <a:prstGeom prst="rect">
            <a:avLst/>
          </a:prstGeom>
        </p:spPr>
        <p:txBody>
          <a:bodyPr wrap="square">
            <a:spAutoFit/>
          </a:bodyPr>
          <a:lstStyle/>
          <a:p>
            <a:pPr algn="ctr">
              <a:lnSpc>
                <a:spcPct val="150000"/>
              </a:lnSpc>
              <a:spcAft>
                <a:spcPts val="600"/>
              </a:spcAft>
            </a:pPr>
            <a:r>
              <a:rPr lang="zh-CN" altLang="en-US" dirty="0">
                <a:solidFill>
                  <a:srgbClr val="005A8A"/>
                </a:solidFill>
                <a:ea typeface="字魂105号-简雅黑" panose="00000500000000000000" pitchFamily="2" charset="-122"/>
                <a:sym typeface="字魂105号-简雅黑" panose="00000500000000000000" pitchFamily="2" charset="-122"/>
              </a:rPr>
              <a:t>多传感器融合系统传感器信息权重调整方法</a:t>
            </a:r>
            <a:endParaRPr lang="en-US" altLang="zh-CN" dirty="0">
              <a:solidFill>
                <a:srgbClr val="005A8A"/>
              </a:solidFill>
              <a:ea typeface="字魂105号-简雅黑" panose="00000500000000000000" pitchFamily="2" charset="-122"/>
              <a:sym typeface="字魂105号-简雅黑" panose="00000500000000000000" pitchFamily="2" charset="-122"/>
            </a:endParaRPr>
          </a:p>
        </p:txBody>
      </p:sp>
      <p:pic>
        <p:nvPicPr>
          <p:cNvPr id="46" name="图片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extLst>
      <p:ext uri="{BB962C8B-B14F-4D97-AF65-F5344CB8AC3E}">
        <p14:creationId xmlns:p14="http://schemas.microsoft.com/office/powerpoint/2010/main" val="2299375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a:extLst>
              <a:ext uri="{FF2B5EF4-FFF2-40B4-BE49-F238E27FC236}">
                <a16:creationId xmlns:a16="http://schemas.microsoft.com/office/drawing/2014/main" id="{F12EFB7D-0D00-4088-A401-619DEACE6045}"/>
              </a:ext>
            </a:extLst>
          </p:cNvPr>
          <p:cNvSpPr/>
          <p:nvPr/>
        </p:nvSpPr>
        <p:spPr>
          <a:xfrm>
            <a:off x="1483360" y="1981200"/>
            <a:ext cx="2651760" cy="164592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 name="图片 4">
            <a:extLst>
              <a:ext uri="{FF2B5EF4-FFF2-40B4-BE49-F238E27FC236}">
                <a16:creationId xmlns:a16="http://schemas.microsoft.com/office/drawing/2014/main" id="{915B5E17-D4A3-4456-A704-E48C76D8D9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3015" y="2219265"/>
            <a:ext cx="674370" cy="674370"/>
          </a:xfrm>
          <a:prstGeom prst="rect">
            <a:avLst/>
          </a:prstGeom>
        </p:spPr>
      </p:pic>
      <p:sp>
        <p:nvSpPr>
          <p:cNvPr id="6" name="文本框 5">
            <a:extLst>
              <a:ext uri="{FF2B5EF4-FFF2-40B4-BE49-F238E27FC236}">
                <a16:creationId xmlns:a16="http://schemas.microsoft.com/office/drawing/2014/main" id="{A57600E8-B4B6-4110-83D4-AF2FD6249827}"/>
              </a:ext>
            </a:extLst>
          </p:cNvPr>
          <p:cNvSpPr txBox="1"/>
          <p:nvPr/>
        </p:nvSpPr>
        <p:spPr>
          <a:xfrm>
            <a:off x="2259826" y="3059370"/>
            <a:ext cx="1255534"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创新点一</a:t>
            </a:r>
          </a:p>
        </p:txBody>
      </p:sp>
      <p:sp>
        <p:nvSpPr>
          <p:cNvPr id="7" name="矩形 6">
            <a:extLst>
              <a:ext uri="{FF2B5EF4-FFF2-40B4-BE49-F238E27FC236}">
                <a16:creationId xmlns:a16="http://schemas.microsoft.com/office/drawing/2014/main" id="{C5CEEE3D-5312-46EA-AEF2-C32B89EB0AD2}"/>
              </a:ext>
            </a:extLst>
          </p:cNvPr>
          <p:cNvSpPr/>
          <p:nvPr/>
        </p:nvSpPr>
        <p:spPr>
          <a:xfrm>
            <a:off x="4135120" y="1981200"/>
            <a:ext cx="6309360" cy="1645920"/>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矩形 7">
            <a:extLst>
              <a:ext uri="{FF2B5EF4-FFF2-40B4-BE49-F238E27FC236}">
                <a16:creationId xmlns:a16="http://schemas.microsoft.com/office/drawing/2014/main" id="{BB5AD55C-7BC0-45D8-8549-3165D9805C1E}"/>
              </a:ext>
            </a:extLst>
          </p:cNvPr>
          <p:cNvSpPr/>
          <p:nvPr/>
        </p:nvSpPr>
        <p:spPr>
          <a:xfrm>
            <a:off x="1483360" y="4094480"/>
            <a:ext cx="2651760" cy="164592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a:extLst>
              <a:ext uri="{FF2B5EF4-FFF2-40B4-BE49-F238E27FC236}">
                <a16:creationId xmlns:a16="http://schemas.microsoft.com/office/drawing/2014/main" id="{A8B4AA66-EC7A-4D4C-8373-22B67C0C22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3015" y="4332545"/>
            <a:ext cx="674370" cy="674370"/>
          </a:xfrm>
          <a:prstGeom prst="rect">
            <a:avLst/>
          </a:prstGeom>
        </p:spPr>
      </p:pic>
      <p:sp>
        <p:nvSpPr>
          <p:cNvPr id="10" name="文本框 9">
            <a:extLst>
              <a:ext uri="{FF2B5EF4-FFF2-40B4-BE49-F238E27FC236}">
                <a16:creationId xmlns:a16="http://schemas.microsoft.com/office/drawing/2014/main" id="{B36724CD-3ACB-4205-9F09-B20447A775B8}"/>
              </a:ext>
            </a:extLst>
          </p:cNvPr>
          <p:cNvSpPr txBox="1"/>
          <p:nvPr/>
        </p:nvSpPr>
        <p:spPr>
          <a:xfrm>
            <a:off x="2259826" y="5172650"/>
            <a:ext cx="1255534"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创新点二</a:t>
            </a:r>
          </a:p>
        </p:txBody>
      </p:sp>
      <p:sp>
        <p:nvSpPr>
          <p:cNvPr id="11" name="矩形 10">
            <a:extLst>
              <a:ext uri="{FF2B5EF4-FFF2-40B4-BE49-F238E27FC236}">
                <a16:creationId xmlns:a16="http://schemas.microsoft.com/office/drawing/2014/main" id="{CC532DDD-5C04-45A1-B399-47F27A3D552F}"/>
              </a:ext>
            </a:extLst>
          </p:cNvPr>
          <p:cNvSpPr/>
          <p:nvPr/>
        </p:nvSpPr>
        <p:spPr>
          <a:xfrm>
            <a:off x="4135120" y="4094480"/>
            <a:ext cx="6309360" cy="1645920"/>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文本框 11">
            <a:extLst>
              <a:ext uri="{FF2B5EF4-FFF2-40B4-BE49-F238E27FC236}">
                <a16:creationId xmlns:a16="http://schemas.microsoft.com/office/drawing/2014/main" id="{37FB771B-6C11-4B58-A471-FE0E67B16C28}"/>
              </a:ext>
            </a:extLst>
          </p:cNvPr>
          <p:cNvSpPr txBox="1"/>
          <p:nvPr/>
        </p:nvSpPr>
        <p:spPr>
          <a:xfrm>
            <a:off x="4291826" y="2041066"/>
            <a:ext cx="6265545" cy="1526187"/>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       创新性地将当前研究热点视觉大语言模型的优势引入车辆组合定位系统，借助其强大的环境理解能力，对前方行驶环境进行深度理解，提前预判多传感器在复杂环境下的信号质量变化，相较于传统方法，更加及时、准确。</a:t>
            </a:r>
          </a:p>
        </p:txBody>
      </p:sp>
      <p:sp>
        <p:nvSpPr>
          <p:cNvPr id="13" name="文本框 12">
            <a:extLst>
              <a:ext uri="{FF2B5EF4-FFF2-40B4-BE49-F238E27FC236}">
                <a16:creationId xmlns:a16="http://schemas.microsoft.com/office/drawing/2014/main" id="{D4A1C427-C8F6-46E5-8E48-535FA054BC35}"/>
              </a:ext>
            </a:extLst>
          </p:cNvPr>
          <p:cNvSpPr txBox="1"/>
          <p:nvPr/>
        </p:nvSpPr>
        <p:spPr>
          <a:xfrm>
            <a:off x="4257040" y="4384742"/>
            <a:ext cx="6114277" cy="787908"/>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       能通过实时调整传感器权重，实现组合定位系统的自适应优化，显著提升系统在不同行驶环境下的鲁棒性与定位精度。</a:t>
            </a:r>
          </a:p>
        </p:txBody>
      </p:sp>
      <p:pic>
        <p:nvPicPr>
          <p:cNvPr id="15" name="图片 14">
            <a:extLst>
              <a:ext uri="{FF2B5EF4-FFF2-40B4-BE49-F238E27FC236}">
                <a16:creationId xmlns:a16="http://schemas.microsoft.com/office/drawing/2014/main" id="{164863AD-4CBB-4E7C-85A6-28FD4FB0B1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14" name="矩形 13">
            <a:extLst>
              <a:ext uri="{FF2B5EF4-FFF2-40B4-BE49-F238E27FC236}">
                <a16:creationId xmlns:a16="http://schemas.microsoft.com/office/drawing/2014/main" id="{E22CE6F7-9E62-032B-A8D4-338FD6F10AE1}"/>
              </a:ext>
            </a:extLst>
          </p:cNvPr>
          <p:cNvSpPr/>
          <p:nvPr/>
        </p:nvSpPr>
        <p:spPr>
          <a:xfrm>
            <a:off x="1359000" y="647713"/>
            <a:ext cx="2372765"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1.4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项目创新点</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extLst>
      <p:ext uri="{BB962C8B-B14F-4D97-AF65-F5344CB8AC3E}">
        <p14:creationId xmlns:p14="http://schemas.microsoft.com/office/powerpoint/2010/main" val="2030351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161570" y="3271730"/>
            <a:ext cx="4647150" cy="646331"/>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2.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中期工作进展</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2208898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a:extLst>
              <a:ext uri="{FF2B5EF4-FFF2-40B4-BE49-F238E27FC236}">
                <a16:creationId xmlns:a16="http://schemas.microsoft.com/office/drawing/2014/main" id="{DDC6E0B7-4764-4119-A415-1B877092F9D8}"/>
              </a:ext>
            </a:extLst>
          </p:cNvPr>
          <p:cNvSpPr/>
          <p:nvPr/>
        </p:nvSpPr>
        <p:spPr>
          <a:xfrm>
            <a:off x="415013" y="503442"/>
            <a:ext cx="4293873"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0" name="图片 19">
            <a:extLst>
              <a:ext uri="{FF2B5EF4-FFF2-40B4-BE49-F238E27FC236}">
                <a16:creationId xmlns:a16="http://schemas.microsoft.com/office/drawing/2014/main" id="{2B47B2C1-89C2-4459-9822-A59B07FDA7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1" name="矩形 20">
            <a:extLst>
              <a:ext uri="{FF2B5EF4-FFF2-40B4-BE49-F238E27FC236}">
                <a16:creationId xmlns:a16="http://schemas.microsoft.com/office/drawing/2014/main" id="{4DB19071-A3F2-4057-BD56-3E833E98D548}"/>
              </a:ext>
            </a:extLst>
          </p:cNvPr>
          <p:cNvSpPr/>
          <p:nvPr/>
        </p:nvSpPr>
        <p:spPr>
          <a:xfrm>
            <a:off x="1359000" y="647713"/>
            <a:ext cx="3068469"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阶段一：</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年</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5</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月</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a:extLst>
              <a:ext uri="{FF2B5EF4-FFF2-40B4-BE49-F238E27FC236}">
                <a16:creationId xmlns:a16="http://schemas.microsoft.com/office/drawing/2014/main" id="{E805ED44-4EB6-4E49-A8C6-727A52B4C08E}"/>
              </a:ext>
            </a:extLst>
          </p:cNvPr>
          <p:cNvSpPr/>
          <p:nvPr/>
        </p:nvSpPr>
        <p:spPr>
          <a:xfrm>
            <a:off x="972128" y="1520803"/>
            <a:ext cx="4611436" cy="4687822"/>
          </a:xfrm>
          <a:prstGeom prst="rect">
            <a:avLst/>
          </a:prstGeom>
        </p:spPr>
        <p:txBody>
          <a:bodyPr wrap="square">
            <a:spAutoFit/>
          </a:bodyPr>
          <a:lstStyle/>
          <a:p>
            <a:pPr>
              <a:lnSpc>
                <a:spcPct val="150000"/>
              </a:lnSpc>
              <a:spcAft>
                <a:spcPts val="600"/>
              </a:spcAft>
            </a:pPr>
            <a:r>
              <a:rPr lang="zh-CN" altLang="en-US"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全面的文献调研工作</a:t>
            </a:r>
            <a:endParaRPr lang="en-US" altLang="zh-CN"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dirty="0">
                <a:latin typeface="Times New Roman" panose="02020603050405020304" pitchFamily="18" charset="0"/>
                <a:ea typeface="字魂105号-简雅黑" panose="00000500000000000000"/>
                <a:cs typeface="Times New Roman" panose="02020603050405020304" pitchFamily="18" charset="0"/>
              </a:rPr>
              <a:t>        本项目已系统性地完成了对国内外主流大语言模型的深度调研与评估分析。调研对象涵盖</a:t>
            </a:r>
            <a:r>
              <a:rPr lang="en-US" altLang="zh-CN" dirty="0">
                <a:latin typeface="Times New Roman" panose="02020603050405020304" pitchFamily="18" charset="0"/>
                <a:ea typeface="字魂105号-简雅黑" panose="00000500000000000000"/>
                <a:cs typeface="Times New Roman" panose="02020603050405020304" pitchFamily="18" charset="0"/>
              </a:rPr>
              <a:t>ChatGPT</a:t>
            </a:r>
            <a:r>
              <a:rPr lang="zh-CN" altLang="en-US" dirty="0">
                <a:latin typeface="Times New Roman" panose="02020603050405020304" pitchFamily="18" charset="0"/>
                <a:ea typeface="字魂105号-简雅黑" panose="00000500000000000000"/>
                <a:cs typeface="Times New Roman" panose="02020603050405020304" pitchFamily="18" charset="0"/>
              </a:rPr>
              <a:t>、</a:t>
            </a:r>
            <a:r>
              <a:rPr lang="en-US" altLang="zh-CN" dirty="0">
                <a:latin typeface="Times New Roman" panose="02020603050405020304" pitchFamily="18" charset="0"/>
                <a:ea typeface="字魂105号-简雅黑" panose="00000500000000000000"/>
                <a:cs typeface="Times New Roman" panose="02020603050405020304" pitchFamily="18" charset="0"/>
              </a:rPr>
              <a:t>DeepSeek</a:t>
            </a:r>
            <a:r>
              <a:rPr lang="zh-CN" altLang="en-US" dirty="0">
                <a:latin typeface="Times New Roman" panose="02020603050405020304" pitchFamily="18" charset="0"/>
                <a:ea typeface="字魂105号-简雅黑" panose="00000500000000000000"/>
                <a:cs typeface="Times New Roman" panose="02020603050405020304" pitchFamily="18" charset="0"/>
              </a:rPr>
              <a:t>、</a:t>
            </a:r>
            <a:r>
              <a:rPr lang="en-US" altLang="zh-CN" dirty="0">
                <a:latin typeface="Times New Roman" panose="02020603050405020304" pitchFamily="18" charset="0"/>
                <a:ea typeface="字魂105号-简雅黑" panose="00000500000000000000"/>
                <a:cs typeface="Times New Roman" panose="02020603050405020304" pitchFamily="18" charset="0"/>
              </a:rPr>
              <a:t>Kimi K2</a:t>
            </a:r>
            <a:r>
              <a:rPr lang="zh-CN" altLang="en-US" dirty="0">
                <a:latin typeface="Times New Roman" panose="02020603050405020304" pitchFamily="18" charset="0"/>
                <a:ea typeface="字魂105号-简雅黑" panose="00000500000000000000"/>
                <a:cs typeface="Times New Roman" panose="02020603050405020304" pitchFamily="18" charset="0"/>
              </a:rPr>
              <a:t>、豆包、</a:t>
            </a:r>
            <a:r>
              <a:rPr lang="en-US" altLang="zh-CN" dirty="0">
                <a:latin typeface="Times New Roman" panose="02020603050405020304" pitchFamily="18" charset="0"/>
                <a:ea typeface="字魂105号-简雅黑" panose="00000500000000000000"/>
                <a:cs typeface="Times New Roman" panose="02020603050405020304" pitchFamily="18" charset="0"/>
              </a:rPr>
              <a:t>Gemini 2.5 Pro</a:t>
            </a:r>
            <a:r>
              <a:rPr lang="zh-CN" altLang="en-US" dirty="0">
                <a:latin typeface="Times New Roman" panose="02020603050405020304" pitchFamily="18" charset="0"/>
                <a:ea typeface="字魂105号-简雅黑" panose="00000500000000000000"/>
                <a:cs typeface="Times New Roman" panose="02020603050405020304" pitchFamily="18" charset="0"/>
              </a:rPr>
              <a:t>、</a:t>
            </a:r>
            <a:r>
              <a:rPr lang="en-US" altLang="zh-CN" dirty="0">
                <a:latin typeface="Times New Roman" panose="02020603050405020304" pitchFamily="18" charset="0"/>
                <a:ea typeface="字魂105号-简雅黑" panose="00000500000000000000"/>
                <a:cs typeface="Times New Roman" panose="02020603050405020304" pitchFamily="18" charset="0"/>
              </a:rPr>
              <a:t>Llama</a:t>
            </a:r>
            <a:r>
              <a:rPr lang="zh-CN" altLang="en-US" dirty="0">
                <a:latin typeface="Times New Roman" panose="02020603050405020304" pitchFamily="18" charset="0"/>
                <a:ea typeface="字魂105号-简雅黑" panose="00000500000000000000"/>
                <a:cs typeface="Times New Roman" panose="02020603050405020304" pitchFamily="18" charset="0"/>
              </a:rPr>
              <a:t>及</a:t>
            </a:r>
            <a:r>
              <a:rPr lang="en-US" altLang="zh-CN" dirty="0" err="1">
                <a:latin typeface="Times New Roman" panose="02020603050405020304" pitchFamily="18" charset="0"/>
                <a:ea typeface="字魂105号-简雅黑" panose="00000500000000000000"/>
                <a:cs typeface="Times New Roman" panose="02020603050405020304" pitchFamily="18" charset="0"/>
              </a:rPr>
              <a:t>Qwen</a:t>
            </a:r>
            <a:r>
              <a:rPr lang="zh-CN" altLang="en-US" dirty="0">
                <a:latin typeface="Times New Roman" panose="02020603050405020304" pitchFamily="18" charset="0"/>
                <a:ea typeface="字魂105号-简雅黑" panose="00000500000000000000"/>
                <a:cs typeface="Times New Roman" panose="02020603050405020304" pitchFamily="18" charset="0"/>
              </a:rPr>
              <a:t>系列等多个核心模型。调研内容深入，不仅限于基础信息，更重点分析了各模型的</a:t>
            </a:r>
            <a:r>
              <a:rPr lang="zh-CN" altLang="en-US" b="1" dirty="0">
                <a:latin typeface="Times New Roman" panose="02020603050405020304" pitchFamily="18" charset="0"/>
                <a:ea typeface="字魂105号-简雅黑" panose="00000500000000000000"/>
                <a:cs typeface="Times New Roman" panose="02020603050405020304" pitchFamily="18" charset="0"/>
              </a:rPr>
              <a:t>参数量级、核心技术特点、在车载边缘计算设备上的本地部署可行性、推理过程中的计算与内存资源占用情况，以及最终的部署成本</a:t>
            </a:r>
            <a:r>
              <a:rPr lang="zh-CN" altLang="en-US" dirty="0">
                <a:latin typeface="Times New Roman" panose="02020603050405020304" pitchFamily="18" charset="0"/>
                <a:ea typeface="字魂105号-简雅黑" panose="00000500000000000000"/>
                <a:cs typeface="Times New Roman" panose="02020603050405020304" pitchFamily="18" charset="0"/>
              </a:rPr>
              <a:t>。在此基础之上，目前已撰写并提交了一份详细的调研报告。</a:t>
            </a:r>
            <a:endParaRPr lang="en-US" altLang="zh-CN" sz="12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endParaRPr>
          </a:p>
        </p:txBody>
      </p:sp>
      <p:sp>
        <p:nvSpPr>
          <p:cNvPr id="23" name="矩形 22">
            <a:extLst>
              <a:ext uri="{FF2B5EF4-FFF2-40B4-BE49-F238E27FC236}">
                <a16:creationId xmlns:a16="http://schemas.microsoft.com/office/drawing/2014/main" id="{562EE4E6-80DF-432B-8A91-0DCF6A7B97D0}"/>
              </a:ext>
            </a:extLst>
          </p:cNvPr>
          <p:cNvSpPr/>
          <p:nvPr/>
        </p:nvSpPr>
        <p:spPr>
          <a:xfrm>
            <a:off x="7594559" y="1767528"/>
            <a:ext cx="1863219" cy="787523"/>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调研范围全面，覆盖国内外核心模型</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a:extLst>
              <a:ext uri="{FF2B5EF4-FFF2-40B4-BE49-F238E27FC236}">
                <a16:creationId xmlns:a16="http://schemas.microsoft.com/office/drawing/2014/main" id="{9EA18A84-0E77-4281-9B7F-03335BE9CF43}"/>
              </a:ext>
            </a:extLst>
          </p:cNvPr>
          <p:cNvSpPr/>
          <p:nvPr/>
        </p:nvSpPr>
        <p:spPr>
          <a:xfrm>
            <a:off x="5915029" y="4106347"/>
            <a:ext cx="1863219" cy="787523"/>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分析维度深入，紧扣项目落地关键</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a:extLst>
              <a:ext uri="{FF2B5EF4-FFF2-40B4-BE49-F238E27FC236}">
                <a16:creationId xmlns:a16="http://schemas.microsoft.com/office/drawing/2014/main" id="{E011E2D4-A14D-4234-BBF5-77D820307FEE}"/>
              </a:ext>
            </a:extLst>
          </p:cNvPr>
          <p:cNvSpPr/>
          <p:nvPr/>
        </p:nvSpPr>
        <p:spPr>
          <a:xfrm>
            <a:off x="9232904" y="4106347"/>
            <a:ext cx="1932254" cy="787523"/>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产出明确，形成指导性结论</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pic>
        <p:nvPicPr>
          <p:cNvPr id="10" name="图片 9" descr="文本, 信件&#10;&#10;AI 生成的内容可能不正确。">
            <a:extLst>
              <a:ext uri="{FF2B5EF4-FFF2-40B4-BE49-F238E27FC236}">
                <a16:creationId xmlns:a16="http://schemas.microsoft.com/office/drawing/2014/main" id="{E700A346-7868-C717-6240-081D34A22F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8468" y="995243"/>
            <a:ext cx="1976130" cy="2567865"/>
          </a:xfrm>
          <a:prstGeom prst="rect">
            <a:avLst/>
          </a:prstGeom>
        </p:spPr>
      </p:pic>
      <p:pic>
        <p:nvPicPr>
          <p:cNvPr id="12" name="图片 11" descr="表格&#10;&#10;AI 生成的内容可能不正确。">
            <a:extLst>
              <a:ext uri="{FF2B5EF4-FFF2-40B4-BE49-F238E27FC236}">
                <a16:creationId xmlns:a16="http://schemas.microsoft.com/office/drawing/2014/main" id="{030C463F-D56D-89C0-3865-FF8F6CAACE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65684" y="995243"/>
            <a:ext cx="1976130" cy="2762836"/>
          </a:xfrm>
          <a:prstGeom prst="rect">
            <a:avLst/>
          </a:prstGeom>
        </p:spPr>
      </p:pic>
      <p:pic>
        <p:nvPicPr>
          <p:cNvPr id="17" name="图片 16" descr="图示&#10;&#10;AI 生成的内容可能不正确。">
            <a:extLst>
              <a:ext uri="{FF2B5EF4-FFF2-40B4-BE49-F238E27FC236}">
                <a16:creationId xmlns:a16="http://schemas.microsoft.com/office/drawing/2014/main" id="{FF571ACC-5AB4-AA41-9530-D67ACDAE89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64827" y="3147482"/>
            <a:ext cx="2173379" cy="3019011"/>
          </a:xfrm>
          <a:prstGeom prst="rect">
            <a:avLst/>
          </a:prstGeom>
        </p:spPr>
      </p:pic>
      <p:pic>
        <p:nvPicPr>
          <p:cNvPr id="8" name="图片 7" descr="文本, 信件&#10;&#10;AI 生成的内容可能不正确。">
            <a:extLst>
              <a:ext uri="{FF2B5EF4-FFF2-40B4-BE49-F238E27FC236}">
                <a16:creationId xmlns:a16="http://schemas.microsoft.com/office/drawing/2014/main" id="{5E4A8189-502F-4E77-D784-83F405A1D0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69112" y="1000043"/>
            <a:ext cx="2224137" cy="2762836"/>
          </a:xfrm>
          <a:prstGeom prst="rect">
            <a:avLst/>
          </a:prstGeom>
        </p:spPr>
      </p:pic>
      <p:pic>
        <p:nvPicPr>
          <p:cNvPr id="14" name="图片 13" descr="表格&#10;&#10;AI 生成的内容可能不正确。">
            <a:extLst>
              <a:ext uri="{FF2B5EF4-FFF2-40B4-BE49-F238E27FC236}">
                <a16:creationId xmlns:a16="http://schemas.microsoft.com/office/drawing/2014/main" id="{5FE748AC-887E-BF24-F0B7-6172E56FE0C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48929" y="3208087"/>
            <a:ext cx="2114246" cy="2958406"/>
          </a:xfrm>
          <a:prstGeom prst="rect">
            <a:avLst/>
          </a:prstGeom>
        </p:spPr>
      </p:pic>
    </p:spTree>
    <p:extLst>
      <p:ext uri="{BB962C8B-B14F-4D97-AF65-F5344CB8AC3E}">
        <p14:creationId xmlns:p14="http://schemas.microsoft.com/office/powerpoint/2010/main" val="3108786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5038691" y="0"/>
            <a:ext cx="7151370" cy="6858000"/>
            <a:chOff x="0" y="0"/>
            <a:chExt cx="5959248" cy="5143500"/>
          </a:xfrm>
        </p:grpSpPr>
        <p:sp>
          <p:nvSpPr>
            <p:cNvPr id="9219" name="平行四边形 54"/>
            <p:cNvSpPr>
              <a:spLocks noChangeArrowheads="1"/>
            </p:cNvSpPr>
            <p:nvPr/>
          </p:nvSpPr>
          <p:spPr bwMode="auto">
            <a:xfrm>
              <a:off x="0" y="0"/>
              <a:ext cx="2009775" cy="5143500"/>
            </a:xfrm>
            <a:prstGeom prst="parallelogram">
              <a:avLst>
                <a:gd name="adj" fmla="val 50588"/>
              </a:avLst>
            </a:prstGeom>
            <a:solidFill>
              <a:schemeClr val="accent1">
                <a:lumMod val="20000"/>
                <a:lumOff val="80000"/>
              </a:schemeClr>
            </a:solid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0" name="流程图: 手动输入 28"/>
            <p:cNvSpPr>
              <a:spLocks noChangeArrowheads="1"/>
            </p:cNvSpPr>
            <p:nvPr/>
          </p:nvSpPr>
          <p:spPr bwMode="auto">
            <a:xfrm rot="16200000" flipH="1">
              <a:off x="906235" y="90487"/>
              <a:ext cx="5143500" cy="4962526"/>
            </a:xfrm>
            <a:prstGeom prst="flowChartManualInput">
              <a:avLst/>
            </a:prstGeom>
            <a:solidFill>
              <a:schemeClr val="accent1">
                <a:lumMod val="60000"/>
                <a:lumOff val="40000"/>
              </a:schemeClr>
            </a:solid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1" name="平行四边形 11"/>
            <p:cNvSpPr>
              <a:spLocks noChangeArrowheads="1"/>
            </p:cNvSpPr>
            <p:nvPr/>
          </p:nvSpPr>
          <p:spPr bwMode="auto">
            <a:xfrm>
              <a:off x="973590" y="0"/>
              <a:ext cx="2009775" cy="5143500"/>
            </a:xfrm>
            <a:prstGeom prst="parallelogram">
              <a:avLst>
                <a:gd name="adj" fmla="val 50588"/>
              </a:avLst>
            </a:prstGeom>
            <a:solidFill>
              <a:srgbClr val="005A8A"/>
            </a:solid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2" name="Group 6"/>
          <p:cNvGrpSpPr>
            <a:grpSpLocks/>
          </p:cNvGrpSpPr>
          <p:nvPr/>
        </p:nvGrpSpPr>
        <p:grpSpPr bwMode="auto">
          <a:xfrm>
            <a:off x="2670572" y="1951581"/>
            <a:ext cx="4455083" cy="1998133"/>
            <a:chOff x="0" y="0"/>
            <a:chExt cx="3712094" cy="1497581"/>
          </a:xfrm>
          <a:solidFill>
            <a:srgbClr val="005A8A"/>
          </a:solidFill>
        </p:grpSpPr>
        <p:sp>
          <p:nvSpPr>
            <p:cNvPr id="9223" name="右箭头 30"/>
            <p:cNvSpPr>
              <a:spLocks noChangeArrowheads="1"/>
            </p:cNvSpPr>
            <p:nvPr/>
          </p:nvSpPr>
          <p:spPr bwMode="auto">
            <a:xfrm rot="660000" flipH="1" flipV="1">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4" name="矩形 9"/>
            <p:cNvSpPr>
              <a:spLocks noChangeArrowheads="1"/>
            </p:cNvSpPr>
            <p:nvPr/>
          </p:nvSpPr>
          <p:spPr bwMode="auto">
            <a:xfrm rot="660000">
              <a:off x="883169" y="555737"/>
              <a:ext cx="2828925" cy="4359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Aft>
                  <a:spcPts val="600"/>
                </a:spcAft>
              </a:pP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5" name="Group 9"/>
          <p:cNvGrpSpPr>
            <a:grpSpLocks/>
          </p:cNvGrpSpPr>
          <p:nvPr/>
        </p:nvGrpSpPr>
        <p:grpSpPr bwMode="auto">
          <a:xfrm>
            <a:off x="6561557" y="3977557"/>
            <a:ext cx="4223386" cy="1996018"/>
            <a:chOff x="0" y="0"/>
            <a:chExt cx="3519038" cy="1497581"/>
          </a:xfrm>
          <a:solidFill>
            <a:schemeClr val="accent1">
              <a:lumMod val="20000"/>
              <a:lumOff val="80000"/>
            </a:schemeClr>
          </a:solidFill>
        </p:grpSpPr>
        <p:sp>
          <p:nvSpPr>
            <p:cNvPr id="9226" name="右箭头 52"/>
            <p:cNvSpPr>
              <a:spLocks noChangeArrowheads="1"/>
            </p:cNvSpPr>
            <p:nvPr/>
          </p:nvSpPr>
          <p:spPr bwMode="auto">
            <a:xfrm rot="660000">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7" name="矩形 53"/>
            <p:cNvSpPr>
              <a:spLocks noChangeArrowheads="1"/>
            </p:cNvSpPr>
            <p:nvPr/>
          </p:nvSpPr>
          <p:spPr bwMode="auto">
            <a:xfrm rot="619144">
              <a:off x="558973" y="466014"/>
              <a:ext cx="2494989" cy="44986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Aft>
                  <a:spcPts val="600"/>
                </a:spcAft>
              </a:pPr>
              <a:r>
                <a:rPr lang="zh-CN" altLang="en-US"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标准化模型测试平台</a:t>
              </a:r>
              <a:endParaRPr lang="en-US" altLang="zh-CN"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1" name="矩形 20">
            <a:extLst>
              <a:ext uri="{FF2B5EF4-FFF2-40B4-BE49-F238E27FC236}">
                <a16:creationId xmlns:a16="http://schemas.microsoft.com/office/drawing/2014/main" id="{F95B3000-C882-4DAF-9692-9A4762256D14}"/>
              </a:ext>
            </a:extLst>
          </p:cNvPr>
          <p:cNvSpPr/>
          <p:nvPr/>
        </p:nvSpPr>
        <p:spPr>
          <a:xfrm>
            <a:off x="348709" y="3887538"/>
            <a:ext cx="4527054" cy="2160207"/>
          </a:xfrm>
          <a:prstGeom prst="rect">
            <a:avLst/>
          </a:prstGeom>
        </p:spPr>
        <p:txBody>
          <a:bodyPr wrap="square">
            <a:spAutoFit/>
          </a:bodyPr>
          <a:lstStyle/>
          <a:p>
            <a:pPr>
              <a:lnSpc>
                <a:spcPct val="150000"/>
              </a:lnSpc>
              <a:spcAft>
                <a:spcPts val="600"/>
              </a:spcAft>
            </a:pPr>
            <a:r>
              <a:rPr lang="zh-CN" altLang="en-US" b="1" dirty="0">
                <a:solidFill>
                  <a:schemeClr val="accent2">
                    <a:lumMod val="75000"/>
                  </a:schemeClr>
                </a:solidFill>
                <a:latin typeface="黑体" panose="02010609060101010101" pitchFamily="49" charset="-122"/>
                <a:ea typeface="字魂105号-简雅黑" panose="00000500000000000000"/>
              </a:rPr>
              <a:t>成功实现</a:t>
            </a:r>
            <a:r>
              <a:rPr lang="en-US" altLang="zh-CN" b="1" dirty="0">
                <a:solidFill>
                  <a:schemeClr val="accent2">
                    <a:lumMod val="75000"/>
                  </a:schemeClr>
                </a:solidFill>
                <a:latin typeface="黑体" panose="02010609060101010101" pitchFamily="49" charset="-122"/>
                <a:ea typeface="字魂105号-简雅黑" panose="00000500000000000000"/>
              </a:rPr>
              <a:t>Qwen3-VL</a:t>
            </a:r>
            <a:r>
              <a:rPr lang="zh-CN" altLang="en-US" b="1" dirty="0">
                <a:solidFill>
                  <a:schemeClr val="accent2">
                    <a:lumMod val="75000"/>
                  </a:schemeClr>
                </a:solidFill>
                <a:latin typeface="黑体" panose="02010609060101010101" pitchFamily="49" charset="-122"/>
                <a:ea typeface="字魂105号-简雅黑" panose="00000500000000000000"/>
              </a:rPr>
              <a:t>模型的本地化部署</a:t>
            </a:r>
            <a:endParaRPr lang="en-US" altLang="zh-CN" b="1" dirty="0">
              <a:solidFill>
                <a:schemeClr val="accent2">
                  <a:lumMod val="75000"/>
                </a:schemeClr>
              </a:solidFill>
              <a:latin typeface="黑体" panose="02010609060101010101" pitchFamily="49" charset="-122"/>
              <a:ea typeface="字魂105号-简雅黑" panose="00000500000000000000"/>
              <a:sym typeface="字魂105号-简雅黑" panose="00000500000000000000" pitchFamily="2" charset="-122"/>
            </a:endParaRPr>
          </a:p>
          <a:p>
            <a:pPr>
              <a:lnSpc>
                <a:spcPct val="150000"/>
              </a:lnSpc>
            </a:pPr>
            <a:r>
              <a:rPr lang="zh-CN" altLang="en-US" sz="1400" dirty="0">
                <a:latin typeface="Times New Roman" panose="02020603050405020304" pitchFamily="18" charset="0"/>
                <a:ea typeface="字魂105号-简雅黑" panose="00000500000000000000"/>
                <a:cs typeface="Times New Roman" panose="02020603050405020304" pitchFamily="18" charset="0"/>
              </a:rPr>
              <a:t>        基于对前期调研结果的评估，</a:t>
            </a:r>
            <a:r>
              <a:rPr lang="zh-CN" altLang="en-US" sz="1400" b="1" dirty="0">
                <a:latin typeface="Times New Roman" panose="02020603050405020304" pitchFamily="18" charset="0"/>
                <a:ea typeface="字魂105号-简雅黑" panose="00000500000000000000"/>
                <a:cs typeface="Times New Roman" panose="02020603050405020304" pitchFamily="18" charset="0"/>
              </a:rPr>
              <a:t>选定</a:t>
            </a:r>
            <a:r>
              <a:rPr lang="en-US" altLang="zh-CN" sz="1400" b="1" dirty="0">
                <a:latin typeface="Times New Roman" panose="02020603050405020304" pitchFamily="18" charset="0"/>
                <a:ea typeface="字魂105号-简雅黑" panose="00000500000000000000"/>
                <a:cs typeface="Times New Roman" panose="02020603050405020304" pitchFamily="18" charset="0"/>
              </a:rPr>
              <a:t>Qwen</a:t>
            </a:r>
            <a:r>
              <a:rPr lang="zh-CN" altLang="en-US" sz="1400" b="1" dirty="0">
                <a:latin typeface="Times New Roman" panose="02020603050405020304" pitchFamily="18" charset="0"/>
                <a:ea typeface="字魂105号-简雅黑" panose="00000500000000000000"/>
                <a:cs typeface="Times New Roman" panose="02020603050405020304" pitchFamily="18" charset="0"/>
              </a:rPr>
              <a:t>系列视觉大语言模型作为技术基座</a:t>
            </a:r>
            <a:r>
              <a:rPr lang="zh-CN" altLang="en-US" sz="1400" dirty="0">
                <a:latin typeface="Times New Roman" panose="02020603050405020304" pitchFamily="18" charset="0"/>
                <a:ea typeface="字魂105号-简雅黑" panose="00000500000000000000"/>
                <a:cs typeface="Times New Roman" panose="02020603050405020304" pitchFamily="18" charset="0"/>
              </a:rPr>
              <a:t>，并成功在车载硬件平台上完成本地部署。确保了模型能在车载环境下稳定运行，从根本上满足了</a:t>
            </a:r>
            <a:r>
              <a:rPr lang="zh-CN" altLang="en-US" sz="1400" b="1" dirty="0">
                <a:latin typeface="Times New Roman" panose="02020603050405020304" pitchFamily="18" charset="0"/>
                <a:ea typeface="字魂105号-简雅黑" panose="00000500000000000000"/>
                <a:cs typeface="Times New Roman" panose="02020603050405020304" pitchFamily="18" charset="0"/>
              </a:rPr>
              <a:t>车载系统对低延迟、高实时性和数据隐私安全</a:t>
            </a:r>
            <a:r>
              <a:rPr lang="zh-CN" altLang="en-US" sz="1400" dirty="0">
                <a:latin typeface="Times New Roman" panose="02020603050405020304" pitchFamily="18" charset="0"/>
                <a:ea typeface="字魂105号-简雅黑" panose="00000500000000000000"/>
                <a:cs typeface="Times New Roman" panose="02020603050405020304" pitchFamily="18" charset="0"/>
              </a:rPr>
              <a:t>的严苛要求。</a:t>
            </a:r>
            <a:endParaRPr lang="en-US" altLang="zh-CN" sz="14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endParaRPr>
          </a:p>
        </p:txBody>
      </p:sp>
      <p:sp>
        <p:nvSpPr>
          <p:cNvPr id="22" name="矩形 21">
            <a:extLst>
              <a:ext uri="{FF2B5EF4-FFF2-40B4-BE49-F238E27FC236}">
                <a16:creationId xmlns:a16="http://schemas.microsoft.com/office/drawing/2014/main" id="{FA9933A3-E443-46A2-96E5-1020BA0982BF}"/>
              </a:ext>
            </a:extLst>
          </p:cNvPr>
          <p:cNvSpPr/>
          <p:nvPr/>
        </p:nvSpPr>
        <p:spPr>
          <a:xfrm>
            <a:off x="8214145" y="2123580"/>
            <a:ext cx="3845934" cy="1840568"/>
          </a:xfrm>
          <a:prstGeom prst="rect">
            <a:avLst/>
          </a:prstGeom>
        </p:spPr>
        <p:txBody>
          <a:bodyPr wrap="square">
            <a:spAutoFit/>
          </a:bodyPr>
          <a:lstStyle/>
          <a:p>
            <a:pP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构建标准化模型测试与迭代优化平台</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400" dirty="0">
                <a:solidFill>
                  <a:schemeClr val="bg1"/>
                </a:solidFill>
                <a:ea typeface="字魂105号-简雅黑" panose="00000500000000000000"/>
              </a:rPr>
              <a:t>       围绕已部署的模型，搭建了一套</a:t>
            </a:r>
            <a:r>
              <a:rPr lang="zh-CN" altLang="en-US" sz="1400" b="1" dirty="0">
                <a:solidFill>
                  <a:schemeClr val="bg1"/>
                </a:solidFill>
                <a:ea typeface="字魂105号-简雅黑" panose="00000500000000000000"/>
              </a:rPr>
              <a:t>完整、高效的测试与验证环境</a:t>
            </a:r>
            <a:r>
              <a:rPr lang="zh-CN" altLang="en-US" sz="1400" dirty="0">
                <a:solidFill>
                  <a:schemeClr val="bg1"/>
                </a:solidFill>
                <a:ea typeface="字魂105号-简雅黑" panose="00000500000000000000"/>
              </a:rPr>
              <a:t>。该平台具备</a:t>
            </a:r>
            <a:r>
              <a:rPr lang="zh-CN" altLang="en-US" sz="1400" b="1" dirty="0">
                <a:solidFill>
                  <a:schemeClr val="bg1"/>
                </a:solidFill>
                <a:ea typeface="字魂105号-简雅黑" panose="00000500000000000000"/>
              </a:rPr>
              <a:t>批量化图像推理与自动化测试</a:t>
            </a:r>
            <a:r>
              <a:rPr lang="zh-CN" altLang="en-US" sz="1400" dirty="0">
                <a:solidFill>
                  <a:schemeClr val="bg1"/>
                </a:solidFill>
                <a:ea typeface="字魂105号-简雅黑" panose="00000500000000000000"/>
              </a:rPr>
              <a:t>能力，极大提升了研发效率，形成了 </a:t>
            </a:r>
            <a:r>
              <a:rPr lang="zh-CN" altLang="en-US" sz="1400" b="1" dirty="0">
                <a:solidFill>
                  <a:schemeClr val="bg1"/>
                </a:solidFill>
                <a:ea typeface="字魂105号-简雅黑" panose="00000500000000000000"/>
              </a:rPr>
              <a:t>“部署</a:t>
            </a:r>
            <a:r>
              <a:rPr lang="en-US" altLang="zh-CN" sz="1400" b="1" dirty="0">
                <a:solidFill>
                  <a:schemeClr val="bg1"/>
                </a:solidFill>
                <a:ea typeface="字魂105号-简雅黑" panose="00000500000000000000"/>
              </a:rPr>
              <a:t>-</a:t>
            </a:r>
            <a:r>
              <a:rPr lang="zh-CN" altLang="en-US" sz="1400" b="1" dirty="0">
                <a:solidFill>
                  <a:schemeClr val="bg1"/>
                </a:solidFill>
                <a:ea typeface="字魂105号-简雅黑" panose="00000500000000000000"/>
              </a:rPr>
              <a:t>测试</a:t>
            </a:r>
            <a:r>
              <a:rPr lang="en-US" altLang="zh-CN" sz="1400" b="1" dirty="0">
                <a:solidFill>
                  <a:schemeClr val="bg1"/>
                </a:solidFill>
                <a:ea typeface="字魂105号-简雅黑" panose="00000500000000000000"/>
              </a:rPr>
              <a:t>-</a:t>
            </a:r>
            <a:r>
              <a:rPr lang="zh-CN" altLang="en-US" sz="1400" b="1" dirty="0">
                <a:solidFill>
                  <a:schemeClr val="bg1"/>
                </a:solidFill>
                <a:ea typeface="字魂105号-简雅黑" panose="00000500000000000000"/>
              </a:rPr>
              <a:t>优化”的完整闭环。</a:t>
            </a:r>
            <a:endParaRPr lang="en-US" altLang="zh-CN" sz="1400" dirty="0">
              <a:solidFill>
                <a:schemeClr val="bg1"/>
              </a:solidFill>
              <a:latin typeface="字魂105号-简雅黑" panose="00000500000000000000" pitchFamily="2" charset="-122"/>
              <a:ea typeface="字魂105号-简雅黑" panose="00000500000000000000"/>
              <a:sym typeface="字魂105号-简雅黑" panose="00000500000000000000" pitchFamily="2" charset="-122"/>
            </a:endParaRPr>
          </a:p>
        </p:txBody>
      </p:sp>
      <p:pic>
        <p:nvPicPr>
          <p:cNvPr id="24" name="图片 23"/>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任意多边形: 形状 1">
            <a:extLst>
              <a:ext uri="{FF2B5EF4-FFF2-40B4-BE49-F238E27FC236}">
                <a16:creationId xmlns:a16="http://schemas.microsoft.com/office/drawing/2014/main" id="{A9860229-C810-AD79-B7D9-62E2AB0A017A}"/>
              </a:ext>
            </a:extLst>
          </p:cNvPr>
          <p:cNvSpPr/>
          <p:nvPr/>
        </p:nvSpPr>
        <p:spPr>
          <a:xfrm>
            <a:off x="415012" y="503442"/>
            <a:ext cx="474937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 name="图片 2">
            <a:extLst>
              <a:ext uri="{FF2B5EF4-FFF2-40B4-BE49-F238E27FC236}">
                <a16:creationId xmlns:a16="http://schemas.microsoft.com/office/drawing/2014/main" id="{2E5AED54-7FFE-D9EF-8872-2ABCFD1090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4" name="矩形 3">
            <a:extLst>
              <a:ext uri="{FF2B5EF4-FFF2-40B4-BE49-F238E27FC236}">
                <a16:creationId xmlns:a16="http://schemas.microsoft.com/office/drawing/2014/main" id="{0C4E07E8-C7F4-7FFE-A75E-6117885F4FC6}"/>
              </a:ext>
            </a:extLst>
          </p:cNvPr>
          <p:cNvSpPr/>
          <p:nvPr/>
        </p:nvSpPr>
        <p:spPr>
          <a:xfrm>
            <a:off x="1359000" y="647713"/>
            <a:ext cx="3392275"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阶段二：</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年</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6-7</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月</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文本框 5">
            <a:extLst>
              <a:ext uri="{FF2B5EF4-FFF2-40B4-BE49-F238E27FC236}">
                <a16:creationId xmlns:a16="http://schemas.microsoft.com/office/drawing/2014/main" id="{85D431F8-6BF6-2588-1502-6C18B752B2DB}"/>
              </a:ext>
            </a:extLst>
          </p:cNvPr>
          <p:cNvSpPr txBox="1"/>
          <p:nvPr/>
        </p:nvSpPr>
        <p:spPr>
          <a:xfrm rot="671801">
            <a:off x="3482139" y="2942427"/>
            <a:ext cx="6387078" cy="581057"/>
          </a:xfrm>
          <a:prstGeom prst="rect">
            <a:avLst/>
          </a:prstGeom>
          <a:noFill/>
        </p:spPr>
        <p:txBody>
          <a:bodyPr wrap="square">
            <a:spAutoFit/>
          </a:bodyPr>
          <a:lstStyle/>
          <a:p>
            <a:pPr>
              <a:lnSpc>
                <a:spcPct val="150000"/>
              </a:lnSpc>
              <a:spcAft>
                <a:spcPts val="600"/>
              </a:spcAft>
            </a:pPr>
            <a:r>
              <a:rPr lang="zh-CN" altLang="en-US" sz="2400" b="1" dirty="0">
                <a:solidFill>
                  <a:schemeClr val="tx2">
                    <a:lumMod val="20000"/>
                    <a:lumOff val="8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大模型本地化部署</a:t>
            </a:r>
            <a:endParaRPr lang="en-US" altLang="zh-CN" sz="2400" b="1" dirty="0">
              <a:solidFill>
                <a:schemeClr val="tx2">
                  <a:lumMod val="20000"/>
                  <a:lumOff val="8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7" name="图片 6">
            <a:extLst>
              <a:ext uri="{FF2B5EF4-FFF2-40B4-BE49-F238E27FC236}">
                <a16:creationId xmlns:a16="http://schemas.microsoft.com/office/drawing/2014/main" id="{9150BFBF-28B2-D519-BE93-8646F8A59D06}"/>
              </a:ext>
            </a:extLst>
          </p:cNvPr>
          <p:cNvPicPr>
            <a:picLocks noChangeAspect="1"/>
          </p:cNvPicPr>
          <p:nvPr/>
        </p:nvPicPr>
        <p:blipFill>
          <a:blip r:embed="rId5"/>
          <a:stretch>
            <a:fillRect/>
          </a:stretch>
        </p:blipFill>
        <p:spPr>
          <a:xfrm>
            <a:off x="188623" y="2153497"/>
            <a:ext cx="2494492" cy="1318029"/>
          </a:xfrm>
          <a:prstGeom prst="rect">
            <a:avLst/>
          </a:prstGeom>
        </p:spPr>
      </p:pic>
    </p:spTree>
    <p:extLst>
      <p:ext uri="{BB962C8B-B14F-4D97-AF65-F5344CB8AC3E}">
        <p14:creationId xmlns:p14="http://schemas.microsoft.com/office/powerpoint/2010/main" val="3754981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9E38B32E-7E4F-4B28-8046-2999D2023EA4}"/>
              </a:ext>
            </a:extLst>
          </p:cNvPr>
          <p:cNvSpPr/>
          <p:nvPr/>
        </p:nvSpPr>
        <p:spPr>
          <a:xfrm>
            <a:off x="1877928" y="2981896"/>
            <a:ext cx="3294004" cy="1156727"/>
          </a:xfrm>
          <a:prstGeom prst="rect">
            <a:avLst/>
          </a:prstGeom>
        </p:spPr>
        <p:txBody>
          <a:bodyPr wrap="square">
            <a:spAutoFit/>
          </a:bodyPr>
          <a:lstStyle/>
          <a:p>
            <a:pPr algn="ctr">
              <a:lnSpc>
                <a:spcPct val="150000"/>
              </a:lnSpc>
            </a:pPr>
            <a:r>
              <a:rPr lang="zh-CN" altLang="en-US"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rPr>
              <a:t>构建了完整的视频数据预处理流程，能够将车载摄像头采集的原始视频稳定、高效地转换成一帧帧图片。</a:t>
            </a:r>
            <a:endParaRPr lang="en-US" altLang="zh-CN"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endParaRPr>
          </a:p>
        </p:txBody>
      </p:sp>
      <p:grpSp>
        <p:nvGrpSpPr>
          <p:cNvPr id="19" name="组合 18">
            <a:extLst>
              <a:ext uri="{FF2B5EF4-FFF2-40B4-BE49-F238E27FC236}">
                <a16:creationId xmlns:a16="http://schemas.microsoft.com/office/drawing/2014/main" id="{1D157405-3755-4ACE-9744-5F5B4EBD3FEF}"/>
              </a:ext>
            </a:extLst>
          </p:cNvPr>
          <p:cNvGrpSpPr/>
          <p:nvPr/>
        </p:nvGrpSpPr>
        <p:grpSpPr>
          <a:xfrm>
            <a:off x="2020661" y="2204162"/>
            <a:ext cx="3008539" cy="590651"/>
            <a:chOff x="1929221" y="2315922"/>
            <a:chExt cx="3008539" cy="590651"/>
          </a:xfrm>
        </p:grpSpPr>
        <p:sp>
          <p:nvSpPr>
            <p:cNvPr id="6" name="任意多边形: 形状 5">
              <a:extLst>
                <a:ext uri="{FF2B5EF4-FFF2-40B4-BE49-F238E27FC236}">
                  <a16:creationId xmlns:a16="http://schemas.microsoft.com/office/drawing/2014/main" id="{D1B3C41F-505D-4FFC-BFE3-D76D412DFCB3}"/>
                </a:ext>
              </a:extLst>
            </p:cNvPr>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13">
              <a:extLst>
                <a:ext uri="{FF2B5EF4-FFF2-40B4-BE49-F238E27FC236}">
                  <a16:creationId xmlns:a16="http://schemas.microsoft.com/office/drawing/2014/main" id="{3EB6337C-3078-4688-81F9-7BE0B8D57797}"/>
                </a:ext>
              </a:extLst>
            </p:cNvPr>
            <p:cNvSpPr/>
            <p:nvPr/>
          </p:nvSpPr>
          <p:spPr>
            <a:xfrm>
              <a:off x="2897081" y="2338445"/>
              <a:ext cx="1800494" cy="458908"/>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视频数据预处理</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6" name="图片 15">
              <a:extLst>
                <a:ext uri="{FF2B5EF4-FFF2-40B4-BE49-F238E27FC236}">
                  <a16:creationId xmlns:a16="http://schemas.microsoft.com/office/drawing/2014/main" id="{415035D5-A322-4A0E-BAB2-7D99140FEE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17" name="矩形 16">
            <a:extLst>
              <a:ext uri="{FF2B5EF4-FFF2-40B4-BE49-F238E27FC236}">
                <a16:creationId xmlns:a16="http://schemas.microsoft.com/office/drawing/2014/main" id="{B2840C5D-482E-4D64-9E70-84B1D09ABB8A}"/>
              </a:ext>
            </a:extLst>
          </p:cNvPr>
          <p:cNvSpPr/>
          <p:nvPr/>
        </p:nvSpPr>
        <p:spPr>
          <a:xfrm>
            <a:off x="6893168" y="2981896"/>
            <a:ext cx="3645877" cy="1156727"/>
          </a:xfrm>
          <a:prstGeom prst="rect">
            <a:avLst/>
          </a:prstGeom>
        </p:spPr>
        <p:txBody>
          <a:bodyPr wrap="square">
            <a:spAutoFit/>
          </a:bodyPr>
          <a:lstStyle/>
          <a:p>
            <a:pPr algn="ctr">
              <a:lnSpc>
                <a:spcPct val="150000"/>
              </a:lnSpc>
            </a:pPr>
            <a:r>
              <a:rPr lang="zh-CN" altLang="en-US"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rPr>
              <a:t>基于对自动驾驶场景的理解，设计了初始的视觉问答提示词模版，利用已部署的</a:t>
            </a:r>
            <a:r>
              <a:rPr lang="en-US" altLang="zh-CN"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rPr>
              <a:t>Qwen</a:t>
            </a:r>
            <a:r>
              <a:rPr lang="zh-CN" altLang="en-US"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rPr>
              <a:t>大模型对图片集进行交互测试。</a:t>
            </a:r>
            <a:endParaRPr lang="en-US" altLang="zh-CN"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endParaRPr>
          </a:p>
        </p:txBody>
      </p:sp>
      <p:grpSp>
        <p:nvGrpSpPr>
          <p:cNvPr id="20" name="组合 19">
            <a:extLst>
              <a:ext uri="{FF2B5EF4-FFF2-40B4-BE49-F238E27FC236}">
                <a16:creationId xmlns:a16="http://schemas.microsoft.com/office/drawing/2014/main" id="{BD0DC69A-D142-4570-803C-FBD9D26294B3}"/>
              </a:ext>
            </a:extLst>
          </p:cNvPr>
          <p:cNvGrpSpPr/>
          <p:nvPr/>
        </p:nvGrpSpPr>
        <p:grpSpPr>
          <a:xfrm>
            <a:off x="7181940" y="2204162"/>
            <a:ext cx="3008539" cy="590651"/>
            <a:chOff x="1929221" y="2315922"/>
            <a:chExt cx="3008539" cy="590651"/>
          </a:xfrm>
        </p:grpSpPr>
        <p:sp>
          <p:nvSpPr>
            <p:cNvPr id="21" name="任意多边形: 形状 20">
              <a:extLst>
                <a:ext uri="{FF2B5EF4-FFF2-40B4-BE49-F238E27FC236}">
                  <a16:creationId xmlns:a16="http://schemas.microsoft.com/office/drawing/2014/main" id="{68CBBAF3-75AB-4095-9620-0BBE9C2C3299}"/>
                </a:ext>
              </a:extLst>
            </p:cNvPr>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n>
                  <a:solidFill>
                    <a:sysClr val="windowText" lastClr="000000"/>
                  </a:solidFill>
                </a:ln>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a:extLst>
                <a:ext uri="{FF2B5EF4-FFF2-40B4-BE49-F238E27FC236}">
                  <a16:creationId xmlns:a16="http://schemas.microsoft.com/office/drawing/2014/main" id="{38BEAB3A-83DF-4C12-BD69-4AEC44A82089}"/>
                </a:ext>
              </a:extLst>
            </p:cNvPr>
            <p:cNvSpPr/>
            <p:nvPr/>
          </p:nvSpPr>
          <p:spPr>
            <a:xfrm>
              <a:off x="2897083" y="2338445"/>
              <a:ext cx="1800493" cy="458908"/>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初始提示词设计</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 name="图片 22">
              <a:extLst>
                <a:ext uri="{FF2B5EF4-FFF2-40B4-BE49-F238E27FC236}">
                  <a16:creationId xmlns:a16="http://schemas.microsoft.com/office/drawing/2014/main" id="{4EDABF5A-0E6A-4C83-92EE-8E2BF595A6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24" name="矩形 23">
            <a:extLst>
              <a:ext uri="{FF2B5EF4-FFF2-40B4-BE49-F238E27FC236}">
                <a16:creationId xmlns:a16="http://schemas.microsoft.com/office/drawing/2014/main" id="{28E89DFE-9C64-4C0F-BC5D-B984715ADC48}"/>
              </a:ext>
            </a:extLst>
          </p:cNvPr>
          <p:cNvSpPr/>
          <p:nvPr/>
        </p:nvSpPr>
        <p:spPr>
          <a:xfrm>
            <a:off x="3962401" y="5042516"/>
            <a:ext cx="4384430" cy="1156727"/>
          </a:xfrm>
          <a:prstGeom prst="rect">
            <a:avLst/>
          </a:prstGeom>
        </p:spPr>
        <p:txBody>
          <a:bodyPr wrap="square">
            <a:spAutoFit/>
          </a:bodyPr>
          <a:lstStyle/>
          <a:p>
            <a:pPr algn="ctr">
              <a:lnSpc>
                <a:spcPct val="150000"/>
              </a:lnSpc>
            </a:pPr>
            <a:r>
              <a:rPr lang="zh-CN" altLang="en-US"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rPr>
              <a:t>通过分析模型的初步结果，已完成对提示词的首轮优化与迭代，使其输出更侧重于环境要素（如天气、道路状况、遮挡物等）的识别。</a:t>
            </a:r>
            <a:endParaRPr lang="en-US" altLang="zh-CN" sz="1600" dirty="0">
              <a:latin typeface="Times New Roman" panose="02020603050405020304" pitchFamily="18" charset="0"/>
              <a:ea typeface="字魂105号-简雅黑" panose="00000500000000000000"/>
              <a:cs typeface="Times New Roman" panose="02020603050405020304" pitchFamily="18" charset="0"/>
              <a:sym typeface="字魂105号-简雅黑" panose="00000500000000000000" pitchFamily="2" charset="-122"/>
            </a:endParaRPr>
          </a:p>
        </p:txBody>
      </p:sp>
      <p:grpSp>
        <p:nvGrpSpPr>
          <p:cNvPr id="25" name="组合 24">
            <a:extLst>
              <a:ext uri="{FF2B5EF4-FFF2-40B4-BE49-F238E27FC236}">
                <a16:creationId xmlns:a16="http://schemas.microsoft.com/office/drawing/2014/main" id="{1C19B7B6-C16A-4880-B510-4BB0E551641C}"/>
              </a:ext>
            </a:extLst>
          </p:cNvPr>
          <p:cNvGrpSpPr/>
          <p:nvPr/>
        </p:nvGrpSpPr>
        <p:grpSpPr>
          <a:xfrm>
            <a:off x="4591731" y="4264782"/>
            <a:ext cx="3008539" cy="590651"/>
            <a:chOff x="1929221" y="2315922"/>
            <a:chExt cx="3008539" cy="590651"/>
          </a:xfrm>
        </p:grpSpPr>
        <p:sp>
          <p:nvSpPr>
            <p:cNvPr id="26" name="任意多边形: 形状 25">
              <a:extLst>
                <a:ext uri="{FF2B5EF4-FFF2-40B4-BE49-F238E27FC236}">
                  <a16:creationId xmlns:a16="http://schemas.microsoft.com/office/drawing/2014/main" id="{8D69CE34-1D6D-43A1-954C-81D7E4CF7128}"/>
                </a:ext>
              </a:extLst>
            </p:cNvPr>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a:extLst>
                <a:ext uri="{FF2B5EF4-FFF2-40B4-BE49-F238E27FC236}">
                  <a16:creationId xmlns:a16="http://schemas.microsoft.com/office/drawing/2014/main" id="{F6035346-6283-4DEE-98A8-DBD2407A18B1}"/>
                </a:ext>
              </a:extLst>
            </p:cNvPr>
            <p:cNvSpPr/>
            <p:nvPr/>
          </p:nvSpPr>
          <p:spPr>
            <a:xfrm>
              <a:off x="2781667" y="2338445"/>
              <a:ext cx="2031326" cy="458908"/>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提示词迭代与优化</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8" name="图片 27">
              <a:extLst>
                <a:ext uri="{FF2B5EF4-FFF2-40B4-BE49-F238E27FC236}">
                  <a16:creationId xmlns:a16="http://schemas.microsoft.com/office/drawing/2014/main" id="{A258AFA6-1329-449E-89D3-39B051AB44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35" name="矩形 34">
            <a:extLst>
              <a:ext uri="{FF2B5EF4-FFF2-40B4-BE49-F238E27FC236}">
                <a16:creationId xmlns:a16="http://schemas.microsoft.com/office/drawing/2014/main" id="{E945170F-1E1F-403E-8571-D06F02D2E12A}"/>
              </a:ext>
            </a:extLst>
          </p:cNvPr>
          <p:cNvSpPr/>
          <p:nvPr/>
        </p:nvSpPr>
        <p:spPr>
          <a:xfrm>
            <a:off x="1046480" y="1600199"/>
            <a:ext cx="10099040" cy="4708638"/>
          </a:xfrm>
          <a:prstGeom prst="rect">
            <a:avLst/>
          </a:prstGeom>
          <a:noFill/>
          <a:ln w="3175">
            <a:solidFill>
              <a:srgbClr val="911F2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9" name="任意多边形: 形状 8">
            <a:extLst>
              <a:ext uri="{FF2B5EF4-FFF2-40B4-BE49-F238E27FC236}">
                <a16:creationId xmlns:a16="http://schemas.microsoft.com/office/drawing/2014/main" id="{E6D4CFB6-0969-6F53-A202-2A88F0B1C703}"/>
              </a:ext>
            </a:extLst>
          </p:cNvPr>
          <p:cNvSpPr/>
          <p:nvPr/>
        </p:nvSpPr>
        <p:spPr>
          <a:xfrm>
            <a:off x="415012" y="503442"/>
            <a:ext cx="474937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0" name="图片 9">
            <a:extLst>
              <a:ext uri="{FF2B5EF4-FFF2-40B4-BE49-F238E27FC236}">
                <a16:creationId xmlns:a16="http://schemas.microsoft.com/office/drawing/2014/main" id="{0387F3B2-C12D-C57E-BD3B-8A0F233644A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1" name="矩形 10">
            <a:extLst>
              <a:ext uri="{FF2B5EF4-FFF2-40B4-BE49-F238E27FC236}">
                <a16:creationId xmlns:a16="http://schemas.microsoft.com/office/drawing/2014/main" id="{EE68DAC0-AB29-33FB-3CD1-7A4BEEAA2261}"/>
              </a:ext>
            </a:extLst>
          </p:cNvPr>
          <p:cNvSpPr/>
          <p:nvPr/>
        </p:nvSpPr>
        <p:spPr>
          <a:xfrm>
            <a:off x="1359000" y="647713"/>
            <a:ext cx="358143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阶段三：</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年</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8-10</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月</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extLst>
      <p:ext uri="{BB962C8B-B14F-4D97-AF65-F5344CB8AC3E}">
        <p14:creationId xmlns:p14="http://schemas.microsoft.com/office/powerpoint/2010/main" val="41375033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a:extLst>
              <a:ext uri="{FF2B5EF4-FFF2-40B4-BE49-F238E27FC236}">
                <a16:creationId xmlns:a16="http://schemas.microsoft.com/office/drawing/2014/main" id="{28720E7F-41B8-21FF-D08E-DCD894562C3A}"/>
              </a:ext>
            </a:extLst>
          </p:cNvPr>
          <p:cNvSpPr/>
          <p:nvPr/>
        </p:nvSpPr>
        <p:spPr>
          <a:xfrm>
            <a:off x="415012" y="503442"/>
            <a:ext cx="474937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矩形 3">
            <a:extLst>
              <a:ext uri="{FF2B5EF4-FFF2-40B4-BE49-F238E27FC236}">
                <a16:creationId xmlns:a16="http://schemas.microsoft.com/office/drawing/2014/main" id="{67C710E3-9924-FD87-D70A-E3F5898D3CE8}"/>
              </a:ext>
            </a:extLst>
          </p:cNvPr>
          <p:cNvSpPr/>
          <p:nvPr/>
        </p:nvSpPr>
        <p:spPr>
          <a:xfrm>
            <a:off x="1359000" y="647713"/>
            <a:ext cx="304602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部分大模型分析结果</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 name="图片 4">
            <a:extLst>
              <a:ext uri="{FF2B5EF4-FFF2-40B4-BE49-F238E27FC236}">
                <a16:creationId xmlns:a16="http://schemas.microsoft.com/office/drawing/2014/main" id="{62E4C0EC-0FED-4B54-2F49-F1F433566F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pic>
        <p:nvPicPr>
          <p:cNvPr id="7" name="图片 6" descr="电视萤幕画面&#10;&#10;AI 生成的内容可能不正确。">
            <a:extLst>
              <a:ext uri="{FF2B5EF4-FFF2-40B4-BE49-F238E27FC236}">
                <a16:creationId xmlns:a16="http://schemas.microsoft.com/office/drawing/2014/main" id="{2AC4A708-3E8C-9845-52FB-5E0147EDEB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840" y="2442357"/>
            <a:ext cx="4317720" cy="2719175"/>
          </a:xfrm>
          <a:prstGeom prst="rect">
            <a:avLst/>
          </a:prstGeom>
        </p:spPr>
      </p:pic>
      <p:pic>
        <p:nvPicPr>
          <p:cNvPr id="9" name="图片 8" descr="文本&#10;&#10;AI 生成的内容可能不正确。">
            <a:extLst>
              <a:ext uri="{FF2B5EF4-FFF2-40B4-BE49-F238E27FC236}">
                <a16:creationId xmlns:a16="http://schemas.microsoft.com/office/drawing/2014/main" id="{77B2A356-2EE5-648E-2868-44E8D39A48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8903" y="1744928"/>
            <a:ext cx="4054531" cy="3778451"/>
          </a:xfrm>
          <a:prstGeom prst="rect">
            <a:avLst/>
          </a:prstGeom>
        </p:spPr>
      </p:pic>
      <p:pic>
        <p:nvPicPr>
          <p:cNvPr id="11" name="图片 10" descr="文本&#10;&#10;AI 生成的内容可能不正确。">
            <a:extLst>
              <a:ext uri="{FF2B5EF4-FFF2-40B4-BE49-F238E27FC236}">
                <a16:creationId xmlns:a16="http://schemas.microsoft.com/office/drawing/2014/main" id="{11F9A480-F566-9CC4-5434-B7DF0D0D24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05275" y="1799787"/>
            <a:ext cx="3017583" cy="1626161"/>
          </a:xfrm>
          <a:prstGeom prst="rect">
            <a:avLst/>
          </a:prstGeom>
        </p:spPr>
      </p:pic>
      <p:pic>
        <p:nvPicPr>
          <p:cNvPr id="13" name="图片 12" descr="文本&#10;&#10;AI 生成的内容可能不正确。">
            <a:extLst>
              <a:ext uri="{FF2B5EF4-FFF2-40B4-BE49-F238E27FC236}">
                <a16:creationId xmlns:a16="http://schemas.microsoft.com/office/drawing/2014/main" id="{1AA87F01-E364-E07D-590C-1532E8D18A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86317" y="2948610"/>
            <a:ext cx="3417629" cy="3052107"/>
          </a:xfrm>
          <a:prstGeom prst="rect">
            <a:avLst/>
          </a:prstGeom>
        </p:spPr>
      </p:pic>
    </p:spTree>
    <p:extLst>
      <p:ext uri="{BB962C8B-B14F-4D97-AF65-F5344CB8AC3E}">
        <p14:creationId xmlns:p14="http://schemas.microsoft.com/office/powerpoint/2010/main" val="40666592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C800E5-A1B3-4306-BC1E-9FCC4A76230D}"/>
              </a:ext>
            </a:extLst>
          </p:cNvPr>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a:extLst>
              <a:ext uri="{FF2B5EF4-FFF2-40B4-BE49-F238E27FC236}">
                <a16:creationId xmlns:a16="http://schemas.microsoft.com/office/drawing/2014/main" id="{986DBED7-A45E-41D4-BE4B-6F506990CE4E}"/>
              </a:ext>
            </a:extLst>
          </p:cNvPr>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a:extLst>
              <a:ext uri="{FF2B5EF4-FFF2-40B4-BE49-F238E27FC236}">
                <a16:creationId xmlns:a16="http://schemas.microsoft.com/office/drawing/2014/main" id="{964112A8-51B9-42E0-A937-1FF3959A6007}"/>
              </a:ext>
            </a:extLst>
          </p:cNvPr>
          <p:cNvSpPr/>
          <p:nvPr/>
        </p:nvSpPr>
        <p:spPr>
          <a:xfrm>
            <a:off x="4161570" y="3271730"/>
            <a:ext cx="4647150" cy="646331"/>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3.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存在问题与困难</a:t>
            </a:r>
            <a:endParaRPr lang="zh-CN" altLang="en-US" sz="3600"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extLst>
      <p:ext uri="{BB962C8B-B14F-4D97-AF65-F5344CB8AC3E}">
        <p14:creationId xmlns:p14="http://schemas.microsoft.com/office/powerpoint/2010/main" val="18872043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a:extLst>
              <a:ext uri="{FF2B5EF4-FFF2-40B4-BE49-F238E27FC236}">
                <a16:creationId xmlns:a16="http://schemas.microsoft.com/office/drawing/2014/main" id="{F9145711-DDCD-4C07-9FA0-103685B45B5B}"/>
              </a:ext>
            </a:extLst>
          </p:cNvPr>
          <p:cNvSpPr/>
          <p:nvPr/>
        </p:nvSpPr>
        <p:spPr>
          <a:xfrm>
            <a:off x="415013" y="503442"/>
            <a:ext cx="4207572"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a:extLst>
              <a:ext uri="{FF2B5EF4-FFF2-40B4-BE49-F238E27FC236}">
                <a16:creationId xmlns:a16="http://schemas.microsoft.com/office/drawing/2014/main" id="{17425591-3DE0-4540-85DA-212F983AAE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a:extLst>
              <a:ext uri="{FF2B5EF4-FFF2-40B4-BE49-F238E27FC236}">
                <a16:creationId xmlns:a16="http://schemas.microsoft.com/office/drawing/2014/main" id="{F03A647D-B02F-48E2-9B0D-413987C722BF}"/>
              </a:ext>
            </a:extLst>
          </p:cNvPr>
          <p:cNvSpPr/>
          <p:nvPr/>
        </p:nvSpPr>
        <p:spPr>
          <a:xfrm>
            <a:off x="1286731" y="647713"/>
            <a:ext cx="2464136"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已解决问题</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2548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431FF2CD-6CA7-4329-91E8-052A4D4AEDB3}"/>
              </a:ext>
            </a:extLst>
          </p:cNvPr>
          <p:cNvGrpSpPr>
            <a:grpSpLocks noChangeAspect="1"/>
          </p:cNvGrpSpPr>
          <p:nvPr>
            <p:custDataLst>
              <p:tags r:id="rId1"/>
            </p:custDataLst>
          </p:nvPr>
        </p:nvGrpSpPr>
        <p:grpSpPr>
          <a:xfrm>
            <a:off x="4373321" y="2324389"/>
            <a:ext cx="3241727" cy="2743342"/>
            <a:chOff x="4475136" y="2266879"/>
            <a:chExt cx="3241727" cy="2743342"/>
          </a:xfrm>
        </p:grpSpPr>
        <p:cxnSp>
          <p:nvCxnSpPr>
            <p:cNvPr id="11" name="直接连接符 10">
              <a:extLst>
                <a:ext uri="{FF2B5EF4-FFF2-40B4-BE49-F238E27FC236}">
                  <a16:creationId xmlns:a16="http://schemas.microsoft.com/office/drawing/2014/main" id="{E5B1913B-B204-4E16-83A2-224BAC797202}"/>
                </a:ext>
              </a:extLst>
            </p:cNvPr>
            <p:cNvCxnSpPr>
              <a:cxnSpLocks/>
            </p:cNvCxnSpPr>
            <p:nvPr/>
          </p:nvCxnSpPr>
          <p:spPr>
            <a:xfrm>
              <a:off x="4475136" y="2482451"/>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9DF9E43-1EF6-4D12-A4B8-DCD74F6DD2C8}"/>
                </a:ext>
              </a:extLst>
            </p:cNvPr>
            <p:cNvCxnSpPr>
              <a:cxnSpLocks/>
            </p:cNvCxnSpPr>
            <p:nvPr/>
          </p:nvCxnSpPr>
          <p:spPr>
            <a:xfrm>
              <a:off x="4475136" y="4434007"/>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3" name="îṡļiḋê">
              <a:extLst>
                <a:ext uri="{FF2B5EF4-FFF2-40B4-BE49-F238E27FC236}">
                  <a16:creationId xmlns:a16="http://schemas.microsoft.com/office/drawing/2014/main" id="{9C766FED-F3FC-4FEC-A7B6-DAD5701DB4EF}"/>
                </a:ext>
              </a:extLst>
            </p:cNvPr>
            <p:cNvGrpSpPr/>
            <p:nvPr/>
          </p:nvGrpSpPr>
          <p:grpSpPr>
            <a:xfrm>
              <a:off x="4724400" y="2266879"/>
              <a:ext cx="2743200" cy="2743342"/>
              <a:chOff x="4724400" y="2266879"/>
              <a:chExt cx="2743200" cy="2743342"/>
            </a:xfrm>
          </p:grpSpPr>
          <p:sp>
            <p:nvSpPr>
              <p:cNvPr id="14" name="íṣļîḋê">
                <a:extLst>
                  <a:ext uri="{FF2B5EF4-FFF2-40B4-BE49-F238E27FC236}">
                    <a16:creationId xmlns:a16="http://schemas.microsoft.com/office/drawing/2014/main" id="{302C8E9C-E456-433B-8A2B-9F53809B16F2}"/>
                  </a:ext>
                </a:extLst>
              </p:cNvPr>
              <p:cNvSpPr/>
              <p:nvPr/>
            </p:nvSpPr>
            <p:spPr>
              <a:xfrm>
                <a:off x="4724400" y="2266879"/>
                <a:ext cx="2743200" cy="2743342"/>
              </a:xfrm>
              <a:prstGeom prst="ellipse">
                <a:avLst/>
              </a:prstGeom>
              <a:solidFill>
                <a:schemeClr val="bg1"/>
              </a:solidFill>
              <a:ln w="12700" cap="flat">
                <a:solidFill>
                  <a:schemeClr val="bg1">
                    <a:lumMod val="85000"/>
                  </a:schemeClr>
                </a:solid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 name="îṩļiḓê">
                <a:extLst>
                  <a:ext uri="{FF2B5EF4-FFF2-40B4-BE49-F238E27FC236}">
                    <a16:creationId xmlns:a16="http://schemas.microsoft.com/office/drawing/2014/main" id="{CB783CC0-2CBD-43BF-841A-0FF554E109BD}"/>
                  </a:ext>
                </a:extLst>
              </p:cNvPr>
              <p:cNvGrpSpPr/>
              <p:nvPr/>
            </p:nvGrpSpPr>
            <p:grpSpPr>
              <a:xfrm>
                <a:off x="4853165" y="2393144"/>
                <a:ext cx="2485670" cy="2490813"/>
                <a:chOff x="4853165" y="2393143"/>
                <a:chExt cx="2485670" cy="2490813"/>
              </a:xfrm>
            </p:grpSpPr>
            <p:sp>
              <p:nvSpPr>
                <p:cNvPr id="16" name="ísļíḍè">
                  <a:extLst>
                    <a:ext uri="{FF2B5EF4-FFF2-40B4-BE49-F238E27FC236}">
                      <a16:creationId xmlns:a16="http://schemas.microsoft.com/office/drawing/2014/main" id="{87249A4E-729C-4CD1-92E3-EF05CAFE6FAE}"/>
                    </a:ext>
                  </a:extLst>
                </p:cNvPr>
                <p:cNvSpPr/>
                <p:nvPr/>
              </p:nvSpPr>
              <p:spPr>
                <a:xfrm>
                  <a:off x="4853165" y="2398156"/>
                  <a:ext cx="2485670" cy="2485800"/>
                </a:xfrm>
                <a:prstGeom prst="ellipse">
                  <a:avLst/>
                </a:prstGeom>
                <a:solidFill>
                  <a:srgbClr val="EEECE1">
                    <a:alpha val="40000"/>
                  </a:srgbClr>
                </a:solidFill>
                <a:ln w="12700" cap="flat">
                  <a:no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íslíḑé">
                  <a:extLst>
                    <a:ext uri="{FF2B5EF4-FFF2-40B4-BE49-F238E27FC236}">
                      <a16:creationId xmlns:a16="http://schemas.microsoft.com/office/drawing/2014/main" id="{55968D6C-6C17-4CCB-9A1D-ECC73D8E2B85}"/>
                    </a:ext>
                  </a:extLst>
                </p:cNvPr>
                <p:cNvSpPr/>
                <p:nvPr/>
              </p:nvSpPr>
              <p:spPr>
                <a:xfrm>
                  <a:off x="5141603" y="2393143"/>
                  <a:ext cx="846358" cy="513895"/>
                </a:xfrm>
                <a:custGeom>
                  <a:avLst/>
                  <a:gdLst/>
                  <a:ahLst/>
                  <a:cxnLst>
                    <a:cxn ang="0">
                      <a:pos x="wd2" y="hd2"/>
                    </a:cxn>
                    <a:cxn ang="5400000">
                      <a:pos x="wd2" y="hd2"/>
                    </a:cxn>
                    <a:cxn ang="10800000">
                      <a:pos x="wd2" y="hd2"/>
                    </a:cxn>
                    <a:cxn ang="16200000">
                      <a:pos x="wd2" y="hd2"/>
                    </a:cxn>
                  </a:cxnLst>
                  <a:rect l="0" t="0" r="r" b="b"/>
                  <a:pathLst>
                    <a:path w="21600" h="21600" extrusionOk="0">
                      <a:moveTo>
                        <a:pt x="0" y="19197"/>
                      </a:moveTo>
                      <a:lnTo>
                        <a:pt x="279" y="19602"/>
                      </a:lnTo>
                      <a:lnTo>
                        <a:pt x="761" y="19842"/>
                      </a:lnTo>
                      <a:lnTo>
                        <a:pt x="1034" y="19808"/>
                      </a:lnTo>
                      <a:lnTo>
                        <a:pt x="1143" y="19521"/>
                      </a:lnTo>
                      <a:lnTo>
                        <a:pt x="1306" y="19521"/>
                      </a:lnTo>
                      <a:lnTo>
                        <a:pt x="1339" y="19790"/>
                      </a:lnTo>
                      <a:lnTo>
                        <a:pt x="729" y="20236"/>
                      </a:lnTo>
                      <a:lnTo>
                        <a:pt x="630" y="20605"/>
                      </a:lnTo>
                      <a:lnTo>
                        <a:pt x="548" y="20901"/>
                      </a:lnTo>
                      <a:lnTo>
                        <a:pt x="821" y="21000"/>
                      </a:lnTo>
                      <a:lnTo>
                        <a:pt x="1067" y="20703"/>
                      </a:lnTo>
                      <a:lnTo>
                        <a:pt x="1438" y="20649"/>
                      </a:lnTo>
                      <a:cubicBezTo>
                        <a:pt x="1465" y="20754"/>
                        <a:pt x="1528" y="20822"/>
                        <a:pt x="1597" y="20819"/>
                      </a:cubicBezTo>
                      <a:cubicBezTo>
                        <a:pt x="1723" y="20813"/>
                        <a:pt x="1792" y="20605"/>
                        <a:pt x="1865" y="20432"/>
                      </a:cubicBezTo>
                      <a:cubicBezTo>
                        <a:pt x="1938" y="20257"/>
                        <a:pt x="2033" y="20110"/>
                        <a:pt x="2143" y="20001"/>
                      </a:cubicBezTo>
                      <a:lnTo>
                        <a:pt x="2335" y="19615"/>
                      </a:lnTo>
                      <a:cubicBezTo>
                        <a:pt x="2286" y="19572"/>
                        <a:pt x="2231" y="19554"/>
                        <a:pt x="2176" y="19563"/>
                      </a:cubicBezTo>
                      <a:cubicBezTo>
                        <a:pt x="2095" y="19577"/>
                        <a:pt x="2021" y="19649"/>
                        <a:pt x="1974" y="19760"/>
                      </a:cubicBezTo>
                      <a:lnTo>
                        <a:pt x="1784" y="19921"/>
                      </a:lnTo>
                      <a:cubicBezTo>
                        <a:pt x="1738" y="19809"/>
                        <a:pt x="1732" y="19665"/>
                        <a:pt x="1768" y="19543"/>
                      </a:cubicBezTo>
                      <a:cubicBezTo>
                        <a:pt x="1811" y="19393"/>
                        <a:pt x="1907" y="19313"/>
                        <a:pt x="1981" y="19201"/>
                      </a:cubicBezTo>
                      <a:cubicBezTo>
                        <a:pt x="2054" y="19090"/>
                        <a:pt x="2107" y="18946"/>
                        <a:pt x="2132" y="18787"/>
                      </a:cubicBezTo>
                      <a:cubicBezTo>
                        <a:pt x="2131" y="18693"/>
                        <a:pt x="2142" y="18598"/>
                        <a:pt x="2165" y="18512"/>
                      </a:cubicBezTo>
                      <a:cubicBezTo>
                        <a:pt x="2220" y="18310"/>
                        <a:pt x="2333" y="18167"/>
                        <a:pt x="2466" y="18133"/>
                      </a:cubicBezTo>
                      <a:cubicBezTo>
                        <a:pt x="2536" y="18047"/>
                        <a:pt x="2607" y="17961"/>
                        <a:pt x="2678" y="17875"/>
                      </a:cubicBezTo>
                      <a:cubicBezTo>
                        <a:pt x="2780" y="17751"/>
                        <a:pt x="2882" y="17627"/>
                        <a:pt x="2984" y="17503"/>
                      </a:cubicBezTo>
                      <a:lnTo>
                        <a:pt x="3005" y="16902"/>
                      </a:lnTo>
                      <a:cubicBezTo>
                        <a:pt x="2891" y="17035"/>
                        <a:pt x="2732" y="16966"/>
                        <a:pt x="2672" y="16759"/>
                      </a:cubicBezTo>
                      <a:cubicBezTo>
                        <a:pt x="2475" y="16078"/>
                        <a:pt x="3279" y="15698"/>
                        <a:pt x="3332" y="16447"/>
                      </a:cubicBezTo>
                      <a:lnTo>
                        <a:pt x="3479" y="16655"/>
                      </a:lnTo>
                      <a:lnTo>
                        <a:pt x="3369" y="16925"/>
                      </a:lnTo>
                      <a:lnTo>
                        <a:pt x="3206" y="17113"/>
                      </a:lnTo>
                      <a:lnTo>
                        <a:pt x="3075" y="17740"/>
                      </a:lnTo>
                      <a:lnTo>
                        <a:pt x="3026" y="18089"/>
                      </a:lnTo>
                      <a:lnTo>
                        <a:pt x="3501" y="17890"/>
                      </a:lnTo>
                      <a:lnTo>
                        <a:pt x="3665" y="17522"/>
                      </a:lnTo>
                      <a:lnTo>
                        <a:pt x="3926" y="17522"/>
                      </a:lnTo>
                      <a:lnTo>
                        <a:pt x="4122" y="17549"/>
                      </a:lnTo>
                      <a:lnTo>
                        <a:pt x="4062" y="17890"/>
                      </a:lnTo>
                      <a:lnTo>
                        <a:pt x="3680" y="18151"/>
                      </a:lnTo>
                      <a:lnTo>
                        <a:pt x="3369" y="18565"/>
                      </a:lnTo>
                      <a:lnTo>
                        <a:pt x="3113" y="18851"/>
                      </a:lnTo>
                      <a:lnTo>
                        <a:pt x="2889" y="19076"/>
                      </a:lnTo>
                      <a:lnTo>
                        <a:pt x="2692" y="19463"/>
                      </a:lnTo>
                      <a:lnTo>
                        <a:pt x="2600" y="19804"/>
                      </a:lnTo>
                      <a:lnTo>
                        <a:pt x="2730" y="20467"/>
                      </a:lnTo>
                      <a:lnTo>
                        <a:pt x="2604" y="20629"/>
                      </a:lnTo>
                      <a:lnTo>
                        <a:pt x="2604" y="20986"/>
                      </a:lnTo>
                      <a:lnTo>
                        <a:pt x="2945" y="20877"/>
                      </a:lnTo>
                      <a:lnTo>
                        <a:pt x="2717" y="21335"/>
                      </a:lnTo>
                      <a:lnTo>
                        <a:pt x="2761" y="21600"/>
                      </a:lnTo>
                      <a:lnTo>
                        <a:pt x="3123" y="21332"/>
                      </a:lnTo>
                      <a:lnTo>
                        <a:pt x="3449" y="20768"/>
                      </a:lnTo>
                      <a:lnTo>
                        <a:pt x="3433" y="20391"/>
                      </a:lnTo>
                      <a:lnTo>
                        <a:pt x="3542" y="20068"/>
                      </a:lnTo>
                      <a:lnTo>
                        <a:pt x="3590" y="19745"/>
                      </a:lnTo>
                      <a:lnTo>
                        <a:pt x="3867" y="19378"/>
                      </a:lnTo>
                      <a:lnTo>
                        <a:pt x="3738" y="19127"/>
                      </a:lnTo>
                      <a:lnTo>
                        <a:pt x="3770" y="18750"/>
                      </a:lnTo>
                      <a:lnTo>
                        <a:pt x="3917" y="18588"/>
                      </a:lnTo>
                      <a:lnTo>
                        <a:pt x="4217" y="18408"/>
                      </a:lnTo>
                      <a:cubicBezTo>
                        <a:pt x="4334" y="18303"/>
                        <a:pt x="4447" y="18185"/>
                        <a:pt x="4556" y="18057"/>
                      </a:cubicBezTo>
                      <a:cubicBezTo>
                        <a:pt x="4729" y="17853"/>
                        <a:pt x="4890" y="17621"/>
                        <a:pt x="5037" y="17365"/>
                      </a:cubicBezTo>
                      <a:cubicBezTo>
                        <a:pt x="5070" y="17294"/>
                        <a:pt x="5102" y="17222"/>
                        <a:pt x="5135" y="17150"/>
                      </a:cubicBezTo>
                      <a:cubicBezTo>
                        <a:pt x="5222" y="16957"/>
                        <a:pt x="5307" y="16762"/>
                        <a:pt x="5391" y="16565"/>
                      </a:cubicBezTo>
                      <a:cubicBezTo>
                        <a:pt x="5358" y="16341"/>
                        <a:pt x="5388" y="16103"/>
                        <a:pt x="5473" y="15920"/>
                      </a:cubicBezTo>
                      <a:cubicBezTo>
                        <a:pt x="5525" y="15808"/>
                        <a:pt x="5595" y="15723"/>
                        <a:pt x="5676" y="15674"/>
                      </a:cubicBezTo>
                      <a:lnTo>
                        <a:pt x="5877" y="15549"/>
                      </a:lnTo>
                      <a:lnTo>
                        <a:pt x="5969" y="14964"/>
                      </a:lnTo>
                      <a:lnTo>
                        <a:pt x="6035" y="14622"/>
                      </a:lnTo>
                      <a:lnTo>
                        <a:pt x="6133" y="14307"/>
                      </a:lnTo>
                      <a:lnTo>
                        <a:pt x="6719" y="13396"/>
                      </a:lnTo>
                      <a:lnTo>
                        <a:pt x="7232" y="12680"/>
                      </a:lnTo>
                      <a:lnTo>
                        <a:pt x="7560" y="12357"/>
                      </a:lnTo>
                      <a:cubicBezTo>
                        <a:pt x="7614" y="12268"/>
                        <a:pt x="7665" y="12175"/>
                        <a:pt x="7713" y="12079"/>
                      </a:cubicBezTo>
                      <a:cubicBezTo>
                        <a:pt x="7806" y="11895"/>
                        <a:pt x="7890" y="11699"/>
                        <a:pt x="7964" y="11493"/>
                      </a:cubicBezTo>
                      <a:lnTo>
                        <a:pt x="8046" y="11222"/>
                      </a:lnTo>
                      <a:lnTo>
                        <a:pt x="7786" y="11374"/>
                      </a:lnTo>
                      <a:lnTo>
                        <a:pt x="7333" y="11803"/>
                      </a:lnTo>
                      <a:lnTo>
                        <a:pt x="7131" y="11803"/>
                      </a:lnTo>
                      <a:cubicBezTo>
                        <a:pt x="7075" y="11748"/>
                        <a:pt x="7036" y="11656"/>
                        <a:pt x="7023" y="11551"/>
                      </a:cubicBezTo>
                      <a:cubicBezTo>
                        <a:pt x="6984" y="11244"/>
                        <a:pt x="7147" y="10972"/>
                        <a:pt x="7334" y="11030"/>
                      </a:cubicBezTo>
                      <a:lnTo>
                        <a:pt x="7525" y="10885"/>
                      </a:lnTo>
                      <a:cubicBezTo>
                        <a:pt x="7639" y="10761"/>
                        <a:pt x="7752" y="10635"/>
                        <a:pt x="7863" y="10507"/>
                      </a:cubicBezTo>
                      <a:cubicBezTo>
                        <a:pt x="7938" y="10421"/>
                        <a:pt x="8013" y="10333"/>
                        <a:pt x="8087" y="10245"/>
                      </a:cubicBezTo>
                      <a:lnTo>
                        <a:pt x="8310" y="10003"/>
                      </a:lnTo>
                      <a:lnTo>
                        <a:pt x="8706" y="9491"/>
                      </a:lnTo>
                      <a:cubicBezTo>
                        <a:pt x="8725" y="9459"/>
                        <a:pt x="8745" y="9426"/>
                        <a:pt x="8764" y="9394"/>
                      </a:cubicBezTo>
                      <a:cubicBezTo>
                        <a:pt x="8783" y="9361"/>
                        <a:pt x="8802" y="9327"/>
                        <a:pt x="8820" y="9293"/>
                      </a:cubicBezTo>
                      <a:cubicBezTo>
                        <a:pt x="8883" y="9178"/>
                        <a:pt x="8943" y="9058"/>
                        <a:pt x="9000" y="8934"/>
                      </a:cubicBezTo>
                      <a:lnTo>
                        <a:pt x="9115" y="8311"/>
                      </a:lnTo>
                      <a:lnTo>
                        <a:pt x="8689" y="8594"/>
                      </a:lnTo>
                      <a:cubicBezTo>
                        <a:pt x="8587" y="8694"/>
                        <a:pt x="8477" y="8773"/>
                        <a:pt x="8362" y="8829"/>
                      </a:cubicBezTo>
                      <a:cubicBezTo>
                        <a:pt x="8219" y="8899"/>
                        <a:pt x="8070" y="8932"/>
                        <a:pt x="7920" y="8928"/>
                      </a:cubicBezTo>
                      <a:lnTo>
                        <a:pt x="8653" y="8344"/>
                      </a:lnTo>
                      <a:lnTo>
                        <a:pt x="8790" y="8156"/>
                      </a:lnTo>
                      <a:lnTo>
                        <a:pt x="9362" y="8117"/>
                      </a:lnTo>
                      <a:lnTo>
                        <a:pt x="9536" y="8066"/>
                      </a:lnTo>
                      <a:lnTo>
                        <a:pt x="9858" y="8092"/>
                      </a:lnTo>
                      <a:lnTo>
                        <a:pt x="9776" y="8370"/>
                      </a:lnTo>
                      <a:cubicBezTo>
                        <a:pt x="9695" y="8428"/>
                        <a:pt x="9617" y="8495"/>
                        <a:pt x="9541" y="8568"/>
                      </a:cubicBezTo>
                      <a:cubicBezTo>
                        <a:pt x="9427" y="8680"/>
                        <a:pt x="9319" y="8809"/>
                        <a:pt x="9219" y="8954"/>
                      </a:cubicBezTo>
                      <a:lnTo>
                        <a:pt x="8928" y="9569"/>
                      </a:lnTo>
                      <a:lnTo>
                        <a:pt x="8913" y="9857"/>
                      </a:lnTo>
                      <a:lnTo>
                        <a:pt x="8766" y="10016"/>
                      </a:lnTo>
                      <a:lnTo>
                        <a:pt x="8487" y="10313"/>
                      </a:lnTo>
                      <a:lnTo>
                        <a:pt x="8323" y="10682"/>
                      </a:lnTo>
                      <a:lnTo>
                        <a:pt x="8433" y="10916"/>
                      </a:lnTo>
                      <a:cubicBezTo>
                        <a:pt x="8525" y="10831"/>
                        <a:pt x="8616" y="10741"/>
                        <a:pt x="8706" y="10646"/>
                      </a:cubicBezTo>
                      <a:cubicBezTo>
                        <a:pt x="8787" y="10560"/>
                        <a:pt x="8868" y="10470"/>
                        <a:pt x="8946" y="10376"/>
                      </a:cubicBezTo>
                      <a:lnTo>
                        <a:pt x="9126" y="10268"/>
                      </a:lnTo>
                      <a:lnTo>
                        <a:pt x="9459" y="10214"/>
                      </a:lnTo>
                      <a:lnTo>
                        <a:pt x="9634" y="10061"/>
                      </a:lnTo>
                      <a:lnTo>
                        <a:pt x="9980" y="9670"/>
                      </a:lnTo>
                      <a:lnTo>
                        <a:pt x="9964" y="9328"/>
                      </a:lnTo>
                      <a:lnTo>
                        <a:pt x="10319" y="8905"/>
                      </a:lnTo>
                      <a:lnTo>
                        <a:pt x="10516" y="8716"/>
                      </a:lnTo>
                      <a:lnTo>
                        <a:pt x="10876" y="8401"/>
                      </a:lnTo>
                      <a:lnTo>
                        <a:pt x="10973" y="8697"/>
                      </a:lnTo>
                      <a:lnTo>
                        <a:pt x="10729" y="8912"/>
                      </a:lnTo>
                      <a:lnTo>
                        <a:pt x="10407" y="9155"/>
                      </a:lnTo>
                      <a:lnTo>
                        <a:pt x="10287" y="9415"/>
                      </a:lnTo>
                      <a:lnTo>
                        <a:pt x="10697" y="9541"/>
                      </a:lnTo>
                      <a:lnTo>
                        <a:pt x="10926" y="9379"/>
                      </a:lnTo>
                      <a:lnTo>
                        <a:pt x="11128" y="9199"/>
                      </a:lnTo>
                      <a:lnTo>
                        <a:pt x="11450" y="8668"/>
                      </a:lnTo>
                      <a:lnTo>
                        <a:pt x="11613" y="8353"/>
                      </a:lnTo>
                      <a:lnTo>
                        <a:pt x="11832" y="7930"/>
                      </a:lnTo>
                      <a:lnTo>
                        <a:pt x="12056" y="7583"/>
                      </a:lnTo>
                      <a:lnTo>
                        <a:pt x="12269" y="7395"/>
                      </a:lnTo>
                      <a:lnTo>
                        <a:pt x="12661" y="7101"/>
                      </a:lnTo>
                      <a:lnTo>
                        <a:pt x="13071" y="6859"/>
                      </a:lnTo>
                      <a:lnTo>
                        <a:pt x="13366" y="6535"/>
                      </a:lnTo>
                      <a:cubicBezTo>
                        <a:pt x="13397" y="6455"/>
                        <a:pt x="13431" y="6380"/>
                        <a:pt x="13469" y="6309"/>
                      </a:cubicBezTo>
                      <a:cubicBezTo>
                        <a:pt x="13590" y="6082"/>
                        <a:pt x="13742" y="5905"/>
                        <a:pt x="13912" y="5793"/>
                      </a:cubicBezTo>
                      <a:lnTo>
                        <a:pt x="14289" y="5635"/>
                      </a:lnTo>
                      <a:lnTo>
                        <a:pt x="14562" y="5392"/>
                      </a:lnTo>
                      <a:cubicBezTo>
                        <a:pt x="14638" y="5313"/>
                        <a:pt x="14709" y="5223"/>
                        <a:pt x="14775" y="5121"/>
                      </a:cubicBezTo>
                      <a:cubicBezTo>
                        <a:pt x="14866" y="4980"/>
                        <a:pt x="14945" y="4820"/>
                        <a:pt x="15010" y="4644"/>
                      </a:cubicBezTo>
                      <a:lnTo>
                        <a:pt x="15091" y="4237"/>
                      </a:lnTo>
                      <a:lnTo>
                        <a:pt x="15091" y="3937"/>
                      </a:lnTo>
                      <a:lnTo>
                        <a:pt x="14786" y="3960"/>
                      </a:lnTo>
                      <a:lnTo>
                        <a:pt x="14295" y="3946"/>
                      </a:lnTo>
                      <a:lnTo>
                        <a:pt x="14617" y="3596"/>
                      </a:lnTo>
                      <a:lnTo>
                        <a:pt x="15228" y="3333"/>
                      </a:lnTo>
                      <a:lnTo>
                        <a:pt x="15599" y="3182"/>
                      </a:lnTo>
                      <a:cubicBezTo>
                        <a:pt x="15695" y="3140"/>
                        <a:pt x="15792" y="3104"/>
                        <a:pt x="15889" y="3074"/>
                      </a:cubicBezTo>
                      <a:cubicBezTo>
                        <a:pt x="15969" y="3049"/>
                        <a:pt x="16049" y="3028"/>
                        <a:pt x="16129" y="3011"/>
                      </a:cubicBezTo>
                      <a:lnTo>
                        <a:pt x="15992" y="3494"/>
                      </a:lnTo>
                      <a:lnTo>
                        <a:pt x="15721" y="3736"/>
                      </a:lnTo>
                      <a:lnTo>
                        <a:pt x="15586" y="3913"/>
                      </a:lnTo>
                      <a:lnTo>
                        <a:pt x="15444" y="4210"/>
                      </a:lnTo>
                      <a:lnTo>
                        <a:pt x="15728" y="4523"/>
                      </a:lnTo>
                      <a:lnTo>
                        <a:pt x="16105" y="4118"/>
                      </a:lnTo>
                      <a:lnTo>
                        <a:pt x="16198" y="3803"/>
                      </a:lnTo>
                      <a:lnTo>
                        <a:pt x="16378" y="3480"/>
                      </a:lnTo>
                      <a:lnTo>
                        <a:pt x="16613" y="3561"/>
                      </a:lnTo>
                      <a:lnTo>
                        <a:pt x="16487" y="3831"/>
                      </a:lnTo>
                      <a:lnTo>
                        <a:pt x="16330" y="4233"/>
                      </a:lnTo>
                      <a:lnTo>
                        <a:pt x="16674" y="4277"/>
                      </a:lnTo>
                      <a:lnTo>
                        <a:pt x="16997" y="4169"/>
                      </a:lnTo>
                      <a:cubicBezTo>
                        <a:pt x="17148" y="4174"/>
                        <a:pt x="17299" y="4174"/>
                        <a:pt x="17450" y="4169"/>
                      </a:cubicBezTo>
                      <a:cubicBezTo>
                        <a:pt x="17580" y="4164"/>
                        <a:pt x="17709" y="4155"/>
                        <a:pt x="17838" y="4142"/>
                      </a:cubicBezTo>
                      <a:lnTo>
                        <a:pt x="18314" y="4142"/>
                      </a:lnTo>
                      <a:cubicBezTo>
                        <a:pt x="18432" y="4145"/>
                        <a:pt x="18551" y="4154"/>
                        <a:pt x="18669" y="4169"/>
                      </a:cubicBezTo>
                      <a:cubicBezTo>
                        <a:pt x="18836" y="4190"/>
                        <a:pt x="19001" y="4223"/>
                        <a:pt x="19166" y="4268"/>
                      </a:cubicBezTo>
                      <a:cubicBezTo>
                        <a:pt x="19189" y="4369"/>
                        <a:pt x="19177" y="4482"/>
                        <a:pt x="19133" y="4564"/>
                      </a:cubicBezTo>
                      <a:cubicBezTo>
                        <a:pt x="19048" y="4724"/>
                        <a:pt x="18893" y="4706"/>
                        <a:pt x="18822" y="4528"/>
                      </a:cubicBezTo>
                      <a:lnTo>
                        <a:pt x="18587" y="4528"/>
                      </a:lnTo>
                      <a:lnTo>
                        <a:pt x="18320" y="4555"/>
                      </a:lnTo>
                      <a:lnTo>
                        <a:pt x="17758" y="4492"/>
                      </a:lnTo>
                      <a:lnTo>
                        <a:pt x="17034" y="4484"/>
                      </a:lnTo>
                      <a:lnTo>
                        <a:pt x="16860" y="4619"/>
                      </a:lnTo>
                      <a:cubicBezTo>
                        <a:pt x="16796" y="4609"/>
                        <a:pt x="16732" y="4609"/>
                        <a:pt x="16668" y="4619"/>
                      </a:cubicBezTo>
                      <a:cubicBezTo>
                        <a:pt x="16549" y="4638"/>
                        <a:pt x="16433" y="4692"/>
                        <a:pt x="16325" y="4780"/>
                      </a:cubicBezTo>
                      <a:cubicBezTo>
                        <a:pt x="16237" y="4812"/>
                        <a:pt x="16154" y="4873"/>
                        <a:pt x="16080" y="4959"/>
                      </a:cubicBezTo>
                      <a:cubicBezTo>
                        <a:pt x="16031" y="5015"/>
                        <a:pt x="15987" y="5081"/>
                        <a:pt x="15949" y="5157"/>
                      </a:cubicBezTo>
                      <a:lnTo>
                        <a:pt x="16161" y="5614"/>
                      </a:lnTo>
                      <a:cubicBezTo>
                        <a:pt x="16108" y="5784"/>
                        <a:pt x="16029" y="5928"/>
                        <a:pt x="15932" y="6034"/>
                      </a:cubicBezTo>
                      <a:cubicBezTo>
                        <a:pt x="15816" y="6161"/>
                        <a:pt x="15679" y="6227"/>
                        <a:pt x="15539" y="6223"/>
                      </a:cubicBezTo>
                      <a:cubicBezTo>
                        <a:pt x="15445" y="6250"/>
                        <a:pt x="15352" y="6286"/>
                        <a:pt x="15261" y="6331"/>
                      </a:cubicBezTo>
                      <a:cubicBezTo>
                        <a:pt x="15108" y="6406"/>
                        <a:pt x="14960" y="6506"/>
                        <a:pt x="14819" y="6628"/>
                      </a:cubicBezTo>
                      <a:lnTo>
                        <a:pt x="14640" y="6870"/>
                      </a:lnTo>
                      <a:lnTo>
                        <a:pt x="14460" y="7112"/>
                      </a:lnTo>
                      <a:lnTo>
                        <a:pt x="14208" y="7319"/>
                      </a:lnTo>
                      <a:lnTo>
                        <a:pt x="13756" y="7481"/>
                      </a:lnTo>
                      <a:lnTo>
                        <a:pt x="13820" y="7830"/>
                      </a:lnTo>
                      <a:lnTo>
                        <a:pt x="14034" y="7857"/>
                      </a:lnTo>
                      <a:lnTo>
                        <a:pt x="13941" y="8205"/>
                      </a:lnTo>
                      <a:lnTo>
                        <a:pt x="13717" y="8385"/>
                      </a:lnTo>
                      <a:lnTo>
                        <a:pt x="13445" y="8412"/>
                      </a:lnTo>
                      <a:lnTo>
                        <a:pt x="13364" y="8653"/>
                      </a:lnTo>
                      <a:lnTo>
                        <a:pt x="13268" y="8869"/>
                      </a:lnTo>
                      <a:lnTo>
                        <a:pt x="12811" y="8922"/>
                      </a:lnTo>
                      <a:lnTo>
                        <a:pt x="12570" y="9102"/>
                      </a:lnTo>
                      <a:lnTo>
                        <a:pt x="12195" y="9291"/>
                      </a:lnTo>
                      <a:lnTo>
                        <a:pt x="11921" y="9471"/>
                      </a:lnTo>
                      <a:lnTo>
                        <a:pt x="11676" y="9579"/>
                      </a:lnTo>
                      <a:lnTo>
                        <a:pt x="11311" y="9839"/>
                      </a:lnTo>
                      <a:lnTo>
                        <a:pt x="11099" y="10135"/>
                      </a:lnTo>
                      <a:lnTo>
                        <a:pt x="10817" y="10562"/>
                      </a:lnTo>
                      <a:lnTo>
                        <a:pt x="10632" y="10892"/>
                      </a:lnTo>
                      <a:lnTo>
                        <a:pt x="10446" y="11306"/>
                      </a:lnTo>
                      <a:lnTo>
                        <a:pt x="10108" y="11629"/>
                      </a:lnTo>
                      <a:lnTo>
                        <a:pt x="9862" y="12124"/>
                      </a:lnTo>
                      <a:lnTo>
                        <a:pt x="9670" y="12403"/>
                      </a:lnTo>
                      <a:lnTo>
                        <a:pt x="9414" y="12943"/>
                      </a:lnTo>
                      <a:lnTo>
                        <a:pt x="9217" y="13240"/>
                      </a:lnTo>
                      <a:lnTo>
                        <a:pt x="9151" y="13717"/>
                      </a:lnTo>
                      <a:lnTo>
                        <a:pt x="9244" y="14140"/>
                      </a:lnTo>
                      <a:lnTo>
                        <a:pt x="9097" y="14743"/>
                      </a:lnTo>
                      <a:lnTo>
                        <a:pt x="9299" y="14940"/>
                      </a:lnTo>
                      <a:cubicBezTo>
                        <a:pt x="9407" y="14817"/>
                        <a:pt x="9519" y="14707"/>
                        <a:pt x="9636" y="14608"/>
                      </a:cubicBezTo>
                      <a:cubicBezTo>
                        <a:pt x="9735" y="14524"/>
                        <a:pt x="9837" y="14449"/>
                        <a:pt x="9941" y="14384"/>
                      </a:cubicBezTo>
                      <a:lnTo>
                        <a:pt x="10459" y="13980"/>
                      </a:lnTo>
                      <a:lnTo>
                        <a:pt x="10842" y="13719"/>
                      </a:lnTo>
                      <a:cubicBezTo>
                        <a:pt x="10939" y="13641"/>
                        <a:pt x="11032" y="13551"/>
                        <a:pt x="11121" y="13449"/>
                      </a:cubicBezTo>
                      <a:cubicBezTo>
                        <a:pt x="11244" y="13308"/>
                        <a:pt x="11357" y="13145"/>
                        <a:pt x="11460" y="12963"/>
                      </a:cubicBezTo>
                      <a:lnTo>
                        <a:pt x="11727" y="12531"/>
                      </a:lnTo>
                      <a:lnTo>
                        <a:pt x="11891" y="12477"/>
                      </a:lnTo>
                      <a:lnTo>
                        <a:pt x="12408" y="12477"/>
                      </a:lnTo>
                      <a:lnTo>
                        <a:pt x="12817" y="12612"/>
                      </a:lnTo>
                      <a:cubicBezTo>
                        <a:pt x="12860" y="12543"/>
                        <a:pt x="12908" y="12483"/>
                        <a:pt x="12960" y="12432"/>
                      </a:cubicBezTo>
                      <a:cubicBezTo>
                        <a:pt x="13118" y="12277"/>
                        <a:pt x="13301" y="12222"/>
                        <a:pt x="13479" y="12144"/>
                      </a:cubicBezTo>
                      <a:cubicBezTo>
                        <a:pt x="13641" y="12074"/>
                        <a:pt x="13799" y="11983"/>
                        <a:pt x="13953" y="11874"/>
                      </a:cubicBezTo>
                      <a:lnTo>
                        <a:pt x="14281" y="11793"/>
                      </a:lnTo>
                      <a:cubicBezTo>
                        <a:pt x="14360" y="11825"/>
                        <a:pt x="14440" y="11849"/>
                        <a:pt x="14521" y="11865"/>
                      </a:cubicBezTo>
                      <a:cubicBezTo>
                        <a:pt x="14767" y="11916"/>
                        <a:pt x="15017" y="11898"/>
                        <a:pt x="15259" y="11811"/>
                      </a:cubicBezTo>
                      <a:lnTo>
                        <a:pt x="16161" y="11757"/>
                      </a:lnTo>
                      <a:lnTo>
                        <a:pt x="16531" y="11622"/>
                      </a:lnTo>
                      <a:lnTo>
                        <a:pt x="16723" y="11227"/>
                      </a:lnTo>
                      <a:cubicBezTo>
                        <a:pt x="16800" y="11082"/>
                        <a:pt x="16871" y="10929"/>
                        <a:pt x="16936" y="10768"/>
                      </a:cubicBezTo>
                      <a:cubicBezTo>
                        <a:pt x="17005" y="10598"/>
                        <a:pt x="17067" y="10421"/>
                        <a:pt x="17122" y="10237"/>
                      </a:cubicBezTo>
                      <a:cubicBezTo>
                        <a:pt x="17212" y="10207"/>
                        <a:pt x="17300" y="10162"/>
                        <a:pt x="17384" y="10102"/>
                      </a:cubicBezTo>
                      <a:cubicBezTo>
                        <a:pt x="17505" y="10017"/>
                        <a:pt x="17617" y="9902"/>
                        <a:pt x="17717" y="9761"/>
                      </a:cubicBezTo>
                      <a:lnTo>
                        <a:pt x="17947" y="9761"/>
                      </a:lnTo>
                      <a:cubicBezTo>
                        <a:pt x="18045" y="9773"/>
                        <a:pt x="18142" y="9725"/>
                        <a:pt x="18220" y="9626"/>
                      </a:cubicBezTo>
                      <a:cubicBezTo>
                        <a:pt x="18279" y="9552"/>
                        <a:pt x="18324" y="9453"/>
                        <a:pt x="18351" y="9338"/>
                      </a:cubicBezTo>
                      <a:lnTo>
                        <a:pt x="18711" y="9176"/>
                      </a:lnTo>
                      <a:lnTo>
                        <a:pt x="18853" y="8915"/>
                      </a:lnTo>
                      <a:lnTo>
                        <a:pt x="18963" y="8726"/>
                      </a:lnTo>
                      <a:cubicBezTo>
                        <a:pt x="18976" y="8683"/>
                        <a:pt x="18978" y="8633"/>
                        <a:pt x="18969" y="8587"/>
                      </a:cubicBezTo>
                      <a:cubicBezTo>
                        <a:pt x="18896" y="8213"/>
                        <a:pt x="18532" y="8454"/>
                        <a:pt x="18637" y="8807"/>
                      </a:cubicBezTo>
                      <a:lnTo>
                        <a:pt x="19215" y="8144"/>
                      </a:lnTo>
                      <a:lnTo>
                        <a:pt x="19558" y="8144"/>
                      </a:lnTo>
                      <a:lnTo>
                        <a:pt x="19689" y="7866"/>
                      </a:lnTo>
                      <a:lnTo>
                        <a:pt x="19770" y="7491"/>
                      </a:lnTo>
                      <a:lnTo>
                        <a:pt x="19999" y="7060"/>
                      </a:lnTo>
                      <a:lnTo>
                        <a:pt x="20381" y="6735"/>
                      </a:lnTo>
                      <a:lnTo>
                        <a:pt x="20691" y="6600"/>
                      </a:lnTo>
                      <a:lnTo>
                        <a:pt x="21040" y="6465"/>
                      </a:lnTo>
                      <a:lnTo>
                        <a:pt x="21334" y="6336"/>
                      </a:lnTo>
                      <a:lnTo>
                        <a:pt x="21600" y="6123"/>
                      </a:lnTo>
                      <a:lnTo>
                        <a:pt x="21257" y="5980"/>
                      </a:lnTo>
                      <a:lnTo>
                        <a:pt x="21138" y="5575"/>
                      </a:lnTo>
                      <a:lnTo>
                        <a:pt x="21284" y="5251"/>
                      </a:lnTo>
                      <a:lnTo>
                        <a:pt x="21284" y="4963"/>
                      </a:lnTo>
                      <a:lnTo>
                        <a:pt x="21071" y="4694"/>
                      </a:lnTo>
                      <a:lnTo>
                        <a:pt x="20667" y="4613"/>
                      </a:lnTo>
                      <a:lnTo>
                        <a:pt x="20339" y="4586"/>
                      </a:lnTo>
                      <a:lnTo>
                        <a:pt x="20051" y="4613"/>
                      </a:lnTo>
                      <a:lnTo>
                        <a:pt x="19859" y="4613"/>
                      </a:lnTo>
                      <a:lnTo>
                        <a:pt x="19603" y="4586"/>
                      </a:lnTo>
                      <a:lnTo>
                        <a:pt x="19603" y="4272"/>
                      </a:lnTo>
                      <a:lnTo>
                        <a:pt x="19396" y="4353"/>
                      </a:lnTo>
                      <a:lnTo>
                        <a:pt x="19894" y="4038"/>
                      </a:lnTo>
                      <a:lnTo>
                        <a:pt x="20146" y="3642"/>
                      </a:lnTo>
                      <a:lnTo>
                        <a:pt x="20155" y="3249"/>
                      </a:lnTo>
                      <a:lnTo>
                        <a:pt x="19903" y="3356"/>
                      </a:lnTo>
                      <a:lnTo>
                        <a:pt x="19778" y="2934"/>
                      </a:lnTo>
                      <a:lnTo>
                        <a:pt x="19385" y="2765"/>
                      </a:lnTo>
                      <a:lnTo>
                        <a:pt x="18988" y="2727"/>
                      </a:lnTo>
                      <a:lnTo>
                        <a:pt x="18732" y="2753"/>
                      </a:lnTo>
                      <a:lnTo>
                        <a:pt x="18557" y="2807"/>
                      </a:lnTo>
                      <a:lnTo>
                        <a:pt x="18114" y="2834"/>
                      </a:lnTo>
                      <a:lnTo>
                        <a:pt x="17852" y="2969"/>
                      </a:lnTo>
                      <a:lnTo>
                        <a:pt x="17727" y="3230"/>
                      </a:lnTo>
                      <a:lnTo>
                        <a:pt x="17400" y="3436"/>
                      </a:lnTo>
                      <a:lnTo>
                        <a:pt x="17126" y="3436"/>
                      </a:lnTo>
                      <a:lnTo>
                        <a:pt x="16984" y="3275"/>
                      </a:lnTo>
                      <a:lnTo>
                        <a:pt x="17191" y="2871"/>
                      </a:lnTo>
                      <a:lnTo>
                        <a:pt x="17469" y="3023"/>
                      </a:lnTo>
                      <a:lnTo>
                        <a:pt x="17948" y="2637"/>
                      </a:lnTo>
                      <a:lnTo>
                        <a:pt x="18303" y="2501"/>
                      </a:lnTo>
                      <a:lnTo>
                        <a:pt x="18615" y="2408"/>
                      </a:lnTo>
                      <a:lnTo>
                        <a:pt x="19053" y="2336"/>
                      </a:lnTo>
                      <a:lnTo>
                        <a:pt x="19146" y="1959"/>
                      </a:lnTo>
                      <a:lnTo>
                        <a:pt x="19551" y="1618"/>
                      </a:lnTo>
                      <a:lnTo>
                        <a:pt x="20266" y="0"/>
                      </a:lnTo>
                      <a:cubicBezTo>
                        <a:pt x="16269" y="714"/>
                        <a:pt x="12406" y="2786"/>
                        <a:pt x="8920" y="6085"/>
                      </a:cubicBezTo>
                      <a:cubicBezTo>
                        <a:pt x="5427" y="9390"/>
                        <a:pt x="2390" y="13855"/>
                        <a:pt x="0" y="19197"/>
                      </a:cubicBezTo>
                      <a:close/>
                    </a:path>
                  </a:pathLst>
                </a:custGeom>
                <a:solidFill>
                  <a:srgbClr val="005A8A"/>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ïṣļiďé">
                  <a:extLst>
                    <a:ext uri="{FF2B5EF4-FFF2-40B4-BE49-F238E27FC236}">
                      <a16:creationId xmlns:a16="http://schemas.microsoft.com/office/drawing/2014/main" id="{37EDF089-0E42-4D14-BE4B-E227099BC8F9}"/>
                    </a:ext>
                  </a:extLst>
                </p:cNvPr>
                <p:cNvSpPr/>
                <p:nvPr/>
              </p:nvSpPr>
              <p:spPr>
                <a:xfrm>
                  <a:off x="5334061" y="2423083"/>
                  <a:ext cx="1990803" cy="2323756"/>
                </a:xfrm>
                <a:custGeom>
                  <a:avLst/>
                  <a:gdLst/>
                  <a:ahLst/>
                  <a:cxnLst>
                    <a:cxn ang="0">
                      <a:pos x="wd2" y="hd2"/>
                    </a:cxn>
                    <a:cxn ang="5400000">
                      <a:pos x="wd2" y="hd2"/>
                    </a:cxn>
                    <a:cxn ang="10800000">
                      <a:pos x="wd2" y="hd2"/>
                    </a:cxn>
                    <a:cxn ang="16200000">
                      <a:pos x="wd2" y="hd2"/>
                    </a:cxn>
                  </a:cxnLst>
                  <a:rect l="0" t="0" r="r" b="b"/>
                  <a:pathLst>
                    <a:path w="21600" h="21600" extrusionOk="0">
                      <a:moveTo>
                        <a:pt x="5144" y="4147"/>
                      </a:moveTo>
                      <a:lnTo>
                        <a:pt x="5022" y="4189"/>
                      </a:lnTo>
                      <a:lnTo>
                        <a:pt x="4921" y="4242"/>
                      </a:lnTo>
                      <a:lnTo>
                        <a:pt x="4947" y="4142"/>
                      </a:lnTo>
                      <a:lnTo>
                        <a:pt x="4925" y="4073"/>
                      </a:lnTo>
                      <a:lnTo>
                        <a:pt x="4841" y="4150"/>
                      </a:lnTo>
                      <a:cubicBezTo>
                        <a:pt x="4817" y="4180"/>
                        <a:pt x="4789" y="4208"/>
                        <a:pt x="4757" y="4233"/>
                      </a:cubicBezTo>
                      <a:cubicBezTo>
                        <a:pt x="4719" y="4264"/>
                        <a:pt x="4676" y="4291"/>
                        <a:pt x="4630" y="4312"/>
                      </a:cubicBezTo>
                      <a:lnTo>
                        <a:pt x="4701" y="4380"/>
                      </a:lnTo>
                      <a:lnTo>
                        <a:pt x="4729" y="4509"/>
                      </a:lnTo>
                      <a:lnTo>
                        <a:pt x="4667" y="4606"/>
                      </a:lnTo>
                      <a:cubicBezTo>
                        <a:pt x="4610" y="4594"/>
                        <a:pt x="4551" y="4596"/>
                        <a:pt x="4495" y="4612"/>
                      </a:cubicBezTo>
                      <a:cubicBezTo>
                        <a:pt x="4452" y="4625"/>
                        <a:pt x="4412" y="4647"/>
                        <a:pt x="4380" y="4676"/>
                      </a:cubicBezTo>
                      <a:lnTo>
                        <a:pt x="4285" y="4733"/>
                      </a:lnTo>
                      <a:lnTo>
                        <a:pt x="4124" y="4743"/>
                      </a:lnTo>
                      <a:lnTo>
                        <a:pt x="4018" y="4813"/>
                      </a:lnTo>
                      <a:lnTo>
                        <a:pt x="3992" y="4903"/>
                      </a:lnTo>
                      <a:lnTo>
                        <a:pt x="3998" y="4972"/>
                      </a:lnTo>
                      <a:cubicBezTo>
                        <a:pt x="3949" y="4989"/>
                        <a:pt x="3903" y="5012"/>
                        <a:pt x="3861" y="5040"/>
                      </a:cubicBezTo>
                      <a:cubicBezTo>
                        <a:pt x="3834" y="5058"/>
                        <a:pt x="3808" y="5079"/>
                        <a:pt x="3797" y="5107"/>
                      </a:cubicBezTo>
                      <a:cubicBezTo>
                        <a:pt x="3780" y="5151"/>
                        <a:pt x="3800" y="5198"/>
                        <a:pt x="3840" y="5231"/>
                      </a:cubicBezTo>
                      <a:cubicBezTo>
                        <a:pt x="3893" y="5273"/>
                        <a:pt x="3969" y="5284"/>
                        <a:pt x="4036" y="5260"/>
                      </a:cubicBezTo>
                      <a:lnTo>
                        <a:pt x="4147" y="5219"/>
                      </a:lnTo>
                      <a:lnTo>
                        <a:pt x="4259" y="5181"/>
                      </a:lnTo>
                      <a:cubicBezTo>
                        <a:pt x="4305" y="5178"/>
                        <a:pt x="4349" y="5167"/>
                        <a:pt x="4389" y="5147"/>
                      </a:cubicBezTo>
                      <a:cubicBezTo>
                        <a:pt x="4433" y="5125"/>
                        <a:pt x="4469" y="5094"/>
                        <a:pt x="4495" y="5057"/>
                      </a:cubicBezTo>
                      <a:lnTo>
                        <a:pt x="4528" y="4922"/>
                      </a:lnTo>
                      <a:lnTo>
                        <a:pt x="4602" y="4789"/>
                      </a:lnTo>
                      <a:lnTo>
                        <a:pt x="4706" y="4696"/>
                      </a:lnTo>
                      <a:lnTo>
                        <a:pt x="4801" y="4666"/>
                      </a:lnTo>
                      <a:lnTo>
                        <a:pt x="4870" y="4761"/>
                      </a:lnTo>
                      <a:lnTo>
                        <a:pt x="4817" y="4795"/>
                      </a:lnTo>
                      <a:lnTo>
                        <a:pt x="4866" y="4872"/>
                      </a:lnTo>
                      <a:cubicBezTo>
                        <a:pt x="4896" y="4876"/>
                        <a:pt x="4923" y="4886"/>
                        <a:pt x="4947" y="4902"/>
                      </a:cubicBezTo>
                      <a:cubicBezTo>
                        <a:pt x="4984" y="4926"/>
                        <a:pt x="5008" y="4963"/>
                        <a:pt x="5014" y="5003"/>
                      </a:cubicBezTo>
                      <a:lnTo>
                        <a:pt x="4919" y="5045"/>
                      </a:lnTo>
                      <a:lnTo>
                        <a:pt x="4794" y="5009"/>
                      </a:lnTo>
                      <a:lnTo>
                        <a:pt x="4722" y="5090"/>
                      </a:lnTo>
                      <a:lnTo>
                        <a:pt x="4748" y="5193"/>
                      </a:lnTo>
                      <a:lnTo>
                        <a:pt x="4694" y="5242"/>
                      </a:lnTo>
                      <a:lnTo>
                        <a:pt x="4577" y="5246"/>
                      </a:lnTo>
                      <a:lnTo>
                        <a:pt x="4551" y="5334"/>
                      </a:lnTo>
                      <a:cubicBezTo>
                        <a:pt x="4589" y="5327"/>
                        <a:pt x="4629" y="5340"/>
                        <a:pt x="4651" y="5367"/>
                      </a:cubicBezTo>
                      <a:cubicBezTo>
                        <a:pt x="4698" y="5426"/>
                        <a:pt x="4656" y="5506"/>
                        <a:pt x="4574" y="5514"/>
                      </a:cubicBezTo>
                      <a:cubicBezTo>
                        <a:pt x="4539" y="5512"/>
                        <a:pt x="4505" y="5514"/>
                        <a:pt x="4471" y="5520"/>
                      </a:cubicBezTo>
                      <a:cubicBezTo>
                        <a:pt x="4426" y="5529"/>
                        <a:pt x="4384" y="5545"/>
                        <a:pt x="4346" y="5568"/>
                      </a:cubicBezTo>
                      <a:lnTo>
                        <a:pt x="4467" y="5663"/>
                      </a:lnTo>
                      <a:cubicBezTo>
                        <a:pt x="4481" y="5632"/>
                        <a:pt x="4509" y="5606"/>
                        <a:pt x="4544" y="5591"/>
                      </a:cubicBezTo>
                      <a:cubicBezTo>
                        <a:pt x="4573" y="5579"/>
                        <a:pt x="4606" y="5575"/>
                        <a:pt x="4639" y="5579"/>
                      </a:cubicBezTo>
                      <a:lnTo>
                        <a:pt x="4787" y="5587"/>
                      </a:lnTo>
                      <a:lnTo>
                        <a:pt x="4940" y="5545"/>
                      </a:lnTo>
                      <a:cubicBezTo>
                        <a:pt x="4985" y="5544"/>
                        <a:pt x="5030" y="5544"/>
                        <a:pt x="5075" y="5545"/>
                      </a:cubicBezTo>
                      <a:cubicBezTo>
                        <a:pt x="5116" y="5546"/>
                        <a:pt x="5157" y="5548"/>
                        <a:pt x="5198" y="5551"/>
                      </a:cubicBezTo>
                      <a:lnTo>
                        <a:pt x="5364" y="5557"/>
                      </a:lnTo>
                      <a:lnTo>
                        <a:pt x="5453" y="5557"/>
                      </a:lnTo>
                      <a:lnTo>
                        <a:pt x="5501" y="5630"/>
                      </a:lnTo>
                      <a:cubicBezTo>
                        <a:pt x="5483" y="5643"/>
                        <a:pt x="5465" y="5655"/>
                        <a:pt x="5446" y="5666"/>
                      </a:cubicBezTo>
                      <a:cubicBezTo>
                        <a:pt x="5383" y="5703"/>
                        <a:pt x="5314" y="5733"/>
                        <a:pt x="5242" y="5755"/>
                      </a:cubicBezTo>
                      <a:cubicBezTo>
                        <a:pt x="5191" y="5771"/>
                        <a:pt x="5138" y="5782"/>
                        <a:pt x="5084" y="5789"/>
                      </a:cubicBezTo>
                      <a:lnTo>
                        <a:pt x="4996" y="5696"/>
                      </a:lnTo>
                      <a:lnTo>
                        <a:pt x="4920" y="5779"/>
                      </a:lnTo>
                      <a:lnTo>
                        <a:pt x="4899" y="5838"/>
                      </a:lnTo>
                      <a:lnTo>
                        <a:pt x="4472" y="5838"/>
                      </a:lnTo>
                      <a:lnTo>
                        <a:pt x="4346" y="5880"/>
                      </a:lnTo>
                      <a:lnTo>
                        <a:pt x="4405" y="5971"/>
                      </a:lnTo>
                      <a:lnTo>
                        <a:pt x="4495" y="6056"/>
                      </a:lnTo>
                      <a:lnTo>
                        <a:pt x="4565" y="6112"/>
                      </a:lnTo>
                      <a:lnTo>
                        <a:pt x="4646" y="6235"/>
                      </a:lnTo>
                      <a:lnTo>
                        <a:pt x="4679" y="6340"/>
                      </a:lnTo>
                      <a:lnTo>
                        <a:pt x="4749" y="6524"/>
                      </a:lnTo>
                      <a:lnTo>
                        <a:pt x="4709" y="6662"/>
                      </a:lnTo>
                      <a:lnTo>
                        <a:pt x="4656" y="6763"/>
                      </a:lnTo>
                      <a:lnTo>
                        <a:pt x="4599" y="6820"/>
                      </a:lnTo>
                      <a:lnTo>
                        <a:pt x="4468" y="6826"/>
                      </a:lnTo>
                      <a:cubicBezTo>
                        <a:pt x="4438" y="6822"/>
                        <a:pt x="4408" y="6818"/>
                        <a:pt x="4378" y="6814"/>
                      </a:cubicBezTo>
                      <a:cubicBezTo>
                        <a:pt x="4311" y="6806"/>
                        <a:pt x="4243" y="6799"/>
                        <a:pt x="4176" y="6794"/>
                      </a:cubicBezTo>
                      <a:lnTo>
                        <a:pt x="3983" y="6770"/>
                      </a:lnTo>
                      <a:lnTo>
                        <a:pt x="3864" y="6735"/>
                      </a:lnTo>
                      <a:lnTo>
                        <a:pt x="3725" y="6699"/>
                      </a:lnTo>
                      <a:lnTo>
                        <a:pt x="3614" y="6669"/>
                      </a:lnTo>
                      <a:cubicBezTo>
                        <a:pt x="3559" y="6646"/>
                        <a:pt x="3495" y="6644"/>
                        <a:pt x="3438" y="6663"/>
                      </a:cubicBezTo>
                      <a:cubicBezTo>
                        <a:pt x="3398" y="6676"/>
                        <a:pt x="3364" y="6699"/>
                        <a:pt x="3340" y="6728"/>
                      </a:cubicBezTo>
                      <a:lnTo>
                        <a:pt x="3273" y="6889"/>
                      </a:lnTo>
                      <a:cubicBezTo>
                        <a:pt x="3278" y="6911"/>
                        <a:pt x="3280" y="6934"/>
                        <a:pt x="3280" y="6956"/>
                      </a:cubicBezTo>
                      <a:cubicBezTo>
                        <a:pt x="3280" y="6995"/>
                        <a:pt x="3273" y="7034"/>
                        <a:pt x="3259" y="7072"/>
                      </a:cubicBezTo>
                      <a:lnTo>
                        <a:pt x="3185" y="7197"/>
                      </a:lnTo>
                      <a:cubicBezTo>
                        <a:pt x="3167" y="7226"/>
                        <a:pt x="3147" y="7255"/>
                        <a:pt x="3125" y="7282"/>
                      </a:cubicBezTo>
                      <a:cubicBezTo>
                        <a:pt x="3083" y="7333"/>
                        <a:pt x="3034" y="7380"/>
                        <a:pt x="2985" y="7427"/>
                      </a:cubicBezTo>
                      <a:cubicBezTo>
                        <a:pt x="2936" y="7474"/>
                        <a:pt x="2886" y="7522"/>
                        <a:pt x="2836" y="7569"/>
                      </a:cubicBezTo>
                      <a:lnTo>
                        <a:pt x="2883" y="7672"/>
                      </a:lnTo>
                      <a:lnTo>
                        <a:pt x="2932" y="7729"/>
                      </a:lnTo>
                      <a:lnTo>
                        <a:pt x="2879" y="7819"/>
                      </a:lnTo>
                      <a:cubicBezTo>
                        <a:pt x="2851" y="7849"/>
                        <a:pt x="2851" y="7891"/>
                        <a:pt x="2879" y="7921"/>
                      </a:cubicBezTo>
                      <a:cubicBezTo>
                        <a:pt x="2905" y="7948"/>
                        <a:pt x="2949" y="7958"/>
                        <a:pt x="2988" y="7944"/>
                      </a:cubicBezTo>
                      <a:lnTo>
                        <a:pt x="3102" y="7962"/>
                      </a:lnTo>
                      <a:lnTo>
                        <a:pt x="3278" y="8014"/>
                      </a:lnTo>
                      <a:lnTo>
                        <a:pt x="3301" y="8122"/>
                      </a:lnTo>
                      <a:lnTo>
                        <a:pt x="3368" y="8235"/>
                      </a:lnTo>
                      <a:lnTo>
                        <a:pt x="3464" y="8235"/>
                      </a:lnTo>
                      <a:lnTo>
                        <a:pt x="3571" y="8205"/>
                      </a:lnTo>
                      <a:cubicBezTo>
                        <a:pt x="3620" y="8187"/>
                        <a:pt x="3671" y="8173"/>
                        <a:pt x="3724" y="8163"/>
                      </a:cubicBezTo>
                      <a:cubicBezTo>
                        <a:pt x="3799" y="8149"/>
                        <a:pt x="3876" y="8143"/>
                        <a:pt x="3954" y="8146"/>
                      </a:cubicBezTo>
                      <a:lnTo>
                        <a:pt x="4160" y="8110"/>
                      </a:lnTo>
                      <a:lnTo>
                        <a:pt x="4323" y="8064"/>
                      </a:lnTo>
                      <a:lnTo>
                        <a:pt x="4543" y="8024"/>
                      </a:lnTo>
                      <a:cubicBezTo>
                        <a:pt x="4582" y="8000"/>
                        <a:pt x="4618" y="7972"/>
                        <a:pt x="4648" y="7941"/>
                      </a:cubicBezTo>
                      <a:cubicBezTo>
                        <a:pt x="4693" y="7894"/>
                        <a:pt x="4726" y="7841"/>
                        <a:pt x="4747" y="7784"/>
                      </a:cubicBezTo>
                      <a:cubicBezTo>
                        <a:pt x="4697" y="7762"/>
                        <a:pt x="4663" y="7720"/>
                        <a:pt x="4657" y="7672"/>
                      </a:cubicBezTo>
                      <a:cubicBezTo>
                        <a:pt x="4646" y="7592"/>
                        <a:pt x="4712" y="7519"/>
                        <a:pt x="4806" y="7507"/>
                      </a:cubicBezTo>
                      <a:cubicBezTo>
                        <a:pt x="4818" y="7473"/>
                        <a:pt x="4844" y="7444"/>
                        <a:pt x="4880" y="7426"/>
                      </a:cubicBezTo>
                      <a:cubicBezTo>
                        <a:pt x="4971" y="7379"/>
                        <a:pt x="5085" y="7414"/>
                        <a:pt x="5186" y="7392"/>
                      </a:cubicBezTo>
                      <a:cubicBezTo>
                        <a:pt x="5242" y="7380"/>
                        <a:pt x="5289" y="7351"/>
                        <a:pt x="5333" y="7320"/>
                      </a:cubicBezTo>
                      <a:cubicBezTo>
                        <a:pt x="5374" y="7291"/>
                        <a:pt x="5413" y="7259"/>
                        <a:pt x="5449" y="7225"/>
                      </a:cubicBezTo>
                      <a:lnTo>
                        <a:pt x="5498" y="7058"/>
                      </a:lnTo>
                      <a:cubicBezTo>
                        <a:pt x="5502" y="7021"/>
                        <a:pt x="5529" y="6989"/>
                        <a:pt x="5567" y="6974"/>
                      </a:cubicBezTo>
                      <a:cubicBezTo>
                        <a:pt x="5607" y="6958"/>
                        <a:pt x="5653" y="6962"/>
                        <a:pt x="5695" y="6972"/>
                      </a:cubicBezTo>
                      <a:cubicBezTo>
                        <a:pt x="5767" y="6989"/>
                        <a:pt x="5831" y="7025"/>
                        <a:pt x="5880" y="7073"/>
                      </a:cubicBezTo>
                      <a:cubicBezTo>
                        <a:pt x="5912" y="7079"/>
                        <a:pt x="5945" y="7079"/>
                        <a:pt x="5977" y="7073"/>
                      </a:cubicBezTo>
                      <a:cubicBezTo>
                        <a:pt x="6027" y="7064"/>
                        <a:pt x="6071" y="7041"/>
                        <a:pt x="6117" y="7023"/>
                      </a:cubicBezTo>
                      <a:cubicBezTo>
                        <a:pt x="6235" y="6978"/>
                        <a:pt x="6368" y="6966"/>
                        <a:pt x="6495" y="6990"/>
                      </a:cubicBezTo>
                      <a:lnTo>
                        <a:pt x="6521" y="6918"/>
                      </a:lnTo>
                      <a:lnTo>
                        <a:pt x="6732" y="6930"/>
                      </a:lnTo>
                      <a:lnTo>
                        <a:pt x="6759" y="7000"/>
                      </a:lnTo>
                      <a:lnTo>
                        <a:pt x="6725" y="7115"/>
                      </a:lnTo>
                      <a:lnTo>
                        <a:pt x="6845" y="7228"/>
                      </a:lnTo>
                      <a:cubicBezTo>
                        <a:pt x="6898" y="7250"/>
                        <a:pt x="6947" y="7275"/>
                        <a:pt x="6994" y="7304"/>
                      </a:cubicBezTo>
                      <a:cubicBezTo>
                        <a:pt x="7034" y="7328"/>
                        <a:pt x="7071" y="7355"/>
                        <a:pt x="7110" y="7379"/>
                      </a:cubicBezTo>
                      <a:cubicBezTo>
                        <a:pt x="7205" y="7438"/>
                        <a:pt x="7309" y="7485"/>
                        <a:pt x="7419" y="7517"/>
                      </a:cubicBezTo>
                      <a:cubicBezTo>
                        <a:pt x="7439" y="7569"/>
                        <a:pt x="7471" y="7617"/>
                        <a:pt x="7514" y="7658"/>
                      </a:cubicBezTo>
                      <a:cubicBezTo>
                        <a:pt x="7555" y="7697"/>
                        <a:pt x="7605" y="7728"/>
                        <a:pt x="7660" y="7749"/>
                      </a:cubicBezTo>
                      <a:lnTo>
                        <a:pt x="7716" y="7827"/>
                      </a:lnTo>
                      <a:cubicBezTo>
                        <a:pt x="7731" y="7845"/>
                        <a:pt x="7742" y="7866"/>
                        <a:pt x="7746" y="7889"/>
                      </a:cubicBezTo>
                      <a:cubicBezTo>
                        <a:pt x="7754" y="7933"/>
                        <a:pt x="7739" y="7977"/>
                        <a:pt x="7704" y="8010"/>
                      </a:cubicBezTo>
                      <a:cubicBezTo>
                        <a:pt x="7711" y="8035"/>
                        <a:pt x="7703" y="8060"/>
                        <a:pt x="7684" y="8079"/>
                      </a:cubicBezTo>
                      <a:cubicBezTo>
                        <a:pt x="7661" y="8102"/>
                        <a:pt x="7626" y="8112"/>
                        <a:pt x="7592" y="8105"/>
                      </a:cubicBezTo>
                      <a:lnTo>
                        <a:pt x="7504" y="8069"/>
                      </a:lnTo>
                      <a:lnTo>
                        <a:pt x="7416" y="8093"/>
                      </a:lnTo>
                      <a:lnTo>
                        <a:pt x="7344" y="8081"/>
                      </a:lnTo>
                      <a:lnTo>
                        <a:pt x="7272" y="8022"/>
                      </a:lnTo>
                      <a:cubicBezTo>
                        <a:pt x="7246" y="8014"/>
                        <a:pt x="7219" y="8010"/>
                        <a:pt x="7191" y="8010"/>
                      </a:cubicBezTo>
                      <a:cubicBezTo>
                        <a:pt x="7151" y="8010"/>
                        <a:pt x="7112" y="8018"/>
                        <a:pt x="7077" y="8033"/>
                      </a:cubicBezTo>
                      <a:lnTo>
                        <a:pt x="6982" y="8107"/>
                      </a:lnTo>
                      <a:lnTo>
                        <a:pt x="7119" y="8177"/>
                      </a:lnTo>
                      <a:lnTo>
                        <a:pt x="7252" y="8238"/>
                      </a:lnTo>
                      <a:lnTo>
                        <a:pt x="7395" y="8302"/>
                      </a:lnTo>
                      <a:cubicBezTo>
                        <a:pt x="7419" y="8293"/>
                        <a:pt x="7446" y="8296"/>
                        <a:pt x="7467" y="8308"/>
                      </a:cubicBezTo>
                      <a:cubicBezTo>
                        <a:pt x="7512" y="8333"/>
                        <a:pt x="7518" y="8393"/>
                        <a:pt x="7570" y="8409"/>
                      </a:cubicBezTo>
                      <a:cubicBezTo>
                        <a:pt x="7646" y="8434"/>
                        <a:pt x="7713" y="8358"/>
                        <a:pt x="7665" y="8302"/>
                      </a:cubicBezTo>
                      <a:lnTo>
                        <a:pt x="7688" y="8173"/>
                      </a:lnTo>
                      <a:lnTo>
                        <a:pt x="7814" y="8125"/>
                      </a:lnTo>
                      <a:lnTo>
                        <a:pt x="7888" y="8068"/>
                      </a:lnTo>
                      <a:lnTo>
                        <a:pt x="7921" y="7980"/>
                      </a:lnTo>
                      <a:cubicBezTo>
                        <a:pt x="7961" y="7970"/>
                        <a:pt x="7995" y="7944"/>
                        <a:pt x="8011" y="7911"/>
                      </a:cubicBezTo>
                      <a:cubicBezTo>
                        <a:pt x="8034" y="7863"/>
                        <a:pt x="8020" y="7808"/>
                        <a:pt x="7976" y="7773"/>
                      </a:cubicBezTo>
                      <a:lnTo>
                        <a:pt x="7969" y="7668"/>
                      </a:lnTo>
                      <a:lnTo>
                        <a:pt x="8034" y="7636"/>
                      </a:lnTo>
                      <a:lnTo>
                        <a:pt x="8111" y="7738"/>
                      </a:lnTo>
                      <a:lnTo>
                        <a:pt x="8185" y="7782"/>
                      </a:lnTo>
                      <a:lnTo>
                        <a:pt x="8274" y="7698"/>
                      </a:lnTo>
                      <a:lnTo>
                        <a:pt x="8177" y="7550"/>
                      </a:lnTo>
                      <a:lnTo>
                        <a:pt x="8026" y="7504"/>
                      </a:lnTo>
                      <a:cubicBezTo>
                        <a:pt x="7981" y="7483"/>
                        <a:pt x="7939" y="7457"/>
                        <a:pt x="7903" y="7426"/>
                      </a:cubicBezTo>
                      <a:cubicBezTo>
                        <a:pt x="7871" y="7399"/>
                        <a:pt x="7843" y="7369"/>
                        <a:pt x="7820" y="7337"/>
                      </a:cubicBezTo>
                      <a:lnTo>
                        <a:pt x="7687" y="7259"/>
                      </a:lnTo>
                      <a:lnTo>
                        <a:pt x="7555" y="7176"/>
                      </a:lnTo>
                      <a:lnTo>
                        <a:pt x="7362" y="7110"/>
                      </a:lnTo>
                      <a:lnTo>
                        <a:pt x="7313" y="6985"/>
                      </a:lnTo>
                      <a:lnTo>
                        <a:pt x="7272" y="6885"/>
                      </a:lnTo>
                      <a:lnTo>
                        <a:pt x="7191" y="6861"/>
                      </a:lnTo>
                      <a:lnTo>
                        <a:pt x="7163" y="6748"/>
                      </a:lnTo>
                      <a:lnTo>
                        <a:pt x="7217" y="6657"/>
                      </a:lnTo>
                      <a:lnTo>
                        <a:pt x="7296" y="6663"/>
                      </a:lnTo>
                      <a:lnTo>
                        <a:pt x="7351" y="6722"/>
                      </a:lnTo>
                      <a:lnTo>
                        <a:pt x="7402" y="6812"/>
                      </a:lnTo>
                      <a:lnTo>
                        <a:pt x="7467" y="6883"/>
                      </a:lnTo>
                      <a:lnTo>
                        <a:pt x="7585" y="6901"/>
                      </a:lnTo>
                      <a:lnTo>
                        <a:pt x="7687" y="6960"/>
                      </a:lnTo>
                      <a:cubicBezTo>
                        <a:pt x="7723" y="6966"/>
                        <a:pt x="7753" y="6987"/>
                        <a:pt x="7766" y="7016"/>
                      </a:cubicBezTo>
                      <a:cubicBezTo>
                        <a:pt x="7786" y="7059"/>
                        <a:pt x="7766" y="7108"/>
                        <a:pt x="7720" y="7131"/>
                      </a:cubicBezTo>
                      <a:lnTo>
                        <a:pt x="7873" y="7173"/>
                      </a:lnTo>
                      <a:lnTo>
                        <a:pt x="7964" y="7179"/>
                      </a:lnTo>
                      <a:cubicBezTo>
                        <a:pt x="7997" y="7183"/>
                        <a:pt x="8030" y="7191"/>
                        <a:pt x="8061" y="7202"/>
                      </a:cubicBezTo>
                      <a:cubicBezTo>
                        <a:pt x="8116" y="7222"/>
                        <a:pt x="8165" y="7250"/>
                        <a:pt x="8207" y="7286"/>
                      </a:cubicBezTo>
                      <a:lnTo>
                        <a:pt x="8289" y="7322"/>
                      </a:lnTo>
                      <a:lnTo>
                        <a:pt x="8386" y="7363"/>
                      </a:lnTo>
                      <a:lnTo>
                        <a:pt x="8383" y="7544"/>
                      </a:lnTo>
                      <a:lnTo>
                        <a:pt x="8427" y="7763"/>
                      </a:lnTo>
                      <a:lnTo>
                        <a:pt x="8606" y="7823"/>
                      </a:lnTo>
                      <a:lnTo>
                        <a:pt x="8675" y="7900"/>
                      </a:lnTo>
                      <a:lnTo>
                        <a:pt x="8670" y="8036"/>
                      </a:lnTo>
                      <a:lnTo>
                        <a:pt x="8670" y="8130"/>
                      </a:lnTo>
                      <a:lnTo>
                        <a:pt x="8707" y="8199"/>
                      </a:lnTo>
                      <a:lnTo>
                        <a:pt x="8791" y="8203"/>
                      </a:lnTo>
                      <a:lnTo>
                        <a:pt x="8837" y="8317"/>
                      </a:lnTo>
                      <a:lnTo>
                        <a:pt x="8949" y="8380"/>
                      </a:lnTo>
                      <a:lnTo>
                        <a:pt x="9095" y="8380"/>
                      </a:lnTo>
                      <a:cubicBezTo>
                        <a:pt x="9061" y="8420"/>
                        <a:pt x="9079" y="8476"/>
                        <a:pt x="9132" y="8496"/>
                      </a:cubicBezTo>
                      <a:cubicBezTo>
                        <a:pt x="9205" y="8523"/>
                        <a:pt x="9283" y="8467"/>
                        <a:pt x="9264" y="8400"/>
                      </a:cubicBezTo>
                      <a:cubicBezTo>
                        <a:pt x="9182" y="8393"/>
                        <a:pt x="9146" y="8308"/>
                        <a:pt x="9204" y="8257"/>
                      </a:cubicBezTo>
                      <a:cubicBezTo>
                        <a:pt x="9233" y="8232"/>
                        <a:pt x="9278" y="8227"/>
                        <a:pt x="9313" y="8247"/>
                      </a:cubicBezTo>
                      <a:lnTo>
                        <a:pt x="9396" y="8300"/>
                      </a:lnTo>
                      <a:lnTo>
                        <a:pt x="9417" y="8362"/>
                      </a:lnTo>
                      <a:lnTo>
                        <a:pt x="9424" y="8427"/>
                      </a:lnTo>
                      <a:lnTo>
                        <a:pt x="9473" y="8562"/>
                      </a:lnTo>
                      <a:lnTo>
                        <a:pt x="9347" y="8521"/>
                      </a:lnTo>
                      <a:lnTo>
                        <a:pt x="9262" y="8546"/>
                      </a:lnTo>
                      <a:cubicBezTo>
                        <a:pt x="9232" y="8570"/>
                        <a:pt x="9221" y="8607"/>
                        <a:pt x="9234" y="8639"/>
                      </a:cubicBezTo>
                      <a:cubicBezTo>
                        <a:pt x="9264" y="8714"/>
                        <a:pt x="9379" y="8731"/>
                        <a:pt x="9436" y="8669"/>
                      </a:cubicBezTo>
                      <a:cubicBezTo>
                        <a:pt x="9491" y="8679"/>
                        <a:pt x="9547" y="8685"/>
                        <a:pt x="9603" y="8687"/>
                      </a:cubicBezTo>
                      <a:cubicBezTo>
                        <a:pt x="9667" y="8690"/>
                        <a:pt x="9732" y="8688"/>
                        <a:pt x="9795" y="8681"/>
                      </a:cubicBezTo>
                      <a:cubicBezTo>
                        <a:pt x="9818" y="8655"/>
                        <a:pt x="9820" y="8620"/>
                        <a:pt x="9802" y="8592"/>
                      </a:cubicBezTo>
                      <a:cubicBezTo>
                        <a:pt x="9758" y="8522"/>
                        <a:pt x="9641" y="8525"/>
                        <a:pt x="9600" y="8596"/>
                      </a:cubicBezTo>
                      <a:lnTo>
                        <a:pt x="9556" y="8542"/>
                      </a:lnTo>
                      <a:lnTo>
                        <a:pt x="9517" y="8371"/>
                      </a:lnTo>
                      <a:lnTo>
                        <a:pt x="9605" y="8389"/>
                      </a:lnTo>
                      <a:lnTo>
                        <a:pt x="9728" y="8348"/>
                      </a:lnTo>
                      <a:cubicBezTo>
                        <a:pt x="9730" y="8326"/>
                        <a:pt x="9730" y="8304"/>
                        <a:pt x="9728" y="8282"/>
                      </a:cubicBezTo>
                      <a:cubicBezTo>
                        <a:pt x="9726" y="8251"/>
                        <a:pt x="9721" y="8219"/>
                        <a:pt x="9712" y="8189"/>
                      </a:cubicBezTo>
                      <a:cubicBezTo>
                        <a:pt x="9684" y="8165"/>
                        <a:pt x="9656" y="8141"/>
                        <a:pt x="9629" y="8117"/>
                      </a:cubicBezTo>
                      <a:cubicBezTo>
                        <a:pt x="9593" y="8085"/>
                        <a:pt x="9557" y="8052"/>
                        <a:pt x="9523" y="8018"/>
                      </a:cubicBezTo>
                      <a:lnTo>
                        <a:pt x="9370" y="7929"/>
                      </a:lnTo>
                      <a:lnTo>
                        <a:pt x="9363" y="7811"/>
                      </a:lnTo>
                      <a:lnTo>
                        <a:pt x="9294" y="7746"/>
                      </a:lnTo>
                      <a:lnTo>
                        <a:pt x="9199" y="7764"/>
                      </a:lnTo>
                      <a:lnTo>
                        <a:pt x="9211" y="7623"/>
                      </a:lnTo>
                      <a:cubicBezTo>
                        <a:pt x="9244" y="7625"/>
                        <a:pt x="9277" y="7621"/>
                        <a:pt x="9308" y="7613"/>
                      </a:cubicBezTo>
                      <a:cubicBezTo>
                        <a:pt x="9352" y="7600"/>
                        <a:pt x="9391" y="7578"/>
                        <a:pt x="9421" y="7548"/>
                      </a:cubicBezTo>
                      <a:cubicBezTo>
                        <a:pt x="9473" y="7506"/>
                        <a:pt x="9555" y="7515"/>
                        <a:pt x="9593" y="7566"/>
                      </a:cubicBezTo>
                      <a:cubicBezTo>
                        <a:pt x="9630" y="7615"/>
                        <a:pt x="9607" y="7681"/>
                        <a:pt x="9545" y="7705"/>
                      </a:cubicBezTo>
                      <a:lnTo>
                        <a:pt x="9577" y="7828"/>
                      </a:lnTo>
                      <a:lnTo>
                        <a:pt x="9658" y="7943"/>
                      </a:lnTo>
                      <a:lnTo>
                        <a:pt x="9718" y="8047"/>
                      </a:lnTo>
                      <a:lnTo>
                        <a:pt x="9790" y="8216"/>
                      </a:lnTo>
                      <a:lnTo>
                        <a:pt x="9808" y="8277"/>
                      </a:lnTo>
                      <a:lnTo>
                        <a:pt x="9903" y="8307"/>
                      </a:lnTo>
                      <a:lnTo>
                        <a:pt x="9999" y="8418"/>
                      </a:lnTo>
                      <a:lnTo>
                        <a:pt x="10017" y="8518"/>
                      </a:lnTo>
                      <a:lnTo>
                        <a:pt x="9953" y="8571"/>
                      </a:lnTo>
                      <a:lnTo>
                        <a:pt x="9980" y="8648"/>
                      </a:lnTo>
                      <a:lnTo>
                        <a:pt x="10080" y="8603"/>
                      </a:lnTo>
                      <a:lnTo>
                        <a:pt x="10080" y="8479"/>
                      </a:lnTo>
                      <a:lnTo>
                        <a:pt x="10168" y="8474"/>
                      </a:lnTo>
                      <a:lnTo>
                        <a:pt x="10161" y="8355"/>
                      </a:lnTo>
                      <a:lnTo>
                        <a:pt x="10272" y="8307"/>
                      </a:lnTo>
                      <a:lnTo>
                        <a:pt x="10362" y="8361"/>
                      </a:lnTo>
                      <a:lnTo>
                        <a:pt x="10409" y="8421"/>
                      </a:lnTo>
                      <a:lnTo>
                        <a:pt x="10530" y="8420"/>
                      </a:lnTo>
                      <a:lnTo>
                        <a:pt x="10578" y="8372"/>
                      </a:lnTo>
                      <a:lnTo>
                        <a:pt x="10643" y="8320"/>
                      </a:lnTo>
                      <a:lnTo>
                        <a:pt x="10752" y="8266"/>
                      </a:lnTo>
                      <a:lnTo>
                        <a:pt x="10856" y="8290"/>
                      </a:lnTo>
                      <a:lnTo>
                        <a:pt x="10965" y="8361"/>
                      </a:lnTo>
                      <a:lnTo>
                        <a:pt x="11181" y="8368"/>
                      </a:lnTo>
                      <a:lnTo>
                        <a:pt x="11236" y="8290"/>
                      </a:lnTo>
                      <a:cubicBezTo>
                        <a:pt x="11264" y="8253"/>
                        <a:pt x="11302" y="8223"/>
                        <a:pt x="11347" y="8201"/>
                      </a:cubicBezTo>
                      <a:cubicBezTo>
                        <a:pt x="11422" y="8166"/>
                        <a:pt x="11510" y="8157"/>
                        <a:pt x="11591" y="8177"/>
                      </a:cubicBezTo>
                      <a:cubicBezTo>
                        <a:pt x="11622" y="8188"/>
                        <a:pt x="11645" y="8210"/>
                        <a:pt x="11654" y="8237"/>
                      </a:cubicBezTo>
                      <a:cubicBezTo>
                        <a:pt x="11678" y="8305"/>
                        <a:pt x="11615" y="8365"/>
                        <a:pt x="11587" y="8430"/>
                      </a:cubicBezTo>
                      <a:cubicBezTo>
                        <a:pt x="11561" y="8490"/>
                        <a:pt x="11566" y="8555"/>
                        <a:pt x="11561" y="8619"/>
                      </a:cubicBezTo>
                      <a:cubicBezTo>
                        <a:pt x="11558" y="8669"/>
                        <a:pt x="11547" y="8719"/>
                        <a:pt x="11531" y="8768"/>
                      </a:cubicBezTo>
                      <a:cubicBezTo>
                        <a:pt x="11539" y="8811"/>
                        <a:pt x="11544" y="8854"/>
                        <a:pt x="11545" y="8897"/>
                      </a:cubicBezTo>
                      <a:cubicBezTo>
                        <a:pt x="11546" y="8941"/>
                        <a:pt x="11544" y="8984"/>
                        <a:pt x="11538" y="9027"/>
                      </a:cubicBezTo>
                      <a:lnTo>
                        <a:pt x="11494" y="9148"/>
                      </a:lnTo>
                      <a:cubicBezTo>
                        <a:pt x="11479" y="9174"/>
                        <a:pt x="11459" y="9197"/>
                        <a:pt x="11434" y="9217"/>
                      </a:cubicBezTo>
                      <a:cubicBezTo>
                        <a:pt x="11399" y="9246"/>
                        <a:pt x="11357" y="9266"/>
                        <a:pt x="11311" y="9277"/>
                      </a:cubicBezTo>
                      <a:cubicBezTo>
                        <a:pt x="11269" y="9279"/>
                        <a:pt x="11227" y="9279"/>
                        <a:pt x="11185" y="9277"/>
                      </a:cubicBezTo>
                      <a:cubicBezTo>
                        <a:pt x="11141" y="9275"/>
                        <a:pt x="11097" y="9271"/>
                        <a:pt x="11053" y="9265"/>
                      </a:cubicBezTo>
                      <a:lnTo>
                        <a:pt x="10926" y="9271"/>
                      </a:lnTo>
                      <a:lnTo>
                        <a:pt x="10687" y="9309"/>
                      </a:lnTo>
                      <a:lnTo>
                        <a:pt x="10621" y="9380"/>
                      </a:lnTo>
                      <a:lnTo>
                        <a:pt x="10437" y="9414"/>
                      </a:lnTo>
                      <a:lnTo>
                        <a:pt x="10300" y="9420"/>
                      </a:lnTo>
                      <a:lnTo>
                        <a:pt x="10112" y="9354"/>
                      </a:lnTo>
                      <a:lnTo>
                        <a:pt x="9997" y="9324"/>
                      </a:lnTo>
                      <a:lnTo>
                        <a:pt x="9811" y="9263"/>
                      </a:lnTo>
                      <a:lnTo>
                        <a:pt x="9562" y="9263"/>
                      </a:lnTo>
                      <a:lnTo>
                        <a:pt x="9360" y="9251"/>
                      </a:lnTo>
                      <a:lnTo>
                        <a:pt x="9244" y="9169"/>
                      </a:lnTo>
                      <a:lnTo>
                        <a:pt x="9108" y="9128"/>
                      </a:lnTo>
                      <a:lnTo>
                        <a:pt x="8892" y="9134"/>
                      </a:lnTo>
                      <a:cubicBezTo>
                        <a:pt x="8877" y="9154"/>
                        <a:pt x="8861" y="9173"/>
                        <a:pt x="8843" y="9191"/>
                      </a:cubicBezTo>
                      <a:cubicBezTo>
                        <a:pt x="8802" y="9233"/>
                        <a:pt x="8752" y="9269"/>
                        <a:pt x="8725" y="9319"/>
                      </a:cubicBezTo>
                      <a:cubicBezTo>
                        <a:pt x="8704" y="9356"/>
                        <a:pt x="8698" y="9398"/>
                        <a:pt x="8676" y="9434"/>
                      </a:cubicBezTo>
                      <a:cubicBezTo>
                        <a:pt x="8653" y="9472"/>
                        <a:pt x="8615" y="9502"/>
                        <a:pt x="8569" y="9518"/>
                      </a:cubicBezTo>
                      <a:cubicBezTo>
                        <a:pt x="8531" y="9533"/>
                        <a:pt x="8490" y="9545"/>
                        <a:pt x="8449" y="9551"/>
                      </a:cubicBezTo>
                      <a:cubicBezTo>
                        <a:pt x="8390" y="9561"/>
                        <a:pt x="8331" y="9561"/>
                        <a:pt x="8272" y="9551"/>
                      </a:cubicBezTo>
                      <a:lnTo>
                        <a:pt x="8140" y="9498"/>
                      </a:lnTo>
                      <a:lnTo>
                        <a:pt x="8029" y="9450"/>
                      </a:lnTo>
                      <a:cubicBezTo>
                        <a:pt x="7975" y="9422"/>
                        <a:pt x="7919" y="9397"/>
                        <a:pt x="7862" y="9374"/>
                      </a:cubicBezTo>
                      <a:cubicBezTo>
                        <a:pt x="7799" y="9349"/>
                        <a:pt x="7734" y="9327"/>
                        <a:pt x="7672" y="9301"/>
                      </a:cubicBezTo>
                      <a:cubicBezTo>
                        <a:pt x="7621" y="9280"/>
                        <a:pt x="7571" y="9257"/>
                        <a:pt x="7523" y="9231"/>
                      </a:cubicBezTo>
                      <a:lnTo>
                        <a:pt x="7310" y="9178"/>
                      </a:lnTo>
                      <a:lnTo>
                        <a:pt x="7080" y="9172"/>
                      </a:lnTo>
                      <a:lnTo>
                        <a:pt x="6883" y="9066"/>
                      </a:lnTo>
                      <a:lnTo>
                        <a:pt x="6783" y="8975"/>
                      </a:lnTo>
                      <a:lnTo>
                        <a:pt x="6688" y="8886"/>
                      </a:lnTo>
                      <a:lnTo>
                        <a:pt x="6542" y="8904"/>
                      </a:lnTo>
                      <a:lnTo>
                        <a:pt x="6584" y="8826"/>
                      </a:lnTo>
                      <a:lnTo>
                        <a:pt x="6743" y="8789"/>
                      </a:lnTo>
                      <a:lnTo>
                        <a:pt x="6771" y="8660"/>
                      </a:lnTo>
                      <a:lnTo>
                        <a:pt x="6668" y="8527"/>
                      </a:lnTo>
                      <a:lnTo>
                        <a:pt x="6675" y="8463"/>
                      </a:lnTo>
                      <a:lnTo>
                        <a:pt x="6768" y="8342"/>
                      </a:lnTo>
                      <a:lnTo>
                        <a:pt x="6788" y="8231"/>
                      </a:lnTo>
                      <a:lnTo>
                        <a:pt x="6680" y="8231"/>
                      </a:lnTo>
                      <a:lnTo>
                        <a:pt x="6594" y="8196"/>
                      </a:lnTo>
                      <a:lnTo>
                        <a:pt x="6481" y="8150"/>
                      </a:lnTo>
                      <a:cubicBezTo>
                        <a:pt x="6412" y="8162"/>
                        <a:pt x="6343" y="8172"/>
                        <a:pt x="6274" y="8180"/>
                      </a:cubicBezTo>
                      <a:cubicBezTo>
                        <a:pt x="6150" y="8194"/>
                        <a:pt x="6025" y="8201"/>
                        <a:pt x="5900" y="8202"/>
                      </a:cubicBezTo>
                      <a:cubicBezTo>
                        <a:pt x="5805" y="8232"/>
                        <a:pt x="5704" y="8248"/>
                        <a:pt x="5603" y="8248"/>
                      </a:cubicBezTo>
                      <a:cubicBezTo>
                        <a:pt x="5489" y="8249"/>
                        <a:pt x="5376" y="8231"/>
                        <a:pt x="5270" y="8196"/>
                      </a:cubicBezTo>
                      <a:lnTo>
                        <a:pt x="5193" y="8196"/>
                      </a:lnTo>
                      <a:lnTo>
                        <a:pt x="5146" y="8242"/>
                      </a:lnTo>
                      <a:lnTo>
                        <a:pt x="5079" y="8260"/>
                      </a:lnTo>
                      <a:lnTo>
                        <a:pt x="4991" y="8252"/>
                      </a:lnTo>
                      <a:lnTo>
                        <a:pt x="4864" y="8240"/>
                      </a:lnTo>
                      <a:lnTo>
                        <a:pt x="4787" y="8246"/>
                      </a:lnTo>
                      <a:lnTo>
                        <a:pt x="4657" y="8281"/>
                      </a:lnTo>
                      <a:cubicBezTo>
                        <a:pt x="4570" y="8294"/>
                        <a:pt x="4482" y="8306"/>
                        <a:pt x="4395" y="8317"/>
                      </a:cubicBezTo>
                      <a:cubicBezTo>
                        <a:pt x="4323" y="8326"/>
                        <a:pt x="4251" y="8334"/>
                        <a:pt x="4179" y="8341"/>
                      </a:cubicBezTo>
                      <a:lnTo>
                        <a:pt x="3952" y="8347"/>
                      </a:lnTo>
                      <a:lnTo>
                        <a:pt x="3820" y="8347"/>
                      </a:lnTo>
                      <a:cubicBezTo>
                        <a:pt x="3784" y="8349"/>
                        <a:pt x="3748" y="8351"/>
                        <a:pt x="3713" y="8353"/>
                      </a:cubicBezTo>
                      <a:cubicBezTo>
                        <a:pt x="3654" y="8356"/>
                        <a:pt x="3595" y="8358"/>
                        <a:pt x="3536" y="8359"/>
                      </a:cubicBezTo>
                      <a:lnTo>
                        <a:pt x="3437" y="8315"/>
                      </a:lnTo>
                      <a:lnTo>
                        <a:pt x="3340" y="8305"/>
                      </a:lnTo>
                      <a:lnTo>
                        <a:pt x="3278" y="8335"/>
                      </a:lnTo>
                      <a:lnTo>
                        <a:pt x="3238" y="8407"/>
                      </a:lnTo>
                      <a:lnTo>
                        <a:pt x="3141" y="8472"/>
                      </a:lnTo>
                      <a:lnTo>
                        <a:pt x="3004" y="8506"/>
                      </a:lnTo>
                      <a:lnTo>
                        <a:pt x="2927" y="8536"/>
                      </a:lnTo>
                      <a:cubicBezTo>
                        <a:pt x="2874" y="8552"/>
                        <a:pt x="2823" y="8573"/>
                        <a:pt x="2774" y="8597"/>
                      </a:cubicBezTo>
                      <a:cubicBezTo>
                        <a:pt x="2733" y="8618"/>
                        <a:pt x="2694" y="8641"/>
                        <a:pt x="2657" y="8667"/>
                      </a:cubicBezTo>
                      <a:lnTo>
                        <a:pt x="2544" y="8743"/>
                      </a:lnTo>
                      <a:lnTo>
                        <a:pt x="2433" y="8802"/>
                      </a:lnTo>
                      <a:lnTo>
                        <a:pt x="2405" y="8893"/>
                      </a:lnTo>
                      <a:lnTo>
                        <a:pt x="2385" y="8969"/>
                      </a:lnTo>
                      <a:lnTo>
                        <a:pt x="2357" y="9078"/>
                      </a:lnTo>
                      <a:lnTo>
                        <a:pt x="2344" y="9136"/>
                      </a:lnTo>
                      <a:lnTo>
                        <a:pt x="2316" y="9215"/>
                      </a:lnTo>
                      <a:lnTo>
                        <a:pt x="2250" y="9333"/>
                      </a:lnTo>
                      <a:lnTo>
                        <a:pt x="2132" y="9386"/>
                      </a:lnTo>
                      <a:lnTo>
                        <a:pt x="2070" y="9446"/>
                      </a:lnTo>
                      <a:lnTo>
                        <a:pt x="1927" y="9485"/>
                      </a:lnTo>
                      <a:cubicBezTo>
                        <a:pt x="1902" y="9497"/>
                        <a:pt x="1875" y="9507"/>
                        <a:pt x="1848" y="9515"/>
                      </a:cubicBezTo>
                      <a:cubicBezTo>
                        <a:pt x="1778" y="9536"/>
                        <a:pt x="1706" y="9547"/>
                        <a:pt x="1632" y="9549"/>
                      </a:cubicBezTo>
                      <a:cubicBezTo>
                        <a:pt x="1601" y="9560"/>
                        <a:pt x="1573" y="9576"/>
                        <a:pt x="1550" y="9596"/>
                      </a:cubicBezTo>
                      <a:cubicBezTo>
                        <a:pt x="1510" y="9631"/>
                        <a:pt x="1486" y="9676"/>
                        <a:pt x="1480" y="9724"/>
                      </a:cubicBezTo>
                      <a:lnTo>
                        <a:pt x="1397" y="9805"/>
                      </a:lnTo>
                      <a:cubicBezTo>
                        <a:pt x="1377" y="9829"/>
                        <a:pt x="1353" y="9851"/>
                        <a:pt x="1327" y="9871"/>
                      </a:cubicBezTo>
                      <a:cubicBezTo>
                        <a:pt x="1287" y="9901"/>
                        <a:pt x="1241" y="9925"/>
                        <a:pt x="1201" y="9956"/>
                      </a:cubicBezTo>
                      <a:cubicBezTo>
                        <a:pt x="1138" y="10007"/>
                        <a:pt x="1094" y="10072"/>
                        <a:pt x="1040" y="10130"/>
                      </a:cubicBezTo>
                      <a:cubicBezTo>
                        <a:pt x="1009" y="10164"/>
                        <a:pt x="973" y="10195"/>
                        <a:pt x="935" y="10223"/>
                      </a:cubicBezTo>
                      <a:lnTo>
                        <a:pt x="753" y="10376"/>
                      </a:lnTo>
                      <a:lnTo>
                        <a:pt x="648" y="10441"/>
                      </a:lnTo>
                      <a:lnTo>
                        <a:pt x="578" y="10530"/>
                      </a:lnTo>
                      <a:lnTo>
                        <a:pt x="458" y="10707"/>
                      </a:lnTo>
                      <a:lnTo>
                        <a:pt x="382" y="10802"/>
                      </a:lnTo>
                      <a:lnTo>
                        <a:pt x="333" y="10927"/>
                      </a:lnTo>
                      <a:lnTo>
                        <a:pt x="410" y="10995"/>
                      </a:lnTo>
                      <a:lnTo>
                        <a:pt x="473" y="11120"/>
                      </a:lnTo>
                      <a:lnTo>
                        <a:pt x="480" y="11270"/>
                      </a:lnTo>
                      <a:lnTo>
                        <a:pt x="466" y="11419"/>
                      </a:lnTo>
                      <a:lnTo>
                        <a:pt x="396" y="11530"/>
                      </a:lnTo>
                      <a:lnTo>
                        <a:pt x="349" y="11709"/>
                      </a:lnTo>
                      <a:lnTo>
                        <a:pt x="308" y="11811"/>
                      </a:lnTo>
                      <a:lnTo>
                        <a:pt x="254" y="11891"/>
                      </a:lnTo>
                      <a:cubicBezTo>
                        <a:pt x="227" y="11921"/>
                        <a:pt x="198" y="11951"/>
                        <a:pt x="168" y="11980"/>
                      </a:cubicBezTo>
                      <a:cubicBezTo>
                        <a:pt x="116" y="12030"/>
                        <a:pt x="60" y="12078"/>
                        <a:pt x="0" y="12123"/>
                      </a:cubicBezTo>
                      <a:lnTo>
                        <a:pt x="0" y="12208"/>
                      </a:lnTo>
                      <a:lnTo>
                        <a:pt x="124" y="12302"/>
                      </a:lnTo>
                      <a:lnTo>
                        <a:pt x="173" y="12529"/>
                      </a:lnTo>
                      <a:lnTo>
                        <a:pt x="201" y="12674"/>
                      </a:lnTo>
                      <a:lnTo>
                        <a:pt x="233" y="12738"/>
                      </a:lnTo>
                      <a:lnTo>
                        <a:pt x="280" y="12867"/>
                      </a:lnTo>
                      <a:lnTo>
                        <a:pt x="319" y="12955"/>
                      </a:lnTo>
                      <a:lnTo>
                        <a:pt x="375" y="13042"/>
                      </a:lnTo>
                      <a:lnTo>
                        <a:pt x="416" y="13209"/>
                      </a:lnTo>
                      <a:lnTo>
                        <a:pt x="483" y="13312"/>
                      </a:lnTo>
                      <a:lnTo>
                        <a:pt x="553" y="13407"/>
                      </a:lnTo>
                      <a:lnTo>
                        <a:pt x="685" y="13467"/>
                      </a:lnTo>
                      <a:lnTo>
                        <a:pt x="697" y="13560"/>
                      </a:lnTo>
                      <a:lnTo>
                        <a:pt x="683" y="13628"/>
                      </a:lnTo>
                      <a:lnTo>
                        <a:pt x="708" y="13697"/>
                      </a:lnTo>
                      <a:lnTo>
                        <a:pt x="755" y="13827"/>
                      </a:lnTo>
                      <a:lnTo>
                        <a:pt x="775" y="13921"/>
                      </a:lnTo>
                      <a:lnTo>
                        <a:pt x="887" y="13973"/>
                      </a:lnTo>
                      <a:lnTo>
                        <a:pt x="1070" y="14168"/>
                      </a:lnTo>
                      <a:lnTo>
                        <a:pt x="1119" y="14322"/>
                      </a:lnTo>
                      <a:lnTo>
                        <a:pt x="1210" y="14412"/>
                      </a:lnTo>
                      <a:lnTo>
                        <a:pt x="1326" y="14511"/>
                      </a:lnTo>
                      <a:lnTo>
                        <a:pt x="1500" y="14637"/>
                      </a:lnTo>
                      <a:lnTo>
                        <a:pt x="1661" y="14726"/>
                      </a:lnTo>
                      <a:lnTo>
                        <a:pt x="1870" y="14780"/>
                      </a:lnTo>
                      <a:lnTo>
                        <a:pt x="2000" y="14762"/>
                      </a:lnTo>
                      <a:lnTo>
                        <a:pt x="2176" y="14726"/>
                      </a:lnTo>
                      <a:lnTo>
                        <a:pt x="2450" y="14693"/>
                      </a:lnTo>
                      <a:cubicBezTo>
                        <a:pt x="2546" y="14679"/>
                        <a:pt x="2643" y="14683"/>
                        <a:pt x="2736" y="14704"/>
                      </a:cubicBezTo>
                      <a:cubicBezTo>
                        <a:pt x="2826" y="14725"/>
                        <a:pt x="2910" y="14762"/>
                        <a:pt x="2982" y="14811"/>
                      </a:cubicBezTo>
                      <a:lnTo>
                        <a:pt x="3156" y="14815"/>
                      </a:lnTo>
                      <a:lnTo>
                        <a:pt x="3344" y="14815"/>
                      </a:lnTo>
                      <a:lnTo>
                        <a:pt x="3553" y="14779"/>
                      </a:lnTo>
                      <a:lnTo>
                        <a:pt x="3802" y="14726"/>
                      </a:lnTo>
                      <a:lnTo>
                        <a:pt x="3976" y="14680"/>
                      </a:lnTo>
                      <a:cubicBezTo>
                        <a:pt x="4042" y="14682"/>
                        <a:pt x="4109" y="14679"/>
                        <a:pt x="4175" y="14670"/>
                      </a:cubicBezTo>
                      <a:cubicBezTo>
                        <a:pt x="4231" y="14663"/>
                        <a:pt x="4287" y="14651"/>
                        <a:pt x="4340" y="14636"/>
                      </a:cubicBezTo>
                      <a:cubicBezTo>
                        <a:pt x="4389" y="14640"/>
                        <a:pt x="4438" y="14640"/>
                        <a:pt x="4486" y="14636"/>
                      </a:cubicBezTo>
                      <a:cubicBezTo>
                        <a:pt x="4525" y="14633"/>
                        <a:pt x="4565" y="14627"/>
                        <a:pt x="4603" y="14636"/>
                      </a:cubicBezTo>
                      <a:cubicBezTo>
                        <a:pt x="4642" y="14646"/>
                        <a:pt x="4675" y="14670"/>
                        <a:pt x="4691" y="14702"/>
                      </a:cubicBezTo>
                      <a:lnTo>
                        <a:pt x="4886" y="14776"/>
                      </a:lnTo>
                      <a:lnTo>
                        <a:pt x="4944" y="14899"/>
                      </a:lnTo>
                      <a:lnTo>
                        <a:pt x="5006" y="14964"/>
                      </a:lnTo>
                      <a:lnTo>
                        <a:pt x="5089" y="15071"/>
                      </a:lnTo>
                      <a:lnTo>
                        <a:pt x="5286" y="15130"/>
                      </a:lnTo>
                      <a:lnTo>
                        <a:pt x="5532" y="15138"/>
                      </a:lnTo>
                      <a:lnTo>
                        <a:pt x="5669" y="15099"/>
                      </a:lnTo>
                      <a:lnTo>
                        <a:pt x="5810" y="15111"/>
                      </a:lnTo>
                      <a:lnTo>
                        <a:pt x="5952" y="15169"/>
                      </a:lnTo>
                      <a:lnTo>
                        <a:pt x="6087" y="15248"/>
                      </a:lnTo>
                      <a:lnTo>
                        <a:pt x="6098" y="15379"/>
                      </a:lnTo>
                      <a:lnTo>
                        <a:pt x="6070" y="15469"/>
                      </a:lnTo>
                      <a:lnTo>
                        <a:pt x="6063" y="15574"/>
                      </a:lnTo>
                      <a:lnTo>
                        <a:pt x="6042" y="15695"/>
                      </a:lnTo>
                      <a:lnTo>
                        <a:pt x="5973" y="15778"/>
                      </a:lnTo>
                      <a:lnTo>
                        <a:pt x="6024" y="15907"/>
                      </a:lnTo>
                      <a:lnTo>
                        <a:pt x="6038" y="16048"/>
                      </a:lnTo>
                      <a:lnTo>
                        <a:pt x="5948" y="16122"/>
                      </a:lnTo>
                      <a:lnTo>
                        <a:pt x="5892" y="16211"/>
                      </a:lnTo>
                      <a:lnTo>
                        <a:pt x="5927" y="16344"/>
                      </a:lnTo>
                      <a:lnTo>
                        <a:pt x="6121" y="16481"/>
                      </a:lnTo>
                      <a:lnTo>
                        <a:pt x="6209" y="16630"/>
                      </a:lnTo>
                      <a:lnTo>
                        <a:pt x="6307" y="16725"/>
                      </a:lnTo>
                      <a:lnTo>
                        <a:pt x="6421" y="16792"/>
                      </a:lnTo>
                      <a:lnTo>
                        <a:pt x="6520" y="16894"/>
                      </a:lnTo>
                      <a:cubicBezTo>
                        <a:pt x="6552" y="16929"/>
                        <a:pt x="6583" y="16964"/>
                        <a:pt x="6613" y="17001"/>
                      </a:cubicBezTo>
                      <a:cubicBezTo>
                        <a:pt x="6645" y="17040"/>
                        <a:pt x="6676" y="17080"/>
                        <a:pt x="6706" y="17120"/>
                      </a:cubicBezTo>
                      <a:cubicBezTo>
                        <a:pt x="6719" y="17160"/>
                        <a:pt x="6732" y="17200"/>
                        <a:pt x="6745" y="17239"/>
                      </a:cubicBezTo>
                      <a:cubicBezTo>
                        <a:pt x="6759" y="17282"/>
                        <a:pt x="6772" y="17324"/>
                        <a:pt x="6785" y="17367"/>
                      </a:cubicBezTo>
                      <a:lnTo>
                        <a:pt x="6861" y="17424"/>
                      </a:lnTo>
                      <a:lnTo>
                        <a:pt x="6914" y="17495"/>
                      </a:lnTo>
                      <a:lnTo>
                        <a:pt x="7019" y="17610"/>
                      </a:lnTo>
                      <a:lnTo>
                        <a:pt x="7103" y="17709"/>
                      </a:lnTo>
                      <a:lnTo>
                        <a:pt x="7020" y="17803"/>
                      </a:lnTo>
                      <a:lnTo>
                        <a:pt x="7055" y="17912"/>
                      </a:lnTo>
                      <a:lnTo>
                        <a:pt x="7159" y="18034"/>
                      </a:lnTo>
                      <a:lnTo>
                        <a:pt x="7180" y="18109"/>
                      </a:lnTo>
                      <a:lnTo>
                        <a:pt x="7215" y="18264"/>
                      </a:lnTo>
                      <a:lnTo>
                        <a:pt x="7187" y="18379"/>
                      </a:lnTo>
                      <a:lnTo>
                        <a:pt x="7110" y="18491"/>
                      </a:lnTo>
                      <a:lnTo>
                        <a:pt x="7053" y="18566"/>
                      </a:lnTo>
                      <a:lnTo>
                        <a:pt x="6958" y="18645"/>
                      </a:lnTo>
                      <a:lnTo>
                        <a:pt x="6904" y="18724"/>
                      </a:lnTo>
                      <a:lnTo>
                        <a:pt x="6863" y="18828"/>
                      </a:lnTo>
                      <a:lnTo>
                        <a:pt x="6856" y="18937"/>
                      </a:lnTo>
                      <a:lnTo>
                        <a:pt x="6835" y="19059"/>
                      </a:lnTo>
                      <a:lnTo>
                        <a:pt x="6796" y="19226"/>
                      </a:lnTo>
                      <a:lnTo>
                        <a:pt x="6810" y="19304"/>
                      </a:lnTo>
                      <a:lnTo>
                        <a:pt x="6865" y="19391"/>
                      </a:lnTo>
                      <a:lnTo>
                        <a:pt x="6879" y="19461"/>
                      </a:lnTo>
                      <a:lnTo>
                        <a:pt x="6956" y="19564"/>
                      </a:lnTo>
                      <a:lnTo>
                        <a:pt x="7053" y="19660"/>
                      </a:lnTo>
                      <a:lnTo>
                        <a:pt x="7135" y="19773"/>
                      </a:lnTo>
                      <a:lnTo>
                        <a:pt x="7218" y="19827"/>
                      </a:lnTo>
                      <a:lnTo>
                        <a:pt x="7309" y="19914"/>
                      </a:lnTo>
                      <a:lnTo>
                        <a:pt x="7367" y="19996"/>
                      </a:lnTo>
                      <a:lnTo>
                        <a:pt x="7427" y="20119"/>
                      </a:lnTo>
                      <a:lnTo>
                        <a:pt x="7490" y="20243"/>
                      </a:lnTo>
                      <a:lnTo>
                        <a:pt x="7529" y="20344"/>
                      </a:lnTo>
                      <a:lnTo>
                        <a:pt x="7622" y="20503"/>
                      </a:lnTo>
                      <a:lnTo>
                        <a:pt x="7691" y="20660"/>
                      </a:lnTo>
                      <a:lnTo>
                        <a:pt x="7761" y="20760"/>
                      </a:lnTo>
                      <a:lnTo>
                        <a:pt x="7831" y="20819"/>
                      </a:lnTo>
                      <a:lnTo>
                        <a:pt x="7928" y="20885"/>
                      </a:lnTo>
                      <a:cubicBezTo>
                        <a:pt x="7964" y="20903"/>
                        <a:pt x="8001" y="20920"/>
                        <a:pt x="8037" y="20938"/>
                      </a:cubicBezTo>
                      <a:cubicBezTo>
                        <a:pt x="8088" y="20963"/>
                        <a:pt x="8139" y="20988"/>
                        <a:pt x="8191" y="21012"/>
                      </a:cubicBezTo>
                      <a:lnTo>
                        <a:pt x="8295" y="21078"/>
                      </a:lnTo>
                      <a:lnTo>
                        <a:pt x="8399" y="21173"/>
                      </a:lnTo>
                      <a:lnTo>
                        <a:pt x="8411" y="21314"/>
                      </a:lnTo>
                      <a:lnTo>
                        <a:pt x="8332" y="21342"/>
                      </a:lnTo>
                      <a:lnTo>
                        <a:pt x="8328" y="21451"/>
                      </a:lnTo>
                      <a:lnTo>
                        <a:pt x="8412" y="21499"/>
                      </a:lnTo>
                      <a:lnTo>
                        <a:pt x="8560" y="21539"/>
                      </a:lnTo>
                      <a:lnTo>
                        <a:pt x="8774" y="21600"/>
                      </a:lnTo>
                      <a:lnTo>
                        <a:pt x="8862" y="21576"/>
                      </a:lnTo>
                      <a:lnTo>
                        <a:pt x="8961" y="21547"/>
                      </a:lnTo>
                      <a:lnTo>
                        <a:pt x="9243" y="21529"/>
                      </a:lnTo>
                      <a:lnTo>
                        <a:pt x="9498" y="21517"/>
                      </a:lnTo>
                      <a:lnTo>
                        <a:pt x="9692" y="21483"/>
                      </a:lnTo>
                      <a:lnTo>
                        <a:pt x="9881" y="21447"/>
                      </a:lnTo>
                      <a:lnTo>
                        <a:pt x="10078" y="21419"/>
                      </a:lnTo>
                      <a:cubicBezTo>
                        <a:pt x="10139" y="21407"/>
                        <a:pt x="10198" y="21389"/>
                        <a:pt x="10255" y="21368"/>
                      </a:cubicBezTo>
                      <a:cubicBezTo>
                        <a:pt x="10310" y="21346"/>
                        <a:pt x="10363" y="21321"/>
                        <a:pt x="10413" y="21292"/>
                      </a:cubicBezTo>
                      <a:lnTo>
                        <a:pt x="10545" y="21208"/>
                      </a:lnTo>
                      <a:lnTo>
                        <a:pt x="10773" y="21131"/>
                      </a:lnTo>
                      <a:lnTo>
                        <a:pt x="10928" y="21033"/>
                      </a:lnTo>
                      <a:lnTo>
                        <a:pt x="11037" y="20942"/>
                      </a:lnTo>
                      <a:lnTo>
                        <a:pt x="11127" y="20799"/>
                      </a:lnTo>
                      <a:lnTo>
                        <a:pt x="11259" y="20775"/>
                      </a:lnTo>
                      <a:lnTo>
                        <a:pt x="11371" y="20680"/>
                      </a:lnTo>
                      <a:lnTo>
                        <a:pt x="11426" y="20596"/>
                      </a:lnTo>
                      <a:lnTo>
                        <a:pt x="11538" y="20483"/>
                      </a:lnTo>
                      <a:lnTo>
                        <a:pt x="11538" y="20378"/>
                      </a:lnTo>
                      <a:lnTo>
                        <a:pt x="11540" y="20300"/>
                      </a:lnTo>
                      <a:lnTo>
                        <a:pt x="11630" y="20265"/>
                      </a:lnTo>
                      <a:lnTo>
                        <a:pt x="11965" y="20190"/>
                      </a:lnTo>
                      <a:lnTo>
                        <a:pt x="12132" y="20102"/>
                      </a:lnTo>
                      <a:lnTo>
                        <a:pt x="12222" y="19905"/>
                      </a:lnTo>
                      <a:lnTo>
                        <a:pt x="12208" y="19724"/>
                      </a:lnTo>
                      <a:lnTo>
                        <a:pt x="12064" y="19533"/>
                      </a:lnTo>
                      <a:lnTo>
                        <a:pt x="12222" y="19388"/>
                      </a:lnTo>
                      <a:cubicBezTo>
                        <a:pt x="12277" y="19340"/>
                        <a:pt x="12336" y="19297"/>
                        <a:pt x="12399" y="19258"/>
                      </a:cubicBezTo>
                      <a:cubicBezTo>
                        <a:pt x="12502" y="19195"/>
                        <a:pt x="12616" y="19146"/>
                        <a:pt x="12736" y="19111"/>
                      </a:cubicBezTo>
                      <a:lnTo>
                        <a:pt x="12833" y="19025"/>
                      </a:lnTo>
                      <a:lnTo>
                        <a:pt x="13049" y="18896"/>
                      </a:lnTo>
                      <a:lnTo>
                        <a:pt x="13133" y="18843"/>
                      </a:lnTo>
                      <a:cubicBezTo>
                        <a:pt x="13215" y="18829"/>
                        <a:pt x="13288" y="18789"/>
                        <a:pt x="13337" y="18731"/>
                      </a:cubicBezTo>
                      <a:cubicBezTo>
                        <a:pt x="13391" y="18668"/>
                        <a:pt x="13412" y="18589"/>
                        <a:pt x="13395" y="18513"/>
                      </a:cubicBezTo>
                      <a:cubicBezTo>
                        <a:pt x="13389" y="18441"/>
                        <a:pt x="13395" y="18368"/>
                        <a:pt x="13414" y="18298"/>
                      </a:cubicBezTo>
                      <a:cubicBezTo>
                        <a:pt x="13434" y="18225"/>
                        <a:pt x="13466" y="18155"/>
                        <a:pt x="13490" y="18083"/>
                      </a:cubicBezTo>
                      <a:cubicBezTo>
                        <a:pt x="13516" y="18007"/>
                        <a:pt x="13531" y="17928"/>
                        <a:pt x="13544" y="17849"/>
                      </a:cubicBezTo>
                      <a:cubicBezTo>
                        <a:pt x="13552" y="17798"/>
                        <a:pt x="13559" y="17748"/>
                        <a:pt x="13564" y="17697"/>
                      </a:cubicBezTo>
                      <a:lnTo>
                        <a:pt x="13484" y="17640"/>
                      </a:lnTo>
                      <a:lnTo>
                        <a:pt x="13410" y="17599"/>
                      </a:lnTo>
                      <a:lnTo>
                        <a:pt x="13365" y="17438"/>
                      </a:lnTo>
                      <a:lnTo>
                        <a:pt x="13332" y="17341"/>
                      </a:lnTo>
                      <a:lnTo>
                        <a:pt x="13444" y="17289"/>
                      </a:lnTo>
                      <a:cubicBezTo>
                        <a:pt x="13492" y="17270"/>
                        <a:pt x="13494" y="17212"/>
                        <a:pt x="13449" y="17190"/>
                      </a:cubicBezTo>
                      <a:cubicBezTo>
                        <a:pt x="13413" y="17172"/>
                        <a:pt x="13369" y="17192"/>
                        <a:pt x="13330" y="17184"/>
                      </a:cubicBezTo>
                      <a:cubicBezTo>
                        <a:pt x="13251" y="17167"/>
                        <a:pt x="13235" y="17077"/>
                        <a:pt x="13305" y="17040"/>
                      </a:cubicBezTo>
                      <a:lnTo>
                        <a:pt x="13377" y="16965"/>
                      </a:lnTo>
                      <a:lnTo>
                        <a:pt x="13404" y="16860"/>
                      </a:lnTo>
                      <a:lnTo>
                        <a:pt x="13323" y="16836"/>
                      </a:lnTo>
                      <a:lnTo>
                        <a:pt x="13307" y="16707"/>
                      </a:lnTo>
                      <a:lnTo>
                        <a:pt x="13395" y="16562"/>
                      </a:lnTo>
                      <a:cubicBezTo>
                        <a:pt x="13439" y="16525"/>
                        <a:pt x="13477" y="16485"/>
                        <a:pt x="13511" y="16441"/>
                      </a:cubicBezTo>
                      <a:cubicBezTo>
                        <a:pt x="13539" y="16405"/>
                        <a:pt x="13563" y="16367"/>
                        <a:pt x="13583" y="16327"/>
                      </a:cubicBezTo>
                      <a:lnTo>
                        <a:pt x="13647" y="16228"/>
                      </a:lnTo>
                      <a:lnTo>
                        <a:pt x="13754" y="16125"/>
                      </a:lnTo>
                      <a:lnTo>
                        <a:pt x="13863" y="16006"/>
                      </a:lnTo>
                      <a:lnTo>
                        <a:pt x="13956" y="15887"/>
                      </a:lnTo>
                      <a:lnTo>
                        <a:pt x="14083" y="15678"/>
                      </a:lnTo>
                      <a:lnTo>
                        <a:pt x="14215" y="15532"/>
                      </a:lnTo>
                      <a:lnTo>
                        <a:pt x="14331" y="15359"/>
                      </a:lnTo>
                      <a:lnTo>
                        <a:pt x="14422" y="15283"/>
                      </a:lnTo>
                      <a:lnTo>
                        <a:pt x="14547" y="15206"/>
                      </a:lnTo>
                      <a:lnTo>
                        <a:pt x="14658" y="15122"/>
                      </a:lnTo>
                      <a:lnTo>
                        <a:pt x="14749" y="15045"/>
                      </a:lnTo>
                      <a:cubicBezTo>
                        <a:pt x="14775" y="15011"/>
                        <a:pt x="14803" y="14978"/>
                        <a:pt x="14832" y="14946"/>
                      </a:cubicBezTo>
                      <a:cubicBezTo>
                        <a:pt x="14875" y="14898"/>
                        <a:pt x="14921" y="14853"/>
                        <a:pt x="14969" y="14810"/>
                      </a:cubicBezTo>
                      <a:lnTo>
                        <a:pt x="15034" y="14723"/>
                      </a:lnTo>
                      <a:lnTo>
                        <a:pt x="15111" y="14567"/>
                      </a:lnTo>
                      <a:lnTo>
                        <a:pt x="15245" y="14434"/>
                      </a:lnTo>
                      <a:lnTo>
                        <a:pt x="15334" y="14263"/>
                      </a:lnTo>
                      <a:lnTo>
                        <a:pt x="15369" y="14175"/>
                      </a:lnTo>
                      <a:lnTo>
                        <a:pt x="15399" y="13980"/>
                      </a:lnTo>
                      <a:lnTo>
                        <a:pt x="15468" y="13887"/>
                      </a:lnTo>
                      <a:lnTo>
                        <a:pt x="15512" y="13797"/>
                      </a:lnTo>
                      <a:lnTo>
                        <a:pt x="15540" y="13670"/>
                      </a:lnTo>
                      <a:lnTo>
                        <a:pt x="15603" y="13529"/>
                      </a:lnTo>
                      <a:lnTo>
                        <a:pt x="15624" y="13405"/>
                      </a:lnTo>
                      <a:lnTo>
                        <a:pt x="15644" y="13286"/>
                      </a:lnTo>
                      <a:lnTo>
                        <a:pt x="15703" y="13151"/>
                      </a:lnTo>
                      <a:lnTo>
                        <a:pt x="15782" y="13105"/>
                      </a:lnTo>
                      <a:lnTo>
                        <a:pt x="15782" y="13024"/>
                      </a:lnTo>
                      <a:lnTo>
                        <a:pt x="15719" y="12970"/>
                      </a:lnTo>
                      <a:lnTo>
                        <a:pt x="15719" y="12813"/>
                      </a:lnTo>
                      <a:lnTo>
                        <a:pt x="15642" y="12729"/>
                      </a:lnTo>
                      <a:lnTo>
                        <a:pt x="15508" y="12829"/>
                      </a:lnTo>
                      <a:lnTo>
                        <a:pt x="15376" y="12932"/>
                      </a:lnTo>
                      <a:lnTo>
                        <a:pt x="15128" y="13010"/>
                      </a:lnTo>
                      <a:lnTo>
                        <a:pt x="14926" y="13081"/>
                      </a:lnTo>
                      <a:lnTo>
                        <a:pt x="14626" y="13196"/>
                      </a:lnTo>
                      <a:lnTo>
                        <a:pt x="14417" y="13304"/>
                      </a:lnTo>
                      <a:lnTo>
                        <a:pt x="14322" y="13326"/>
                      </a:lnTo>
                      <a:lnTo>
                        <a:pt x="14218" y="13248"/>
                      </a:lnTo>
                      <a:lnTo>
                        <a:pt x="14088" y="13195"/>
                      </a:lnTo>
                      <a:cubicBezTo>
                        <a:pt x="14049" y="13191"/>
                        <a:pt x="14016" y="13167"/>
                        <a:pt x="14004" y="13135"/>
                      </a:cubicBezTo>
                      <a:cubicBezTo>
                        <a:pt x="13989" y="13092"/>
                        <a:pt x="14013" y="13046"/>
                        <a:pt x="14060" y="13028"/>
                      </a:cubicBezTo>
                      <a:lnTo>
                        <a:pt x="13953" y="12912"/>
                      </a:lnTo>
                      <a:lnTo>
                        <a:pt x="13847" y="12751"/>
                      </a:lnTo>
                      <a:lnTo>
                        <a:pt x="13722" y="12663"/>
                      </a:lnTo>
                      <a:lnTo>
                        <a:pt x="13589" y="12573"/>
                      </a:lnTo>
                      <a:lnTo>
                        <a:pt x="13452" y="12520"/>
                      </a:lnTo>
                      <a:lnTo>
                        <a:pt x="13323" y="12478"/>
                      </a:lnTo>
                      <a:lnTo>
                        <a:pt x="13177" y="12401"/>
                      </a:lnTo>
                      <a:lnTo>
                        <a:pt x="13066" y="12299"/>
                      </a:lnTo>
                      <a:cubicBezTo>
                        <a:pt x="13045" y="12248"/>
                        <a:pt x="13029" y="12197"/>
                        <a:pt x="13017" y="12144"/>
                      </a:cubicBezTo>
                      <a:cubicBezTo>
                        <a:pt x="13004" y="12083"/>
                        <a:pt x="12997" y="12021"/>
                        <a:pt x="12996" y="11959"/>
                      </a:cubicBezTo>
                      <a:lnTo>
                        <a:pt x="12850" y="11861"/>
                      </a:lnTo>
                      <a:cubicBezTo>
                        <a:pt x="12771" y="11862"/>
                        <a:pt x="12694" y="11839"/>
                        <a:pt x="12634" y="11796"/>
                      </a:cubicBezTo>
                      <a:cubicBezTo>
                        <a:pt x="12590" y="11764"/>
                        <a:pt x="12556" y="11723"/>
                        <a:pt x="12536" y="11676"/>
                      </a:cubicBezTo>
                      <a:cubicBezTo>
                        <a:pt x="12545" y="11622"/>
                        <a:pt x="12543" y="11567"/>
                        <a:pt x="12529" y="11513"/>
                      </a:cubicBezTo>
                      <a:cubicBezTo>
                        <a:pt x="12514" y="11452"/>
                        <a:pt x="12485" y="11394"/>
                        <a:pt x="12443" y="11342"/>
                      </a:cubicBezTo>
                      <a:lnTo>
                        <a:pt x="12404" y="11183"/>
                      </a:lnTo>
                      <a:lnTo>
                        <a:pt x="12320" y="11060"/>
                      </a:lnTo>
                      <a:lnTo>
                        <a:pt x="12181" y="11006"/>
                      </a:lnTo>
                      <a:lnTo>
                        <a:pt x="12097" y="10895"/>
                      </a:lnTo>
                      <a:lnTo>
                        <a:pt x="12076" y="10795"/>
                      </a:lnTo>
                      <a:lnTo>
                        <a:pt x="12058" y="10717"/>
                      </a:lnTo>
                      <a:lnTo>
                        <a:pt x="11912" y="10592"/>
                      </a:lnTo>
                      <a:lnTo>
                        <a:pt x="11870" y="10453"/>
                      </a:lnTo>
                      <a:cubicBezTo>
                        <a:pt x="11816" y="10428"/>
                        <a:pt x="11770" y="10392"/>
                        <a:pt x="11737" y="10348"/>
                      </a:cubicBezTo>
                      <a:cubicBezTo>
                        <a:pt x="11701" y="10299"/>
                        <a:pt x="11681" y="10244"/>
                        <a:pt x="11680" y="10187"/>
                      </a:cubicBezTo>
                      <a:lnTo>
                        <a:pt x="11582" y="10089"/>
                      </a:lnTo>
                      <a:lnTo>
                        <a:pt x="11577" y="9990"/>
                      </a:lnTo>
                      <a:lnTo>
                        <a:pt x="11682" y="9988"/>
                      </a:lnTo>
                      <a:lnTo>
                        <a:pt x="11822" y="10005"/>
                      </a:lnTo>
                      <a:lnTo>
                        <a:pt x="11857" y="10107"/>
                      </a:lnTo>
                      <a:cubicBezTo>
                        <a:pt x="11892" y="10137"/>
                        <a:pt x="11924" y="10169"/>
                        <a:pt x="11952" y="10204"/>
                      </a:cubicBezTo>
                      <a:cubicBezTo>
                        <a:pt x="11984" y="10243"/>
                        <a:pt x="12011" y="10284"/>
                        <a:pt x="12033" y="10327"/>
                      </a:cubicBezTo>
                      <a:lnTo>
                        <a:pt x="12107" y="10448"/>
                      </a:lnTo>
                      <a:lnTo>
                        <a:pt x="12190" y="10466"/>
                      </a:lnTo>
                      <a:lnTo>
                        <a:pt x="12302" y="10490"/>
                      </a:lnTo>
                      <a:lnTo>
                        <a:pt x="12288" y="10552"/>
                      </a:lnTo>
                      <a:lnTo>
                        <a:pt x="12346" y="10643"/>
                      </a:lnTo>
                      <a:lnTo>
                        <a:pt x="12453" y="10707"/>
                      </a:lnTo>
                      <a:lnTo>
                        <a:pt x="12564" y="10784"/>
                      </a:lnTo>
                      <a:lnTo>
                        <a:pt x="12639" y="10849"/>
                      </a:lnTo>
                      <a:lnTo>
                        <a:pt x="12732" y="10970"/>
                      </a:lnTo>
                      <a:lnTo>
                        <a:pt x="12776" y="11042"/>
                      </a:lnTo>
                      <a:lnTo>
                        <a:pt x="12743" y="11139"/>
                      </a:lnTo>
                      <a:cubicBezTo>
                        <a:pt x="12780" y="11179"/>
                        <a:pt x="12810" y="11223"/>
                        <a:pt x="12832" y="11271"/>
                      </a:cubicBezTo>
                      <a:cubicBezTo>
                        <a:pt x="12849" y="11309"/>
                        <a:pt x="12860" y="11349"/>
                        <a:pt x="12866" y="11389"/>
                      </a:cubicBezTo>
                      <a:lnTo>
                        <a:pt x="12919" y="11475"/>
                      </a:lnTo>
                      <a:lnTo>
                        <a:pt x="13231" y="11526"/>
                      </a:lnTo>
                      <a:cubicBezTo>
                        <a:pt x="13260" y="11543"/>
                        <a:pt x="13286" y="11563"/>
                        <a:pt x="13307" y="11586"/>
                      </a:cubicBezTo>
                      <a:cubicBezTo>
                        <a:pt x="13362" y="11644"/>
                        <a:pt x="13388" y="11719"/>
                        <a:pt x="13379" y="11793"/>
                      </a:cubicBezTo>
                      <a:lnTo>
                        <a:pt x="13482" y="11890"/>
                      </a:lnTo>
                      <a:lnTo>
                        <a:pt x="13644" y="11964"/>
                      </a:lnTo>
                      <a:lnTo>
                        <a:pt x="13642" y="12054"/>
                      </a:lnTo>
                      <a:lnTo>
                        <a:pt x="13698" y="12117"/>
                      </a:lnTo>
                      <a:cubicBezTo>
                        <a:pt x="13732" y="12133"/>
                        <a:pt x="13759" y="12158"/>
                        <a:pt x="13774" y="12189"/>
                      </a:cubicBezTo>
                      <a:cubicBezTo>
                        <a:pt x="13793" y="12226"/>
                        <a:pt x="13793" y="12267"/>
                        <a:pt x="13774" y="12304"/>
                      </a:cubicBezTo>
                      <a:lnTo>
                        <a:pt x="13767" y="12471"/>
                      </a:lnTo>
                      <a:lnTo>
                        <a:pt x="13870" y="12549"/>
                      </a:lnTo>
                      <a:lnTo>
                        <a:pt x="13953" y="12719"/>
                      </a:lnTo>
                      <a:lnTo>
                        <a:pt x="14002" y="12795"/>
                      </a:lnTo>
                      <a:lnTo>
                        <a:pt x="14123" y="12910"/>
                      </a:lnTo>
                      <a:lnTo>
                        <a:pt x="14237" y="12960"/>
                      </a:lnTo>
                      <a:lnTo>
                        <a:pt x="14376" y="12900"/>
                      </a:lnTo>
                      <a:cubicBezTo>
                        <a:pt x="14424" y="12869"/>
                        <a:pt x="14469" y="12836"/>
                        <a:pt x="14511" y="12800"/>
                      </a:cubicBezTo>
                      <a:cubicBezTo>
                        <a:pt x="14544" y="12773"/>
                        <a:pt x="14575" y="12743"/>
                        <a:pt x="14604" y="12713"/>
                      </a:cubicBezTo>
                      <a:lnTo>
                        <a:pt x="14756" y="12654"/>
                      </a:lnTo>
                      <a:lnTo>
                        <a:pt x="14928" y="12568"/>
                      </a:lnTo>
                      <a:lnTo>
                        <a:pt x="15009" y="12546"/>
                      </a:lnTo>
                      <a:lnTo>
                        <a:pt x="15130" y="12506"/>
                      </a:lnTo>
                      <a:lnTo>
                        <a:pt x="15206" y="12391"/>
                      </a:lnTo>
                      <a:lnTo>
                        <a:pt x="15276" y="12316"/>
                      </a:lnTo>
                      <a:cubicBezTo>
                        <a:pt x="15323" y="12292"/>
                        <a:pt x="15370" y="12270"/>
                        <a:pt x="15418" y="12248"/>
                      </a:cubicBezTo>
                      <a:cubicBezTo>
                        <a:pt x="15460" y="12229"/>
                        <a:pt x="15504" y="12211"/>
                        <a:pt x="15543" y="12187"/>
                      </a:cubicBezTo>
                      <a:cubicBezTo>
                        <a:pt x="15594" y="12156"/>
                        <a:pt x="15638" y="12117"/>
                        <a:pt x="15671" y="12071"/>
                      </a:cubicBezTo>
                      <a:lnTo>
                        <a:pt x="15750" y="11926"/>
                      </a:lnTo>
                      <a:cubicBezTo>
                        <a:pt x="15753" y="11891"/>
                        <a:pt x="15766" y="11857"/>
                        <a:pt x="15787" y="11827"/>
                      </a:cubicBezTo>
                      <a:cubicBezTo>
                        <a:pt x="15824" y="11774"/>
                        <a:pt x="15884" y="11736"/>
                        <a:pt x="15954" y="11721"/>
                      </a:cubicBezTo>
                      <a:lnTo>
                        <a:pt x="16135" y="11648"/>
                      </a:lnTo>
                      <a:lnTo>
                        <a:pt x="16184" y="11596"/>
                      </a:lnTo>
                      <a:lnTo>
                        <a:pt x="16326" y="11472"/>
                      </a:lnTo>
                      <a:lnTo>
                        <a:pt x="16424" y="11273"/>
                      </a:lnTo>
                      <a:lnTo>
                        <a:pt x="16459" y="11212"/>
                      </a:lnTo>
                      <a:lnTo>
                        <a:pt x="16549" y="11104"/>
                      </a:lnTo>
                      <a:lnTo>
                        <a:pt x="16612" y="11039"/>
                      </a:lnTo>
                      <a:lnTo>
                        <a:pt x="16612" y="10909"/>
                      </a:lnTo>
                      <a:cubicBezTo>
                        <a:pt x="16590" y="10860"/>
                        <a:pt x="16593" y="10804"/>
                        <a:pt x="16619" y="10756"/>
                      </a:cubicBezTo>
                      <a:cubicBezTo>
                        <a:pt x="16650" y="10702"/>
                        <a:pt x="16708" y="10662"/>
                        <a:pt x="16777" y="10649"/>
                      </a:cubicBezTo>
                      <a:cubicBezTo>
                        <a:pt x="16783" y="10610"/>
                        <a:pt x="16787" y="10571"/>
                        <a:pt x="16790" y="10532"/>
                      </a:cubicBezTo>
                      <a:cubicBezTo>
                        <a:pt x="16795" y="10462"/>
                        <a:pt x="16795" y="10392"/>
                        <a:pt x="16790" y="10322"/>
                      </a:cubicBezTo>
                      <a:cubicBezTo>
                        <a:pt x="16776" y="10273"/>
                        <a:pt x="16757" y="10225"/>
                        <a:pt x="16734" y="10178"/>
                      </a:cubicBezTo>
                      <a:cubicBezTo>
                        <a:pt x="16713" y="10133"/>
                        <a:pt x="16687" y="10090"/>
                        <a:pt x="16658" y="10047"/>
                      </a:cubicBezTo>
                      <a:lnTo>
                        <a:pt x="16533" y="9988"/>
                      </a:lnTo>
                      <a:lnTo>
                        <a:pt x="16362" y="9964"/>
                      </a:lnTo>
                      <a:lnTo>
                        <a:pt x="16190" y="9940"/>
                      </a:lnTo>
                      <a:lnTo>
                        <a:pt x="16054" y="9888"/>
                      </a:lnTo>
                      <a:cubicBezTo>
                        <a:pt x="16024" y="9853"/>
                        <a:pt x="16002" y="9812"/>
                        <a:pt x="15991" y="9769"/>
                      </a:cubicBezTo>
                      <a:cubicBezTo>
                        <a:pt x="15979" y="9722"/>
                        <a:pt x="15979" y="9673"/>
                        <a:pt x="15991" y="9626"/>
                      </a:cubicBezTo>
                      <a:lnTo>
                        <a:pt x="15899" y="9555"/>
                      </a:lnTo>
                      <a:lnTo>
                        <a:pt x="15857" y="9636"/>
                      </a:lnTo>
                      <a:lnTo>
                        <a:pt x="15774" y="9779"/>
                      </a:lnTo>
                      <a:lnTo>
                        <a:pt x="15755" y="9882"/>
                      </a:lnTo>
                      <a:lnTo>
                        <a:pt x="15658" y="10007"/>
                      </a:lnTo>
                      <a:lnTo>
                        <a:pt x="15598" y="10084"/>
                      </a:lnTo>
                      <a:lnTo>
                        <a:pt x="15443" y="10108"/>
                      </a:lnTo>
                      <a:lnTo>
                        <a:pt x="15269" y="10186"/>
                      </a:lnTo>
                      <a:lnTo>
                        <a:pt x="15195" y="10142"/>
                      </a:lnTo>
                      <a:lnTo>
                        <a:pt x="15195" y="9965"/>
                      </a:lnTo>
                      <a:lnTo>
                        <a:pt x="15134" y="9832"/>
                      </a:lnTo>
                      <a:cubicBezTo>
                        <a:pt x="15112" y="9793"/>
                        <a:pt x="15056" y="9779"/>
                        <a:pt x="15014" y="9802"/>
                      </a:cubicBezTo>
                      <a:cubicBezTo>
                        <a:pt x="14974" y="9823"/>
                        <a:pt x="14962" y="9867"/>
                        <a:pt x="14986" y="9901"/>
                      </a:cubicBezTo>
                      <a:lnTo>
                        <a:pt x="14819" y="9829"/>
                      </a:lnTo>
                      <a:lnTo>
                        <a:pt x="14745" y="9752"/>
                      </a:lnTo>
                      <a:lnTo>
                        <a:pt x="14678" y="9694"/>
                      </a:lnTo>
                      <a:lnTo>
                        <a:pt x="14569" y="9603"/>
                      </a:lnTo>
                      <a:cubicBezTo>
                        <a:pt x="14534" y="9568"/>
                        <a:pt x="14500" y="9534"/>
                        <a:pt x="14464" y="9501"/>
                      </a:cubicBezTo>
                      <a:cubicBezTo>
                        <a:pt x="14409" y="9449"/>
                        <a:pt x="14352" y="9399"/>
                        <a:pt x="14294" y="9350"/>
                      </a:cubicBezTo>
                      <a:lnTo>
                        <a:pt x="14320" y="9280"/>
                      </a:lnTo>
                      <a:lnTo>
                        <a:pt x="14403" y="9173"/>
                      </a:lnTo>
                      <a:cubicBezTo>
                        <a:pt x="14427" y="9155"/>
                        <a:pt x="14454" y="9141"/>
                        <a:pt x="14484" y="9132"/>
                      </a:cubicBezTo>
                      <a:cubicBezTo>
                        <a:pt x="14532" y="9116"/>
                        <a:pt x="14585" y="9113"/>
                        <a:pt x="14635" y="9124"/>
                      </a:cubicBezTo>
                      <a:lnTo>
                        <a:pt x="14751" y="9291"/>
                      </a:lnTo>
                      <a:lnTo>
                        <a:pt x="14825" y="9444"/>
                      </a:lnTo>
                      <a:cubicBezTo>
                        <a:pt x="14851" y="9488"/>
                        <a:pt x="14907" y="9515"/>
                        <a:pt x="14964" y="9509"/>
                      </a:cubicBezTo>
                      <a:cubicBezTo>
                        <a:pt x="15020" y="9505"/>
                        <a:pt x="15070" y="9471"/>
                        <a:pt x="15125" y="9482"/>
                      </a:cubicBezTo>
                      <a:cubicBezTo>
                        <a:pt x="15190" y="9495"/>
                        <a:pt x="15214" y="9559"/>
                        <a:pt x="15262" y="9597"/>
                      </a:cubicBezTo>
                      <a:cubicBezTo>
                        <a:pt x="15304" y="9631"/>
                        <a:pt x="15364" y="9644"/>
                        <a:pt x="15420" y="9631"/>
                      </a:cubicBezTo>
                      <a:cubicBezTo>
                        <a:pt x="15457" y="9651"/>
                        <a:pt x="15500" y="9661"/>
                        <a:pt x="15544" y="9661"/>
                      </a:cubicBezTo>
                      <a:cubicBezTo>
                        <a:pt x="15611" y="9660"/>
                        <a:pt x="15674" y="9635"/>
                        <a:pt x="15719" y="9593"/>
                      </a:cubicBezTo>
                      <a:lnTo>
                        <a:pt x="15916" y="9456"/>
                      </a:lnTo>
                      <a:lnTo>
                        <a:pt x="16026" y="9546"/>
                      </a:lnTo>
                      <a:lnTo>
                        <a:pt x="16068" y="9656"/>
                      </a:lnTo>
                      <a:cubicBezTo>
                        <a:pt x="16082" y="9678"/>
                        <a:pt x="16104" y="9697"/>
                        <a:pt x="16130" y="9709"/>
                      </a:cubicBezTo>
                      <a:cubicBezTo>
                        <a:pt x="16190" y="9737"/>
                        <a:pt x="16263" y="9732"/>
                        <a:pt x="16316" y="9697"/>
                      </a:cubicBezTo>
                      <a:lnTo>
                        <a:pt x="16630" y="9655"/>
                      </a:lnTo>
                      <a:lnTo>
                        <a:pt x="16941" y="9655"/>
                      </a:lnTo>
                      <a:lnTo>
                        <a:pt x="17083" y="9562"/>
                      </a:lnTo>
                      <a:lnTo>
                        <a:pt x="17175" y="9482"/>
                      </a:lnTo>
                      <a:lnTo>
                        <a:pt x="17273" y="9434"/>
                      </a:lnTo>
                      <a:lnTo>
                        <a:pt x="17419" y="9407"/>
                      </a:lnTo>
                      <a:lnTo>
                        <a:pt x="17492" y="9349"/>
                      </a:lnTo>
                      <a:lnTo>
                        <a:pt x="17575" y="9290"/>
                      </a:lnTo>
                      <a:lnTo>
                        <a:pt x="17773" y="9447"/>
                      </a:lnTo>
                      <a:lnTo>
                        <a:pt x="17828" y="9554"/>
                      </a:lnTo>
                      <a:lnTo>
                        <a:pt x="17963" y="9559"/>
                      </a:lnTo>
                      <a:lnTo>
                        <a:pt x="18053" y="9619"/>
                      </a:lnTo>
                      <a:lnTo>
                        <a:pt x="18132" y="9664"/>
                      </a:lnTo>
                      <a:lnTo>
                        <a:pt x="18166" y="9736"/>
                      </a:lnTo>
                      <a:lnTo>
                        <a:pt x="18250" y="9865"/>
                      </a:lnTo>
                      <a:cubicBezTo>
                        <a:pt x="18289" y="9892"/>
                        <a:pt x="18332" y="9916"/>
                        <a:pt x="18378" y="9934"/>
                      </a:cubicBezTo>
                      <a:cubicBezTo>
                        <a:pt x="18424" y="9954"/>
                        <a:pt x="18473" y="9968"/>
                        <a:pt x="18524" y="9976"/>
                      </a:cubicBezTo>
                      <a:lnTo>
                        <a:pt x="18625" y="9960"/>
                      </a:lnTo>
                      <a:lnTo>
                        <a:pt x="18678" y="9824"/>
                      </a:lnTo>
                      <a:lnTo>
                        <a:pt x="18754" y="9790"/>
                      </a:lnTo>
                      <a:lnTo>
                        <a:pt x="18868" y="9878"/>
                      </a:lnTo>
                      <a:lnTo>
                        <a:pt x="18977" y="9979"/>
                      </a:lnTo>
                      <a:lnTo>
                        <a:pt x="19105" y="10083"/>
                      </a:lnTo>
                      <a:lnTo>
                        <a:pt x="19040" y="10248"/>
                      </a:lnTo>
                      <a:cubicBezTo>
                        <a:pt x="19058" y="10308"/>
                        <a:pt x="19087" y="10365"/>
                        <a:pt x="19126" y="10417"/>
                      </a:cubicBezTo>
                      <a:cubicBezTo>
                        <a:pt x="19157" y="10460"/>
                        <a:pt x="19195" y="10498"/>
                        <a:pt x="19237" y="10533"/>
                      </a:cubicBezTo>
                      <a:lnTo>
                        <a:pt x="19244" y="10664"/>
                      </a:lnTo>
                      <a:lnTo>
                        <a:pt x="19244" y="10732"/>
                      </a:lnTo>
                      <a:cubicBezTo>
                        <a:pt x="19267" y="10788"/>
                        <a:pt x="19300" y="10842"/>
                        <a:pt x="19344" y="10889"/>
                      </a:cubicBezTo>
                      <a:cubicBezTo>
                        <a:pt x="19384" y="10931"/>
                        <a:pt x="19431" y="10968"/>
                        <a:pt x="19483" y="10998"/>
                      </a:cubicBezTo>
                      <a:lnTo>
                        <a:pt x="19465" y="11121"/>
                      </a:lnTo>
                      <a:lnTo>
                        <a:pt x="19506" y="11185"/>
                      </a:lnTo>
                      <a:lnTo>
                        <a:pt x="19609" y="11302"/>
                      </a:lnTo>
                      <a:lnTo>
                        <a:pt x="19706" y="11394"/>
                      </a:lnTo>
                      <a:lnTo>
                        <a:pt x="19653" y="11497"/>
                      </a:lnTo>
                      <a:lnTo>
                        <a:pt x="19713" y="11664"/>
                      </a:lnTo>
                      <a:lnTo>
                        <a:pt x="19871" y="11758"/>
                      </a:lnTo>
                      <a:lnTo>
                        <a:pt x="19913" y="11879"/>
                      </a:lnTo>
                      <a:lnTo>
                        <a:pt x="19978" y="11976"/>
                      </a:lnTo>
                      <a:lnTo>
                        <a:pt x="20040" y="12068"/>
                      </a:lnTo>
                      <a:lnTo>
                        <a:pt x="20119" y="12068"/>
                      </a:lnTo>
                      <a:cubicBezTo>
                        <a:pt x="20170" y="12032"/>
                        <a:pt x="20209" y="11985"/>
                        <a:pt x="20231" y="11932"/>
                      </a:cubicBezTo>
                      <a:cubicBezTo>
                        <a:pt x="20248" y="11891"/>
                        <a:pt x="20254" y="11847"/>
                        <a:pt x="20249" y="11803"/>
                      </a:cubicBezTo>
                      <a:lnTo>
                        <a:pt x="20328" y="11711"/>
                      </a:lnTo>
                      <a:lnTo>
                        <a:pt x="20371" y="11792"/>
                      </a:lnTo>
                      <a:lnTo>
                        <a:pt x="20371" y="11953"/>
                      </a:lnTo>
                      <a:lnTo>
                        <a:pt x="20357" y="12045"/>
                      </a:lnTo>
                      <a:lnTo>
                        <a:pt x="20362" y="12250"/>
                      </a:lnTo>
                      <a:lnTo>
                        <a:pt x="20415" y="12325"/>
                      </a:lnTo>
                      <a:cubicBezTo>
                        <a:pt x="20440" y="12352"/>
                        <a:pt x="20481" y="12364"/>
                        <a:pt x="20520" y="12355"/>
                      </a:cubicBezTo>
                      <a:cubicBezTo>
                        <a:pt x="20593" y="12339"/>
                        <a:pt x="20627" y="12267"/>
                        <a:pt x="20587" y="12212"/>
                      </a:cubicBezTo>
                      <a:lnTo>
                        <a:pt x="20612" y="12033"/>
                      </a:lnTo>
                      <a:lnTo>
                        <a:pt x="20605" y="11882"/>
                      </a:lnTo>
                      <a:lnTo>
                        <a:pt x="20575" y="11742"/>
                      </a:lnTo>
                      <a:lnTo>
                        <a:pt x="20529" y="11565"/>
                      </a:lnTo>
                      <a:lnTo>
                        <a:pt x="20432" y="11481"/>
                      </a:lnTo>
                      <a:lnTo>
                        <a:pt x="20358" y="11487"/>
                      </a:lnTo>
                      <a:lnTo>
                        <a:pt x="20296" y="11632"/>
                      </a:lnTo>
                      <a:lnTo>
                        <a:pt x="20261" y="11384"/>
                      </a:lnTo>
                      <a:lnTo>
                        <a:pt x="20275" y="11241"/>
                      </a:lnTo>
                      <a:lnTo>
                        <a:pt x="20275" y="11159"/>
                      </a:lnTo>
                      <a:lnTo>
                        <a:pt x="20289" y="11082"/>
                      </a:lnTo>
                      <a:lnTo>
                        <a:pt x="20289" y="10957"/>
                      </a:lnTo>
                      <a:lnTo>
                        <a:pt x="20295" y="10844"/>
                      </a:lnTo>
                      <a:lnTo>
                        <a:pt x="20191" y="10689"/>
                      </a:lnTo>
                      <a:lnTo>
                        <a:pt x="20184" y="10595"/>
                      </a:lnTo>
                      <a:cubicBezTo>
                        <a:pt x="20188" y="10557"/>
                        <a:pt x="20188" y="10518"/>
                        <a:pt x="20184" y="10480"/>
                      </a:cubicBezTo>
                      <a:cubicBezTo>
                        <a:pt x="20177" y="10420"/>
                        <a:pt x="20161" y="10361"/>
                        <a:pt x="20163" y="10301"/>
                      </a:cubicBezTo>
                      <a:cubicBezTo>
                        <a:pt x="20164" y="10261"/>
                        <a:pt x="20174" y="10222"/>
                        <a:pt x="20191" y="10185"/>
                      </a:cubicBezTo>
                      <a:lnTo>
                        <a:pt x="20205" y="10094"/>
                      </a:lnTo>
                      <a:lnTo>
                        <a:pt x="20211" y="10026"/>
                      </a:lnTo>
                      <a:lnTo>
                        <a:pt x="20269" y="9826"/>
                      </a:lnTo>
                      <a:lnTo>
                        <a:pt x="20324" y="9624"/>
                      </a:lnTo>
                      <a:lnTo>
                        <a:pt x="20296" y="9512"/>
                      </a:lnTo>
                      <a:lnTo>
                        <a:pt x="20296" y="9377"/>
                      </a:lnTo>
                      <a:lnTo>
                        <a:pt x="20347" y="9212"/>
                      </a:lnTo>
                      <a:lnTo>
                        <a:pt x="20405" y="9069"/>
                      </a:lnTo>
                      <a:lnTo>
                        <a:pt x="20322" y="8952"/>
                      </a:lnTo>
                      <a:lnTo>
                        <a:pt x="20438" y="8629"/>
                      </a:lnTo>
                      <a:cubicBezTo>
                        <a:pt x="20457" y="8566"/>
                        <a:pt x="20475" y="8504"/>
                        <a:pt x="20493" y="8441"/>
                      </a:cubicBezTo>
                      <a:cubicBezTo>
                        <a:pt x="20512" y="8378"/>
                        <a:pt x="20530" y="8315"/>
                        <a:pt x="20548" y="8252"/>
                      </a:cubicBezTo>
                      <a:lnTo>
                        <a:pt x="20847" y="8705"/>
                      </a:lnTo>
                      <a:lnTo>
                        <a:pt x="21129" y="9062"/>
                      </a:lnTo>
                      <a:lnTo>
                        <a:pt x="21600" y="9676"/>
                      </a:lnTo>
                      <a:cubicBezTo>
                        <a:pt x="21403" y="8190"/>
                        <a:pt x="20859" y="6754"/>
                        <a:pt x="20001" y="5452"/>
                      </a:cubicBezTo>
                      <a:cubicBezTo>
                        <a:pt x="19120" y="4115"/>
                        <a:pt x="17927" y="2949"/>
                        <a:pt x="16497" y="2025"/>
                      </a:cubicBezTo>
                      <a:cubicBezTo>
                        <a:pt x="15728" y="1490"/>
                        <a:pt x="14879" y="1043"/>
                        <a:pt x="13974" y="698"/>
                      </a:cubicBezTo>
                      <a:cubicBezTo>
                        <a:pt x="13114" y="370"/>
                        <a:pt x="12211" y="135"/>
                        <a:pt x="11283" y="0"/>
                      </a:cubicBezTo>
                      <a:lnTo>
                        <a:pt x="12018" y="440"/>
                      </a:lnTo>
                      <a:lnTo>
                        <a:pt x="11938" y="476"/>
                      </a:lnTo>
                      <a:lnTo>
                        <a:pt x="11889" y="518"/>
                      </a:lnTo>
                      <a:lnTo>
                        <a:pt x="11982" y="559"/>
                      </a:lnTo>
                      <a:lnTo>
                        <a:pt x="12089" y="579"/>
                      </a:lnTo>
                      <a:lnTo>
                        <a:pt x="12158" y="597"/>
                      </a:lnTo>
                      <a:lnTo>
                        <a:pt x="12135" y="654"/>
                      </a:lnTo>
                      <a:lnTo>
                        <a:pt x="12054" y="670"/>
                      </a:lnTo>
                      <a:lnTo>
                        <a:pt x="12078" y="759"/>
                      </a:lnTo>
                      <a:lnTo>
                        <a:pt x="11985" y="837"/>
                      </a:lnTo>
                      <a:lnTo>
                        <a:pt x="11846" y="763"/>
                      </a:lnTo>
                      <a:lnTo>
                        <a:pt x="11706" y="680"/>
                      </a:lnTo>
                      <a:cubicBezTo>
                        <a:pt x="11647" y="638"/>
                        <a:pt x="11571" y="619"/>
                        <a:pt x="11495" y="628"/>
                      </a:cubicBezTo>
                      <a:cubicBezTo>
                        <a:pt x="11444" y="633"/>
                        <a:pt x="11395" y="651"/>
                        <a:pt x="11355" y="680"/>
                      </a:cubicBezTo>
                      <a:lnTo>
                        <a:pt x="11231" y="707"/>
                      </a:lnTo>
                      <a:lnTo>
                        <a:pt x="11154" y="713"/>
                      </a:lnTo>
                      <a:lnTo>
                        <a:pt x="11059" y="655"/>
                      </a:lnTo>
                      <a:lnTo>
                        <a:pt x="10857" y="644"/>
                      </a:lnTo>
                      <a:lnTo>
                        <a:pt x="10760" y="691"/>
                      </a:lnTo>
                      <a:lnTo>
                        <a:pt x="10643" y="685"/>
                      </a:lnTo>
                      <a:lnTo>
                        <a:pt x="10534" y="673"/>
                      </a:lnTo>
                      <a:lnTo>
                        <a:pt x="10353" y="631"/>
                      </a:lnTo>
                      <a:lnTo>
                        <a:pt x="10133" y="667"/>
                      </a:lnTo>
                      <a:lnTo>
                        <a:pt x="10214" y="745"/>
                      </a:lnTo>
                      <a:lnTo>
                        <a:pt x="10358" y="774"/>
                      </a:lnTo>
                      <a:lnTo>
                        <a:pt x="10495" y="816"/>
                      </a:lnTo>
                      <a:lnTo>
                        <a:pt x="10600" y="822"/>
                      </a:lnTo>
                      <a:lnTo>
                        <a:pt x="10701" y="810"/>
                      </a:lnTo>
                      <a:cubicBezTo>
                        <a:pt x="10739" y="792"/>
                        <a:pt x="10780" y="779"/>
                        <a:pt x="10822" y="772"/>
                      </a:cubicBezTo>
                      <a:cubicBezTo>
                        <a:pt x="10876" y="763"/>
                        <a:pt x="10931" y="763"/>
                        <a:pt x="10984" y="772"/>
                      </a:cubicBezTo>
                      <a:lnTo>
                        <a:pt x="11130" y="790"/>
                      </a:lnTo>
                      <a:lnTo>
                        <a:pt x="11225" y="790"/>
                      </a:lnTo>
                      <a:lnTo>
                        <a:pt x="11378" y="816"/>
                      </a:lnTo>
                      <a:lnTo>
                        <a:pt x="11480" y="850"/>
                      </a:lnTo>
                      <a:lnTo>
                        <a:pt x="11385" y="887"/>
                      </a:lnTo>
                      <a:lnTo>
                        <a:pt x="11281" y="863"/>
                      </a:lnTo>
                      <a:lnTo>
                        <a:pt x="11295" y="947"/>
                      </a:lnTo>
                      <a:lnTo>
                        <a:pt x="11387" y="974"/>
                      </a:lnTo>
                      <a:lnTo>
                        <a:pt x="11468" y="1054"/>
                      </a:lnTo>
                      <a:lnTo>
                        <a:pt x="11480" y="1151"/>
                      </a:lnTo>
                      <a:lnTo>
                        <a:pt x="11508" y="1243"/>
                      </a:lnTo>
                      <a:lnTo>
                        <a:pt x="11598" y="1284"/>
                      </a:lnTo>
                      <a:lnTo>
                        <a:pt x="11725" y="1294"/>
                      </a:lnTo>
                      <a:lnTo>
                        <a:pt x="11687" y="1392"/>
                      </a:lnTo>
                      <a:lnTo>
                        <a:pt x="11791" y="1437"/>
                      </a:lnTo>
                      <a:lnTo>
                        <a:pt x="11993" y="1503"/>
                      </a:lnTo>
                      <a:lnTo>
                        <a:pt x="12046" y="1545"/>
                      </a:lnTo>
                      <a:lnTo>
                        <a:pt x="11863" y="1566"/>
                      </a:lnTo>
                      <a:lnTo>
                        <a:pt x="11785" y="1572"/>
                      </a:lnTo>
                      <a:lnTo>
                        <a:pt x="11838" y="1660"/>
                      </a:lnTo>
                      <a:lnTo>
                        <a:pt x="11843" y="1741"/>
                      </a:lnTo>
                      <a:lnTo>
                        <a:pt x="11669" y="1693"/>
                      </a:lnTo>
                      <a:cubicBezTo>
                        <a:pt x="11654" y="1668"/>
                        <a:pt x="11633" y="1646"/>
                        <a:pt x="11606" y="1628"/>
                      </a:cubicBezTo>
                      <a:cubicBezTo>
                        <a:pt x="11571" y="1604"/>
                        <a:pt x="11528" y="1591"/>
                        <a:pt x="11483" y="1588"/>
                      </a:cubicBezTo>
                      <a:lnTo>
                        <a:pt x="11305" y="1576"/>
                      </a:lnTo>
                      <a:lnTo>
                        <a:pt x="11379" y="1723"/>
                      </a:lnTo>
                      <a:lnTo>
                        <a:pt x="11497" y="1783"/>
                      </a:lnTo>
                      <a:lnTo>
                        <a:pt x="11537" y="1912"/>
                      </a:lnTo>
                      <a:lnTo>
                        <a:pt x="11606" y="2008"/>
                      </a:lnTo>
                      <a:lnTo>
                        <a:pt x="11743" y="2069"/>
                      </a:lnTo>
                      <a:lnTo>
                        <a:pt x="11905" y="2115"/>
                      </a:lnTo>
                      <a:lnTo>
                        <a:pt x="11986" y="2168"/>
                      </a:lnTo>
                      <a:lnTo>
                        <a:pt x="11847" y="2202"/>
                      </a:lnTo>
                      <a:lnTo>
                        <a:pt x="11675" y="2174"/>
                      </a:lnTo>
                      <a:lnTo>
                        <a:pt x="11494" y="2149"/>
                      </a:lnTo>
                      <a:lnTo>
                        <a:pt x="11327" y="2149"/>
                      </a:lnTo>
                      <a:lnTo>
                        <a:pt x="11214" y="2137"/>
                      </a:lnTo>
                      <a:lnTo>
                        <a:pt x="11249" y="2200"/>
                      </a:lnTo>
                      <a:cubicBezTo>
                        <a:pt x="11281" y="2217"/>
                        <a:pt x="11315" y="2231"/>
                        <a:pt x="11351" y="2242"/>
                      </a:cubicBezTo>
                      <a:cubicBezTo>
                        <a:pt x="11389" y="2253"/>
                        <a:pt x="11429" y="2261"/>
                        <a:pt x="11469" y="2265"/>
                      </a:cubicBezTo>
                      <a:lnTo>
                        <a:pt x="11511" y="2357"/>
                      </a:lnTo>
                      <a:lnTo>
                        <a:pt x="11414" y="2351"/>
                      </a:lnTo>
                      <a:lnTo>
                        <a:pt x="11326" y="2363"/>
                      </a:lnTo>
                      <a:lnTo>
                        <a:pt x="11252" y="2390"/>
                      </a:lnTo>
                      <a:lnTo>
                        <a:pt x="11176" y="2445"/>
                      </a:lnTo>
                      <a:lnTo>
                        <a:pt x="11081" y="2362"/>
                      </a:lnTo>
                      <a:lnTo>
                        <a:pt x="11020" y="2410"/>
                      </a:lnTo>
                      <a:lnTo>
                        <a:pt x="10967" y="2460"/>
                      </a:lnTo>
                      <a:lnTo>
                        <a:pt x="10821" y="2580"/>
                      </a:lnTo>
                      <a:lnTo>
                        <a:pt x="10751" y="2670"/>
                      </a:lnTo>
                      <a:lnTo>
                        <a:pt x="10791" y="2781"/>
                      </a:lnTo>
                      <a:lnTo>
                        <a:pt x="10676" y="2772"/>
                      </a:lnTo>
                      <a:lnTo>
                        <a:pt x="10454" y="2745"/>
                      </a:lnTo>
                      <a:lnTo>
                        <a:pt x="10594" y="2666"/>
                      </a:lnTo>
                      <a:lnTo>
                        <a:pt x="10516" y="2553"/>
                      </a:lnTo>
                      <a:lnTo>
                        <a:pt x="10295" y="2513"/>
                      </a:lnTo>
                      <a:lnTo>
                        <a:pt x="10328" y="2652"/>
                      </a:lnTo>
                      <a:lnTo>
                        <a:pt x="10388" y="2779"/>
                      </a:lnTo>
                      <a:lnTo>
                        <a:pt x="10462" y="2867"/>
                      </a:lnTo>
                      <a:lnTo>
                        <a:pt x="10476" y="2956"/>
                      </a:lnTo>
                      <a:lnTo>
                        <a:pt x="10395" y="2966"/>
                      </a:lnTo>
                      <a:lnTo>
                        <a:pt x="10272" y="3040"/>
                      </a:lnTo>
                      <a:lnTo>
                        <a:pt x="10279" y="3105"/>
                      </a:lnTo>
                      <a:lnTo>
                        <a:pt x="10142" y="3138"/>
                      </a:lnTo>
                      <a:lnTo>
                        <a:pt x="10091" y="3260"/>
                      </a:lnTo>
                      <a:cubicBezTo>
                        <a:pt x="10038" y="3292"/>
                        <a:pt x="9970" y="3297"/>
                        <a:pt x="9912" y="3274"/>
                      </a:cubicBezTo>
                      <a:cubicBezTo>
                        <a:pt x="9835" y="3243"/>
                        <a:pt x="9793" y="3172"/>
                        <a:pt x="9810" y="3101"/>
                      </a:cubicBezTo>
                      <a:lnTo>
                        <a:pt x="9701" y="2999"/>
                      </a:lnTo>
                      <a:lnTo>
                        <a:pt x="9840" y="2940"/>
                      </a:lnTo>
                      <a:lnTo>
                        <a:pt x="9976" y="2991"/>
                      </a:lnTo>
                      <a:lnTo>
                        <a:pt x="10125" y="2991"/>
                      </a:lnTo>
                      <a:lnTo>
                        <a:pt x="10321" y="2905"/>
                      </a:lnTo>
                      <a:lnTo>
                        <a:pt x="10293" y="2819"/>
                      </a:lnTo>
                      <a:lnTo>
                        <a:pt x="10212" y="2728"/>
                      </a:lnTo>
                      <a:lnTo>
                        <a:pt x="10159" y="2694"/>
                      </a:lnTo>
                      <a:lnTo>
                        <a:pt x="10013" y="2670"/>
                      </a:lnTo>
                      <a:cubicBezTo>
                        <a:pt x="9962" y="2665"/>
                        <a:pt x="9910" y="2657"/>
                        <a:pt x="9860" y="2646"/>
                      </a:cubicBezTo>
                      <a:cubicBezTo>
                        <a:pt x="9787" y="2631"/>
                        <a:pt x="9716" y="2611"/>
                        <a:pt x="9647" y="2587"/>
                      </a:cubicBezTo>
                      <a:lnTo>
                        <a:pt x="9497" y="2535"/>
                      </a:lnTo>
                      <a:lnTo>
                        <a:pt x="9366" y="2529"/>
                      </a:lnTo>
                      <a:lnTo>
                        <a:pt x="9160" y="2533"/>
                      </a:lnTo>
                      <a:lnTo>
                        <a:pt x="9139" y="2476"/>
                      </a:lnTo>
                      <a:lnTo>
                        <a:pt x="9030" y="2412"/>
                      </a:lnTo>
                      <a:lnTo>
                        <a:pt x="8895" y="2376"/>
                      </a:lnTo>
                      <a:lnTo>
                        <a:pt x="8779" y="2370"/>
                      </a:lnTo>
                      <a:lnTo>
                        <a:pt x="8663" y="2409"/>
                      </a:lnTo>
                      <a:lnTo>
                        <a:pt x="8373" y="2427"/>
                      </a:lnTo>
                      <a:cubicBezTo>
                        <a:pt x="8340" y="2453"/>
                        <a:pt x="8305" y="2477"/>
                        <a:pt x="8266" y="2497"/>
                      </a:cubicBezTo>
                      <a:cubicBezTo>
                        <a:pt x="8206" y="2528"/>
                        <a:pt x="8140" y="2550"/>
                        <a:pt x="8071" y="2562"/>
                      </a:cubicBezTo>
                      <a:lnTo>
                        <a:pt x="7980" y="2610"/>
                      </a:lnTo>
                      <a:lnTo>
                        <a:pt x="7818" y="2672"/>
                      </a:lnTo>
                      <a:lnTo>
                        <a:pt x="7692" y="2737"/>
                      </a:lnTo>
                      <a:lnTo>
                        <a:pt x="7611" y="2789"/>
                      </a:lnTo>
                      <a:lnTo>
                        <a:pt x="7672" y="2872"/>
                      </a:lnTo>
                      <a:lnTo>
                        <a:pt x="7627" y="2989"/>
                      </a:lnTo>
                      <a:lnTo>
                        <a:pt x="7558" y="3041"/>
                      </a:lnTo>
                      <a:lnTo>
                        <a:pt x="7453" y="3130"/>
                      </a:lnTo>
                      <a:cubicBezTo>
                        <a:pt x="7420" y="3163"/>
                        <a:pt x="7387" y="3196"/>
                        <a:pt x="7355" y="3230"/>
                      </a:cubicBezTo>
                      <a:cubicBezTo>
                        <a:pt x="7318" y="3270"/>
                        <a:pt x="7280" y="3310"/>
                        <a:pt x="7237" y="3345"/>
                      </a:cubicBezTo>
                      <a:cubicBezTo>
                        <a:pt x="7203" y="3373"/>
                        <a:pt x="7166" y="3397"/>
                        <a:pt x="7125" y="3417"/>
                      </a:cubicBezTo>
                      <a:lnTo>
                        <a:pt x="7042" y="3435"/>
                      </a:lnTo>
                      <a:lnTo>
                        <a:pt x="6975" y="3528"/>
                      </a:lnTo>
                      <a:lnTo>
                        <a:pt x="6882" y="3556"/>
                      </a:lnTo>
                      <a:lnTo>
                        <a:pt x="6757" y="3580"/>
                      </a:lnTo>
                      <a:lnTo>
                        <a:pt x="6631" y="3657"/>
                      </a:lnTo>
                      <a:lnTo>
                        <a:pt x="6460" y="3844"/>
                      </a:lnTo>
                      <a:lnTo>
                        <a:pt x="6392" y="4010"/>
                      </a:lnTo>
                      <a:lnTo>
                        <a:pt x="6392" y="4113"/>
                      </a:lnTo>
                      <a:lnTo>
                        <a:pt x="6406" y="4187"/>
                      </a:lnTo>
                      <a:lnTo>
                        <a:pt x="6439" y="4265"/>
                      </a:lnTo>
                      <a:lnTo>
                        <a:pt x="6460" y="4342"/>
                      </a:lnTo>
                      <a:lnTo>
                        <a:pt x="6566" y="4392"/>
                      </a:lnTo>
                      <a:lnTo>
                        <a:pt x="6685" y="4410"/>
                      </a:lnTo>
                      <a:lnTo>
                        <a:pt x="6756" y="4392"/>
                      </a:lnTo>
                      <a:lnTo>
                        <a:pt x="6916" y="4302"/>
                      </a:lnTo>
                      <a:lnTo>
                        <a:pt x="7046" y="4249"/>
                      </a:lnTo>
                      <a:lnTo>
                        <a:pt x="7153" y="4239"/>
                      </a:lnTo>
                      <a:lnTo>
                        <a:pt x="7278" y="4304"/>
                      </a:lnTo>
                      <a:cubicBezTo>
                        <a:pt x="7294" y="4329"/>
                        <a:pt x="7306" y="4355"/>
                        <a:pt x="7313" y="4382"/>
                      </a:cubicBezTo>
                      <a:cubicBezTo>
                        <a:pt x="7328" y="4435"/>
                        <a:pt x="7326" y="4490"/>
                        <a:pt x="7308" y="4543"/>
                      </a:cubicBezTo>
                      <a:lnTo>
                        <a:pt x="7290" y="4640"/>
                      </a:lnTo>
                      <a:lnTo>
                        <a:pt x="7235" y="4692"/>
                      </a:lnTo>
                      <a:lnTo>
                        <a:pt x="7325" y="4873"/>
                      </a:lnTo>
                      <a:cubicBezTo>
                        <a:pt x="7356" y="4882"/>
                        <a:pt x="7388" y="4885"/>
                        <a:pt x="7420" y="4883"/>
                      </a:cubicBezTo>
                      <a:cubicBezTo>
                        <a:pt x="7472" y="4878"/>
                        <a:pt x="7519" y="4859"/>
                        <a:pt x="7555" y="4827"/>
                      </a:cubicBezTo>
                      <a:lnTo>
                        <a:pt x="7611" y="4775"/>
                      </a:lnTo>
                      <a:lnTo>
                        <a:pt x="7778" y="4766"/>
                      </a:lnTo>
                      <a:lnTo>
                        <a:pt x="7892" y="4680"/>
                      </a:lnTo>
                      <a:lnTo>
                        <a:pt x="8022" y="4620"/>
                      </a:lnTo>
                      <a:lnTo>
                        <a:pt x="7931" y="4489"/>
                      </a:lnTo>
                      <a:cubicBezTo>
                        <a:pt x="7925" y="4436"/>
                        <a:pt x="7945" y="4383"/>
                        <a:pt x="7985" y="4342"/>
                      </a:cubicBezTo>
                      <a:cubicBezTo>
                        <a:pt x="8042" y="4284"/>
                        <a:pt x="8131" y="4258"/>
                        <a:pt x="8217" y="4274"/>
                      </a:cubicBezTo>
                      <a:lnTo>
                        <a:pt x="8266" y="4168"/>
                      </a:lnTo>
                      <a:lnTo>
                        <a:pt x="8189" y="4016"/>
                      </a:lnTo>
                      <a:lnTo>
                        <a:pt x="8061" y="3951"/>
                      </a:lnTo>
                      <a:lnTo>
                        <a:pt x="8029" y="3766"/>
                      </a:lnTo>
                      <a:cubicBezTo>
                        <a:pt x="8052" y="3730"/>
                        <a:pt x="8081" y="3697"/>
                        <a:pt x="8115" y="3668"/>
                      </a:cubicBezTo>
                      <a:cubicBezTo>
                        <a:pt x="8159" y="3631"/>
                        <a:pt x="8210" y="3601"/>
                        <a:pt x="8261" y="3571"/>
                      </a:cubicBezTo>
                      <a:cubicBezTo>
                        <a:pt x="8298" y="3549"/>
                        <a:pt x="8335" y="3527"/>
                        <a:pt x="8372" y="3505"/>
                      </a:cubicBezTo>
                      <a:lnTo>
                        <a:pt x="8462" y="3412"/>
                      </a:lnTo>
                      <a:lnTo>
                        <a:pt x="8474" y="3300"/>
                      </a:lnTo>
                      <a:lnTo>
                        <a:pt x="8660" y="3219"/>
                      </a:lnTo>
                      <a:lnTo>
                        <a:pt x="8773" y="3189"/>
                      </a:lnTo>
                      <a:lnTo>
                        <a:pt x="8852" y="3257"/>
                      </a:lnTo>
                      <a:lnTo>
                        <a:pt x="8760" y="3342"/>
                      </a:lnTo>
                      <a:lnTo>
                        <a:pt x="8597" y="3442"/>
                      </a:lnTo>
                      <a:lnTo>
                        <a:pt x="8488" y="3492"/>
                      </a:lnTo>
                      <a:lnTo>
                        <a:pt x="8435" y="3564"/>
                      </a:lnTo>
                      <a:lnTo>
                        <a:pt x="8435" y="3636"/>
                      </a:lnTo>
                      <a:lnTo>
                        <a:pt x="8455" y="3755"/>
                      </a:lnTo>
                      <a:lnTo>
                        <a:pt x="8462" y="3820"/>
                      </a:lnTo>
                      <a:lnTo>
                        <a:pt x="8428" y="3926"/>
                      </a:lnTo>
                      <a:lnTo>
                        <a:pt x="8428" y="4035"/>
                      </a:lnTo>
                      <a:lnTo>
                        <a:pt x="8601" y="4076"/>
                      </a:lnTo>
                      <a:lnTo>
                        <a:pt x="8837" y="4070"/>
                      </a:lnTo>
                      <a:lnTo>
                        <a:pt x="8942" y="4031"/>
                      </a:lnTo>
                      <a:lnTo>
                        <a:pt x="9086" y="3977"/>
                      </a:lnTo>
                      <a:lnTo>
                        <a:pt x="9288" y="3947"/>
                      </a:lnTo>
                      <a:lnTo>
                        <a:pt x="9379" y="3947"/>
                      </a:lnTo>
                      <a:lnTo>
                        <a:pt x="9430" y="4024"/>
                      </a:lnTo>
                      <a:lnTo>
                        <a:pt x="9271" y="4101"/>
                      </a:lnTo>
                      <a:lnTo>
                        <a:pt x="9201" y="4101"/>
                      </a:lnTo>
                      <a:lnTo>
                        <a:pt x="9032" y="4097"/>
                      </a:lnTo>
                      <a:lnTo>
                        <a:pt x="8740" y="4150"/>
                      </a:lnTo>
                      <a:lnTo>
                        <a:pt x="8658" y="4197"/>
                      </a:lnTo>
                      <a:lnTo>
                        <a:pt x="8563" y="4209"/>
                      </a:lnTo>
                      <a:lnTo>
                        <a:pt x="8577" y="4337"/>
                      </a:lnTo>
                      <a:lnTo>
                        <a:pt x="8570" y="4412"/>
                      </a:lnTo>
                      <a:lnTo>
                        <a:pt x="8489" y="4534"/>
                      </a:lnTo>
                      <a:lnTo>
                        <a:pt x="8440" y="4605"/>
                      </a:lnTo>
                      <a:lnTo>
                        <a:pt x="8461" y="4698"/>
                      </a:lnTo>
                      <a:lnTo>
                        <a:pt x="8465" y="4764"/>
                      </a:lnTo>
                      <a:lnTo>
                        <a:pt x="8354" y="4845"/>
                      </a:lnTo>
                      <a:lnTo>
                        <a:pt x="8308" y="4927"/>
                      </a:lnTo>
                      <a:cubicBezTo>
                        <a:pt x="8301" y="4953"/>
                        <a:pt x="8287" y="4978"/>
                        <a:pt x="8266" y="4998"/>
                      </a:cubicBezTo>
                      <a:cubicBezTo>
                        <a:pt x="8236" y="5028"/>
                        <a:pt x="8196" y="5049"/>
                        <a:pt x="8151" y="5056"/>
                      </a:cubicBezTo>
                      <a:lnTo>
                        <a:pt x="8058" y="5056"/>
                      </a:lnTo>
                      <a:lnTo>
                        <a:pt x="8051" y="4991"/>
                      </a:lnTo>
                      <a:lnTo>
                        <a:pt x="7907" y="4934"/>
                      </a:lnTo>
                      <a:lnTo>
                        <a:pt x="7812" y="4997"/>
                      </a:lnTo>
                      <a:lnTo>
                        <a:pt x="7724" y="5013"/>
                      </a:lnTo>
                      <a:lnTo>
                        <a:pt x="7561" y="5041"/>
                      </a:lnTo>
                      <a:lnTo>
                        <a:pt x="7480" y="4999"/>
                      </a:lnTo>
                      <a:lnTo>
                        <a:pt x="7380" y="4953"/>
                      </a:lnTo>
                      <a:lnTo>
                        <a:pt x="7241" y="4971"/>
                      </a:lnTo>
                      <a:lnTo>
                        <a:pt x="7162" y="4705"/>
                      </a:lnTo>
                      <a:lnTo>
                        <a:pt x="7026" y="4735"/>
                      </a:lnTo>
                      <a:lnTo>
                        <a:pt x="7047" y="4646"/>
                      </a:lnTo>
                      <a:lnTo>
                        <a:pt x="7116" y="4586"/>
                      </a:lnTo>
                      <a:lnTo>
                        <a:pt x="7116" y="4499"/>
                      </a:lnTo>
                      <a:lnTo>
                        <a:pt x="7061" y="4393"/>
                      </a:lnTo>
                      <a:lnTo>
                        <a:pt x="6903" y="4457"/>
                      </a:lnTo>
                      <a:lnTo>
                        <a:pt x="6791" y="4522"/>
                      </a:lnTo>
                      <a:lnTo>
                        <a:pt x="6590" y="4570"/>
                      </a:lnTo>
                      <a:lnTo>
                        <a:pt x="6604" y="4745"/>
                      </a:lnTo>
                      <a:lnTo>
                        <a:pt x="6646" y="4890"/>
                      </a:lnTo>
                      <a:lnTo>
                        <a:pt x="6657" y="5003"/>
                      </a:lnTo>
                      <a:lnTo>
                        <a:pt x="6616" y="5073"/>
                      </a:lnTo>
                      <a:lnTo>
                        <a:pt x="6393" y="5083"/>
                      </a:lnTo>
                      <a:lnTo>
                        <a:pt x="6291" y="5089"/>
                      </a:lnTo>
                      <a:lnTo>
                        <a:pt x="6158" y="5142"/>
                      </a:lnTo>
                      <a:lnTo>
                        <a:pt x="6105" y="5221"/>
                      </a:lnTo>
                      <a:lnTo>
                        <a:pt x="5976" y="5292"/>
                      </a:lnTo>
                      <a:lnTo>
                        <a:pt x="5873" y="5340"/>
                      </a:lnTo>
                      <a:lnTo>
                        <a:pt x="5688" y="5412"/>
                      </a:lnTo>
                      <a:lnTo>
                        <a:pt x="5586" y="5459"/>
                      </a:lnTo>
                      <a:lnTo>
                        <a:pt x="5498" y="5465"/>
                      </a:lnTo>
                      <a:lnTo>
                        <a:pt x="5491" y="5410"/>
                      </a:lnTo>
                      <a:cubicBezTo>
                        <a:pt x="5536" y="5395"/>
                        <a:pt x="5574" y="5368"/>
                        <a:pt x="5600" y="5332"/>
                      </a:cubicBezTo>
                      <a:cubicBezTo>
                        <a:pt x="5622" y="5302"/>
                        <a:pt x="5633" y="5267"/>
                        <a:pt x="5632" y="5231"/>
                      </a:cubicBezTo>
                      <a:cubicBezTo>
                        <a:pt x="5617" y="5192"/>
                        <a:pt x="5593" y="5155"/>
                        <a:pt x="5563" y="5124"/>
                      </a:cubicBezTo>
                      <a:cubicBezTo>
                        <a:pt x="5531" y="5091"/>
                        <a:pt x="5492" y="5064"/>
                        <a:pt x="5449" y="5044"/>
                      </a:cubicBezTo>
                      <a:cubicBezTo>
                        <a:pt x="5446" y="4976"/>
                        <a:pt x="5434" y="4908"/>
                        <a:pt x="5414" y="4841"/>
                      </a:cubicBezTo>
                      <a:cubicBezTo>
                        <a:pt x="5398" y="4788"/>
                        <a:pt x="5376" y="4736"/>
                        <a:pt x="5349" y="4686"/>
                      </a:cubicBezTo>
                      <a:lnTo>
                        <a:pt x="5240" y="4583"/>
                      </a:lnTo>
                      <a:cubicBezTo>
                        <a:pt x="5257" y="4530"/>
                        <a:pt x="5299" y="4487"/>
                        <a:pt x="5356" y="4462"/>
                      </a:cubicBezTo>
                      <a:cubicBezTo>
                        <a:pt x="5397" y="4443"/>
                        <a:pt x="5447" y="4435"/>
                        <a:pt x="5474" y="4402"/>
                      </a:cubicBezTo>
                      <a:cubicBezTo>
                        <a:pt x="5501" y="4370"/>
                        <a:pt x="5498" y="4326"/>
                        <a:pt x="5467" y="4296"/>
                      </a:cubicBezTo>
                      <a:cubicBezTo>
                        <a:pt x="5422" y="4252"/>
                        <a:pt x="5340" y="4254"/>
                        <a:pt x="5298" y="4300"/>
                      </a:cubicBezTo>
                      <a:lnTo>
                        <a:pt x="5476" y="4141"/>
                      </a:lnTo>
                      <a:lnTo>
                        <a:pt x="5504" y="4048"/>
                      </a:lnTo>
                      <a:lnTo>
                        <a:pt x="5356" y="4025"/>
                      </a:lnTo>
                      <a:lnTo>
                        <a:pt x="5248" y="4084"/>
                      </a:lnTo>
                      <a:lnTo>
                        <a:pt x="5144" y="4147"/>
                      </a:lnTo>
                      <a:close/>
                    </a:path>
                  </a:pathLst>
                </a:custGeom>
                <a:solidFill>
                  <a:srgbClr val="005A8A"/>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ïšľïḑe">
                  <a:extLst>
                    <a:ext uri="{FF2B5EF4-FFF2-40B4-BE49-F238E27FC236}">
                      <a16:creationId xmlns:a16="http://schemas.microsoft.com/office/drawing/2014/main" id="{0058A021-C20C-43F0-A679-24218210CD69}"/>
                    </a:ext>
                  </a:extLst>
                </p:cNvPr>
                <p:cNvSpPr/>
                <p:nvPr/>
              </p:nvSpPr>
              <p:spPr>
                <a:xfrm>
                  <a:off x="5700322" y="2706269"/>
                  <a:ext cx="90230" cy="63739"/>
                </a:xfrm>
                <a:custGeom>
                  <a:avLst/>
                  <a:gdLst/>
                  <a:ahLst/>
                  <a:cxnLst>
                    <a:cxn ang="0">
                      <a:pos x="wd2" y="hd2"/>
                    </a:cxn>
                    <a:cxn ang="5400000">
                      <a:pos x="wd2" y="hd2"/>
                    </a:cxn>
                    <a:cxn ang="10800000">
                      <a:pos x="wd2" y="hd2"/>
                    </a:cxn>
                    <a:cxn ang="16200000">
                      <a:pos x="wd2" y="hd2"/>
                    </a:cxn>
                  </a:cxnLst>
                  <a:rect l="0" t="0" r="r" b="b"/>
                  <a:pathLst>
                    <a:path w="21600" h="21600" extrusionOk="0">
                      <a:moveTo>
                        <a:pt x="9552" y="3048"/>
                      </a:moveTo>
                      <a:lnTo>
                        <a:pt x="8988" y="0"/>
                      </a:lnTo>
                      <a:lnTo>
                        <a:pt x="7149" y="1300"/>
                      </a:lnTo>
                      <a:lnTo>
                        <a:pt x="3657" y="2334"/>
                      </a:lnTo>
                      <a:lnTo>
                        <a:pt x="0" y="3641"/>
                      </a:lnTo>
                      <a:lnTo>
                        <a:pt x="2310" y="6398"/>
                      </a:lnTo>
                      <a:lnTo>
                        <a:pt x="507" y="9646"/>
                      </a:lnTo>
                      <a:lnTo>
                        <a:pt x="148" y="12031"/>
                      </a:lnTo>
                      <a:lnTo>
                        <a:pt x="609" y="16384"/>
                      </a:lnTo>
                      <a:lnTo>
                        <a:pt x="4761" y="18707"/>
                      </a:lnTo>
                      <a:lnTo>
                        <a:pt x="7067" y="21600"/>
                      </a:lnTo>
                      <a:cubicBezTo>
                        <a:pt x="7928" y="21195"/>
                        <a:pt x="8798" y="20832"/>
                        <a:pt x="9676" y="20512"/>
                      </a:cubicBezTo>
                      <a:cubicBezTo>
                        <a:pt x="11261" y="19935"/>
                        <a:pt x="12870" y="19499"/>
                        <a:pt x="14494" y="19206"/>
                      </a:cubicBezTo>
                      <a:cubicBezTo>
                        <a:pt x="15569" y="19227"/>
                        <a:pt x="16639" y="19007"/>
                        <a:pt x="17666" y="18553"/>
                      </a:cubicBezTo>
                      <a:cubicBezTo>
                        <a:pt x="18830" y="18037"/>
                        <a:pt x="19920" y="17229"/>
                        <a:pt x="20882" y="16167"/>
                      </a:cubicBezTo>
                      <a:lnTo>
                        <a:pt x="21600" y="13845"/>
                      </a:lnTo>
                      <a:lnTo>
                        <a:pt x="21292" y="10370"/>
                      </a:lnTo>
                      <a:lnTo>
                        <a:pt x="20997" y="5245"/>
                      </a:lnTo>
                      <a:lnTo>
                        <a:pt x="18440" y="5245"/>
                      </a:lnTo>
                      <a:lnTo>
                        <a:pt x="17262" y="6987"/>
                      </a:lnTo>
                      <a:lnTo>
                        <a:pt x="15775" y="5681"/>
                      </a:lnTo>
                      <a:lnTo>
                        <a:pt x="13571" y="5463"/>
                      </a:lnTo>
                      <a:lnTo>
                        <a:pt x="12091" y="5681"/>
                      </a:lnTo>
                      <a:lnTo>
                        <a:pt x="9195" y="6543"/>
                      </a:lnTo>
                      <a:lnTo>
                        <a:pt x="9552" y="3048"/>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ïṧľïḑé">
                  <a:extLst>
                    <a:ext uri="{FF2B5EF4-FFF2-40B4-BE49-F238E27FC236}">
                      <a16:creationId xmlns:a16="http://schemas.microsoft.com/office/drawing/2014/main" id="{7478F2F7-7124-4B03-9C96-6A77D1BA418B}"/>
                    </a:ext>
                  </a:extLst>
                </p:cNvPr>
                <p:cNvSpPr/>
                <p:nvPr/>
              </p:nvSpPr>
              <p:spPr>
                <a:xfrm>
                  <a:off x="5809435" y="2793913"/>
                  <a:ext cx="21279" cy="26775"/>
                </a:xfrm>
                <a:custGeom>
                  <a:avLst/>
                  <a:gdLst/>
                  <a:ahLst/>
                  <a:cxnLst>
                    <a:cxn ang="0">
                      <a:pos x="wd2" y="hd2"/>
                    </a:cxn>
                    <a:cxn ang="5400000">
                      <a:pos x="wd2" y="hd2"/>
                    </a:cxn>
                    <a:cxn ang="10800000">
                      <a:pos x="wd2" y="hd2"/>
                    </a:cxn>
                    <a:cxn ang="16200000">
                      <a:pos x="wd2" y="hd2"/>
                    </a:cxn>
                  </a:cxnLst>
                  <a:rect l="0" t="0" r="r" b="b"/>
                  <a:pathLst>
                    <a:path w="21600" h="21600" extrusionOk="0">
                      <a:moveTo>
                        <a:pt x="9207" y="0"/>
                      </a:moveTo>
                      <a:lnTo>
                        <a:pt x="650" y="5915"/>
                      </a:lnTo>
                      <a:lnTo>
                        <a:pt x="411" y="11257"/>
                      </a:lnTo>
                      <a:lnTo>
                        <a:pt x="0" y="17454"/>
                      </a:lnTo>
                      <a:lnTo>
                        <a:pt x="4997" y="21600"/>
                      </a:lnTo>
                      <a:lnTo>
                        <a:pt x="11194" y="15771"/>
                      </a:lnTo>
                      <a:lnTo>
                        <a:pt x="16412" y="8017"/>
                      </a:lnTo>
                      <a:lnTo>
                        <a:pt x="21600" y="1819"/>
                      </a:lnTo>
                      <a:lnTo>
                        <a:pt x="9207"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iṧḻîḓe">
                  <a:extLst>
                    <a:ext uri="{FF2B5EF4-FFF2-40B4-BE49-F238E27FC236}">
                      <a16:creationId xmlns:a16="http://schemas.microsoft.com/office/drawing/2014/main" id="{86CEA248-AEFA-47DE-926E-1158FBDB4AC3}"/>
                    </a:ext>
                  </a:extLst>
                </p:cNvPr>
                <p:cNvSpPr/>
                <p:nvPr/>
              </p:nvSpPr>
              <p:spPr>
                <a:xfrm>
                  <a:off x="5850726" y="2829701"/>
                  <a:ext cx="15846" cy="22305"/>
                </a:xfrm>
                <a:custGeom>
                  <a:avLst/>
                  <a:gdLst/>
                  <a:ahLst/>
                  <a:cxnLst>
                    <a:cxn ang="0">
                      <a:pos x="wd2" y="hd2"/>
                    </a:cxn>
                    <a:cxn ang="5400000">
                      <a:pos x="wd2" y="hd2"/>
                    </a:cxn>
                    <a:cxn ang="10800000">
                      <a:pos x="wd2" y="hd2"/>
                    </a:cxn>
                    <a:cxn ang="16200000">
                      <a:pos x="wd2" y="hd2"/>
                    </a:cxn>
                  </a:cxnLst>
                  <a:rect l="0" t="0" r="r" b="b"/>
                  <a:pathLst>
                    <a:path w="21600" h="21600" extrusionOk="0">
                      <a:moveTo>
                        <a:pt x="19940" y="0"/>
                      </a:moveTo>
                      <a:lnTo>
                        <a:pt x="6009" y="3733"/>
                      </a:lnTo>
                      <a:lnTo>
                        <a:pt x="0" y="16898"/>
                      </a:lnTo>
                      <a:lnTo>
                        <a:pt x="11683" y="21600"/>
                      </a:lnTo>
                      <a:lnTo>
                        <a:pt x="21600" y="9366"/>
                      </a:lnTo>
                      <a:lnTo>
                        <a:pt x="19940"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îšḷîdê">
                  <a:extLst>
                    <a:ext uri="{FF2B5EF4-FFF2-40B4-BE49-F238E27FC236}">
                      <a16:creationId xmlns:a16="http://schemas.microsoft.com/office/drawing/2014/main" id="{ACA5B71B-6431-4419-9B76-D49CED9A70E6}"/>
                    </a:ext>
                  </a:extLst>
                </p:cNvPr>
                <p:cNvSpPr/>
                <p:nvPr/>
              </p:nvSpPr>
              <p:spPr>
                <a:xfrm>
                  <a:off x="6079133" y="2891422"/>
                  <a:ext cx="15995" cy="26701"/>
                </a:xfrm>
                <a:custGeom>
                  <a:avLst/>
                  <a:gdLst/>
                  <a:ahLst/>
                  <a:cxnLst>
                    <a:cxn ang="0">
                      <a:pos x="wd2" y="hd2"/>
                    </a:cxn>
                    <a:cxn ang="5400000">
                      <a:pos x="wd2" y="hd2"/>
                    </a:cxn>
                    <a:cxn ang="10800000">
                      <a:pos x="wd2" y="hd2"/>
                    </a:cxn>
                    <a:cxn ang="16200000">
                      <a:pos x="wd2" y="hd2"/>
                    </a:cxn>
                  </a:cxnLst>
                  <a:rect l="0" t="0" r="r" b="b"/>
                  <a:pathLst>
                    <a:path w="21600" h="21600" extrusionOk="0">
                      <a:moveTo>
                        <a:pt x="11817" y="0"/>
                      </a:moveTo>
                      <a:lnTo>
                        <a:pt x="2891" y="5197"/>
                      </a:lnTo>
                      <a:lnTo>
                        <a:pt x="0" y="12807"/>
                      </a:lnTo>
                      <a:lnTo>
                        <a:pt x="2834" y="21600"/>
                      </a:lnTo>
                      <a:lnTo>
                        <a:pt x="11224" y="19348"/>
                      </a:lnTo>
                      <a:lnTo>
                        <a:pt x="19865" y="9995"/>
                      </a:lnTo>
                      <a:lnTo>
                        <a:pt x="21600" y="2242"/>
                      </a:lnTo>
                      <a:lnTo>
                        <a:pt x="11817"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îşľîdé">
                  <a:extLst>
                    <a:ext uri="{FF2B5EF4-FFF2-40B4-BE49-F238E27FC236}">
                      <a16:creationId xmlns:a16="http://schemas.microsoft.com/office/drawing/2014/main" id="{9AC99E2D-6A09-4B1D-BC66-8C2BB7AA09E5}"/>
                    </a:ext>
                  </a:extLst>
                </p:cNvPr>
                <p:cNvSpPr/>
                <p:nvPr/>
              </p:nvSpPr>
              <p:spPr>
                <a:xfrm>
                  <a:off x="6093112" y="2848954"/>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5709" y="0"/>
                      </a:moveTo>
                      <a:lnTo>
                        <a:pt x="0" y="11388"/>
                      </a:lnTo>
                      <a:lnTo>
                        <a:pt x="7334" y="20369"/>
                      </a:lnTo>
                      <a:lnTo>
                        <a:pt x="21600" y="21600"/>
                      </a:lnTo>
                      <a:lnTo>
                        <a:pt x="20974" y="9580"/>
                      </a:lnTo>
                      <a:lnTo>
                        <a:pt x="570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îṩ1íḓè">
                  <a:extLst>
                    <a:ext uri="{FF2B5EF4-FFF2-40B4-BE49-F238E27FC236}">
                      <a16:creationId xmlns:a16="http://schemas.microsoft.com/office/drawing/2014/main" id="{93E5CBB0-8C54-4F74-B74C-25B513AB0E91}"/>
                    </a:ext>
                  </a:extLst>
                </p:cNvPr>
                <p:cNvSpPr/>
                <p:nvPr/>
              </p:nvSpPr>
              <p:spPr>
                <a:xfrm>
                  <a:off x="6045295" y="2554151"/>
                  <a:ext cx="73978" cy="55667"/>
                </a:xfrm>
                <a:custGeom>
                  <a:avLst/>
                  <a:gdLst/>
                  <a:ahLst/>
                  <a:cxnLst>
                    <a:cxn ang="0">
                      <a:pos x="wd2" y="hd2"/>
                    </a:cxn>
                    <a:cxn ang="5400000">
                      <a:pos x="wd2" y="hd2"/>
                    </a:cxn>
                    <a:cxn ang="10800000">
                      <a:pos x="wd2" y="hd2"/>
                    </a:cxn>
                    <a:cxn ang="16200000">
                      <a:pos x="wd2" y="hd2"/>
                    </a:cxn>
                  </a:cxnLst>
                  <a:rect l="0" t="0" r="r" b="b"/>
                  <a:pathLst>
                    <a:path w="21510" h="20835" extrusionOk="0">
                      <a:moveTo>
                        <a:pt x="11611" y="1371"/>
                      </a:moveTo>
                      <a:lnTo>
                        <a:pt x="7704" y="3054"/>
                      </a:lnTo>
                      <a:lnTo>
                        <a:pt x="5225" y="4496"/>
                      </a:lnTo>
                      <a:lnTo>
                        <a:pt x="393" y="3785"/>
                      </a:lnTo>
                      <a:lnTo>
                        <a:pt x="0" y="7391"/>
                      </a:lnTo>
                      <a:lnTo>
                        <a:pt x="79" y="12280"/>
                      </a:lnTo>
                      <a:lnTo>
                        <a:pt x="2694" y="13401"/>
                      </a:lnTo>
                      <a:lnTo>
                        <a:pt x="4554" y="17730"/>
                      </a:lnTo>
                      <a:lnTo>
                        <a:pt x="4554" y="20835"/>
                      </a:lnTo>
                      <a:lnTo>
                        <a:pt x="8959" y="20374"/>
                      </a:lnTo>
                      <a:lnTo>
                        <a:pt x="9699" y="13171"/>
                      </a:lnTo>
                      <a:lnTo>
                        <a:pt x="12376" y="11498"/>
                      </a:lnTo>
                      <a:lnTo>
                        <a:pt x="13497" y="15986"/>
                      </a:lnTo>
                      <a:lnTo>
                        <a:pt x="16236" y="18862"/>
                      </a:lnTo>
                      <a:lnTo>
                        <a:pt x="19163" y="16938"/>
                      </a:lnTo>
                      <a:cubicBezTo>
                        <a:pt x="19086" y="15713"/>
                        <a:pt x="18832" y="14517"/>
                        <a:pt x="18415" y="13411"/>
                      </a:cubicBezTo>
                      <a:cubicBezTo>
                        <a:pt x="17915" y="12084"/>
                        <a:pt x="17192" y="10918"/>
                        <a:pt x="16298" y="9995"/>
                      </a:cubicBezTo>
                      <a:lnTo>
                        <a:pt x="19521" y="7380"/>
                      </a:lnTo>
                      <a:lnTo>
                        <a:pt x="21450" y="5217"/>
                      </a:lnTo>
                      <a:cubicBezTo>
                        <a:pt x="21600" y="4228"/>
                        <a:pt x="21467" y="3204"/>
                        <a:pt x="21077" y="2331"/>
                      </a:cubicBezTo>
                      <a:cubicBezTo>
                        <a:pt x="19965" y="-155"/>
                        <a:pt x="17387" y="-765"/>
                        <a:pt x="15660" y="1048"/>
                      </a:cubicBezTo>
                      <a:lnTo>
                        <a:pt x="11611" y="1371"/>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íṩļiḓê">
                  <a:extLst>
                    <a:ext uri="{FF2B5EF4-FFF2-40B4-BE49-F238E27FC236}">
                      <a16:creationId xmlns:a16="http://schemas.microsoft.com/office/drawing/2014/main" id="{0AF52645-14CA-400D-BC54-B5C69192B819}"/>
                    </a:ext>
                  </a:extLst>
                </p:cNvPr>
                <p:cNvSpPr/>
                <p:nvPr/>
              </p:nvSpPr>
              <p:spPr>
                <a:xfrm>
                  <a:off x="6197958" y="2524782"/>
                  <a:ext cx="32427" cy="24612"/>
                </a:xfrm>
                <a:custGeom>
                  <a:avLst/>
                  <a:gdLst/>
                  <a:ahLst/>
                  <a:cxnLst>
                    <a:cxn ang="0">
                      <a:pos x="wd2" y="hd2"/>
                    </a:cxn>
                    <a:cxn ang="5400000">
                      <a:pos x="wd2" y="hd2"/>
                    </a:cxn>
                    <a:cxn ang="10800000">
                      <a:pos x="wd2" y="hd2"/>
                    </a:cxn>
                    <a:cxn ang="16200000">
                      <a:pos x="wd2" y="hd2"/>
                    </a:cxn>
                  </a:cxnLst>
                  <a:rect l="0" t="0" r="r" b="b"/>
                  <a:pathLst>
                    <a:path w="21600" h="21154" extrusionOk="0">
                      <a:moveTo>
                        <a:pt x="4155" y="0"/>
                      </a:moveTo>
                      <a:lnTo>
                        <a:pt x="0" y="5109"/>
                      </a:lnTo>
                      <a:lnTo>
                        <a:pt x="730" y="14871"/>
                      </a:lnTo>
                      <a:cubicBezTo>
                        <a:pt x="2403" y="16735"/>
                        <a:pt x="4304" y="18228"/>
                        <a:pt x="6356" y="19289"/>
                      </a:cubicBezTo>
                      <a:cubicBezTo>
                        <a:pt x="9840" y="21090"/>
                        <a:pt x="13644" y="21600"/>
                        <a:pt x="17339" y="20762"/>
                      </a:cubicBezTo>
                      <a:lnTo>
                        <a:pt x="21600" y="16344"/>
                      </a:lnTo>
                      <a:lnTo>
                        <a:pt x="20175" y="5323"/>
                      </a:lnTo>
                      <a:lnTo>
                        <a:pt x="13933" y="7532"/>
                      </a:lnTo>
                      <a:lnTo>
                        <a:pt x="9956" y="5346"/>
                      </a:lnTo>
                      <a:lnTo>
                        <a:pt x="4155"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ï$lîdê">
                  <a:extLst>
                    <a:ext uri="{FF2B5EF4-FFF2-40B4-BE49-F238E27FC236}">
                      <a16:creationId xmlns:a16="http://schemas.microsoft.com/office/drawing/2014/main" id="{058D0F79-D6B4-43FF-B327-1E61C58A1825}"/>
                    </a:ext>
                  </a:extLst>
                </p:cNvPr>
                <p:cNvSpPr/>
                <p:nvPr/>
              </p:nvSpPr>
              <p:spPr>
                <a:xfrm>
                  <a:off x="6285755" y="2561151"/>
                  <a:ext cx="70797" cy="104700"/>
                </a:xfrm>
                <a:custGeom>
                  <a:avLst/>
                  <a:gdLst/>
                  <a:ahLst/>
                  <a:cxnLst>
                    <a:cxn ang="0">
                      <a:pos x="wd2" y="hd2"/>
                    </a:cxn>
                    <a:cxn ang="5400000">
                      <a:pos x="wd2" y="hd2"/>
                    </a:cxn>
                    <a:cxn ang="10800000">
                      <a:pos x="wd2" y="hd2"/>
                    </a:cxn>
                    <a:cxn ang="16200000">
                      <a:pos x="wd2" y="hd2"/>
                    </a:cxn>
                  </a:cxnLst>
                  <a:rect l="0" t="0" r="r" b="b"/>
                  <a:pathLst>
                    <a:path w="21600" h="21553" extrusionOk="0">
                      <a:moveTo>
                        <a:pt x="4816" y="883"/>
                      </a:moveTo>
                      <a:lnTo>
                        <a:pt x="5109" y="2662"/>
                      </a:lnTo>
                      <a:lnTo>
                        <a:pt x="4304" y="4157"/>
                      </a:lnTo>
                      <a:lnTo>
                        <a:pt x="1171" y="4808"/>
                      </a:lnTo>
                      <a:lnTo>
                        <a:pt x="0" y="5953"/>
                      </a:lnTo>
                      <a:lnTo>
                        <a:pt x="50" y="8329"/>
                      </a:lnTo>
                      <a:lnTo>
                        <a:pt x="1682" y="9959"/>
                      </a:lnTo>
                      <a:lnTo>
                        <a:pt x="2075" y="11546"/>
                      </a:lnTo>
                      <a:lnTo>
                        <a:pt x="3577" y="13838"/>
                      </a:lnTo>
                      <a:lnTo>
                        <a:pt x="5602" y="16522"/>
                      </a:lnTo>
                      <a:lnTo>
                        <a:pt x="3781" y="17271"/>
                      </a:lnTo>
                      <a:lnTo>
                        <a:pt x="6329" y="18896"/>
                      </a:lnTo>
                      <a:lnTo>
                        <a:pt x="10641" y="20087"/>
                      </a:lnTo>
                      <a:lnTo>
                        <a:pt x="15344" y="21542"/>
                      </a:lnTo>
                      <a:cubicBezTo>
                        <a:pt x="16624" y="21600"/>
                        <a:pt x="17905" y="21433"/>
                        <a:pt x="19061" y="21057"/>
                      </a:cubicBezTo>
                      <a:cubicBezTo>
                        <a:pt x="20046" y="20736"/>
                        <a:pt x="20914" y="20271"/>
                        <a:pt x="21600" y="19695"/>
                      </a:cubicBezTo>
                      <a:lnTo>
                        <a:pt x="18268" y="18021"/>
                      </a:lnTo>
                      <a:lnTo>
                        <a:pt x="12789" y="16169"/>
                      </a:lnTo>
                      <a:cubicBezTo>
                        <a:pt x="11540" y="15588"/>
                        <a:pt x="10440" y="14873"/>
                        <a:pt x="9531" y="14053"/>
                      </a:cubicBezTo>
                      <a:cubicBezTo>
                        <a:pt x="8004" y="12677"/>
                        <a:pt x="7058" y="11047"/>
                        <a:pt x="6794" y="9337"/>
                      </a:cubicBezTo>
                      <a:lnTo>
                        <a:pt x="8036" y="5987"/>
                      </a:lnTo>
                      <a:lnTo>
                        <a:pt x="10910" y="3033"/>
                      </a:lnTo>
                      <a:lnTo>
                        <a:pt x="10649" y="400"/>
                      </a:lnTo>
                      <a:lnTo>
                        <a:pt x="8167" y="0"/>
                      </a:lnTo>
                      <a:lnTo>
                        <a:pt x="4816" y="883"/>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îṡliḋé">
                  <a:extLst>
                    <a:ext uri="{FF2B5EF4-FFF2-40B4-BE49-F238E27FC236}">
                      <a16:creationId xmlns:a16="http://schemas.microsoft.com/office/drawing/2014/main" id="{87E9C903-E946-42C9-B88A-606005548434}"/>
                    </a:ext>
                  </a:extLst>
                </p:cNvPr>
                <p:cNvSpPr/>
                <p:nvPr/>
              </p:nvSpPr>
              <p:spPr>
                <a:xfrm>
                  <a:off x="6174316" y="2542132"/>
                  <a:ext cx="35655" cy="15846"/>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972" y="5474"/>
                      </a:lnTo>
                      <a:lnTo>
                        <a:pt x="0" y="16008"/>
                      </a:lnTo>
                      <a:lnTo>
                        <a:pt x="7225" y="19736"/>
                      </a:lnTo>
                      <a:lnTo>
                        <a:pt x="17448" y="21600"/>
                      </a:lnTo>
                      <a:lnTo>
                        <a:pt x="21600" y="17250"/>
                      </a:lnTo>
                      <a:lnTo>
                        <a:pt x="13069" y="10419"/>
                      </a:lnTo>
                      <a:lnTo>
                        <a:pt x="7085"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íśļíḍé">
                  <a:extLst>
                    <a:ext uri="{FF2B5EF4-FFF2-40B4-BE49-F238E27FC236}">
                      <a16:creationId xmlns:a16="http://schemas.microsoft.com/office/drawing/2014/main" id="{36CA2981-9B2F-48CC-9769-73F8160629C5}"/>
                    </a:ext>
                  </a:extLst>
                </p:cNvPr>
                <p:cNvSpPr/>
                <p:nvPr/>
              </p:nvSpPr>
              <p:spPr>
                <a:xfrm>
                  <a:off x="6311431" y="2675206"/>
                  <a:ext cx="21133" cy="15846"/>
                </a:xfrm>
                <a:custGeom>
                  <a:avLst/>
                  <a:gdLst/>
                  <a:ahLst/>
                  <a:cxnLst>
                    <a:cxn ang="0">
                      <a:pos x="wd2" y="hd2"/>
                    </a:cxn>
                    <a:cxn ang="5400000">
                      <a:pos x="wd2" y="hd2"/>
                    </a:cxn>
                    <a:cxn ang="10800000">
                      <a:pos x="wd2" y="hd2"/>
                    </a:cxn>
                    <a:cxn ang="16200000">
                      <a:pos x="wd2" y="hd2"/>
                    </a:cxn>
                  </a:cxnLst>
                  <a:rect l="0" t="0" r="r" b="b"/>
                  <a:pathLst>
                    <a:path w="21600" h="21600" extrusionOk="0">
                      <a:moveTo>
                        <a:pt x="0" y="4135"/>
                      </a:moveTo>
                      <a:lnTo>
                        <a:pt x="12337" y="0"/>
                      </a:lnTo>
                      <a:lnTo>
                        <a:pt x="21600" y="7234"/>
                      </a:lnTo>
                      <a:lnTo>
                        <a:pt x="19684" y="17746"/>
                      </a:lnTo>
                      <a:lnTo>
                        <a:pt x="3843" y="21600"/>
                      </a:lnTo>
                      <a:lnTo>
                        <a:pt x="0" y="4135"/>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iSļïḓè">
                  <a:extLst>
                    <a:ext uri="{FF2B5EF4-FFF2-40B4-BE49-F238E27FC236}">
                      <a16:creationId xmlns:a16="http://schemas.microsoft.com/office/drawing/2014/main" id="{D8F24CE9-D213-4A1B-A1D6-0F54E9ED23AD}"/>
                    </a:ext>
                  </a:extLst>
                </p:cNvPr>
                <p:cNvSpPr/>
                <p:nvPr/>
              </p:nvSpPr>
              <p:spPr>
                <a:xfrm>
                  <a:off x="6362710" y="2545929"/>
                  <a:ext cx="25401" cy="1584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5068" y="0"/>
                      </a:lnTo>
                      <a:lnTo>
                        <a:pt x="21600" y="20842"/>
                      </a:lnTo>
                      <a:lnTo>
                        <a:pt x="11129" y="21600"/>
                      </a:lnTo>
                      <a:lnTo>
                        <a:pt x="4232" y="12381"/>
                      </a:lnTo>
                      <a:lnTo>
                        <a:pt x="0"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íŝ1îdè">
                  <a:extLst>
                    <a:ext uri="{FF2B5EF4-FFF2-40B4-BE49-F238E27FC236}">
                      <a16:creationId xmlns:a16="http://schemas.microsoft.com/office/drawing/2014/main" id="{B6AD29CC-3CFC-405F-921B-B2454D8223C8}"/>
                    </a:ext>
                  </a:extLst>
                </p:cNvPr>
                <p:cNvSpPr/>
                <p:nvPr/>
              </p:nvSpPr>
              <p:spPr>
                <a:xfrm>
                  <a:off x="7273785" y="3477111"/>
                  <a:ext cx="21636" cy="85733"/>
                </a:xfrm>
                <a:custGeom>
                  <a:avLst/>
                  <a:gdLst/>
                  <a:ahLst/>
                  <a:cxnLst>
                    <a:cxn ang="0">
                      <a:pos x="wd2" y="hd2"/>
                    </a:cxn>
                    <a:cxn ang="5400000">
                      <a:pos x="wd2" y="hd2"/>
                    </a:cxn>
                    <a:cxn ang="10800000">
                      <a:pos x="wd2" y="hd2"/>
                    </a:cxn>
                    <a:cxn ang="16200000">
                      <a:pos x="wd2" y="hd2"/>
                    </a:cxn>
                  </a:cxnLst>
                  <a:rect l="0" t="0" r="r" b="b"/>
                  <a:pathLst>
                    <a:path w="21600" h="21600" extrusionOk="0">
                      <a:moveTo>
                        <a:pt x="2566" y="0"/>
                      </a:moveTo>
                      <a:lnTo>
                        <a:pt x="0" y="3702"/>
                      </a:lnTo>
                      <a:lnTo>
                        <a:pt x="4134" y="6979"/>
                      </a:lnTo>
                      <a:lnTo>
                        <a:pt x="11935" y="11996"/>
                      </a:lnTo>
                      <a:lnTo>
                        <a:pt x="8728" y="15935"/>
                      </a:lnTo>
                      <a:lnTo>
                        <a:pt x="16067" y="21600"/>
                      </a:lnTo>
                      <a:lnTo>
                        <a:pt x="19274" y="18262"/>
                      </a:lnTo>
                      <a:lnTo>
                        <a:pt x="17350" y="15847"/>
                      </a:lnTo>
                      <a:lnTo>
                        <a:pt x="21600" y="12725"/>
                      </a:lnTo>
                      <a:lnTo>
                        <a:pt x="15399" y="9495"/>
                      </a:lnTo>
                      <a:lnTo>
                        <a:pt x="11337" y="3243"/>
                      </a:lnTo>
                      <a:lnTo>
                        <a:pt x="2566"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lïḓê">
                  <a:extLst>
                    <a:ext uri="{FF2B5EF4-FFF2-40B4-BE49-F238E27FC236}">
                      <a16:creationId xmlns:a16="http://schemas.microsoft.com/office/drawing/2014/main" id="{093E5E53-F208-4774-A9B1-F0E17258811A}"/>
                    </a:ext>
                  </a:extLst>
                </p:cNvPr>
                <p:cNvSpPr/>
                <p:nvPr/>
              </p:nvSpPr>
              <p:spPr>
                <a:xfrm>
                  <a:off x="6569221" y="4213596"/>
                  <a:ext cx="17151" cy="19396"/>
                </a:xfrm>
                <a:custGeom>
                  <a:avLst/>
                  <a:gdLst/>
                  <a:ahLst/>
                  <a:cxnLst>
                    <a:cxn ang="0">
                      <a:pos x="wd2" y="hd2"/>
                    </a:cxn>
                    <a:cxn ang="5400000">
                      <a:pos x="wd2" y="hd2"/>
                    </a:cxn>
                    <a:cxn ang="10800000">
                      <a:pos x="wd2" y="hd2"/>
                    </a:cxn>
                    <a:cxn ang="16200000">
                      <a:pos x="wd2" y="hd2"/>
                    </a:cxn>
                  </a:cxnLst>
                  <a:rect l="0" t="0" r="r" b="b"/>
                  <a:pathLst>
                    <a:path w="21600" h="21600" extrusionOk="0">
                      <a:moveTo>
                        <a:pt x="7955" y="0"/>
                      </a:moveTo>
                      <a:lnTo>
                        <a:pt x="0" y="7659"/>
                      </a:lnTo>
                      <a:lnTo>
                        <a:pt x="4614" y="21600"/>
                      </a:lnTo>
                      <a:lnTo>
                        <a:pt x="19982" y="20169"/>
                      </a:lnTo>
                      <a:lnTo>
                        <a:pt x="21600" y="6129"/>
                      </a:lnTo>
                      <a:lnTo>
                        <a:pt x="7955"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îšḻîdé">
                  <a:extLst>
                    <a:ext uri="{FF2B5EF4-FFF2-40B4-BE49-F238E27FC236}">
                      <a16:creationId xmlns:a16="http://schemas.microsoft.com/office/drawing/2014/main" id="{1293D085-2C4E-4FF0-BAA7-7B2ED1703756}"/>
                    </a:ext>
                  </a:extLst>
                </p:cNvPr>
                <p:cNvSpPr/>
                <p:nvPr/>
              </p:nvSpPr>
              <p:spPr>
                <a:xfrm>
                  <a:off x="6595142" y="4312461"/>
                  <a:ext cx="166909" cy="261209"/>
                </a:xfrm>
                <a:custGeom>
                  <a:avLst/>
                  <a:gdLst/>
                  <a:ahLst/>
                  <a:cxnLst>
                    <a:cxn ang="0">
                      <a:pos x="wd2" y="hd2"/>
                    </a:cxn>
                    <a:cxn ang="5400000">
                      <a:pos x="wd2" y="hd2"/>
                    </a:cxn>
                    <a:cxn ang="10800000">
                      <a:pos x="wd2" y="hd2"/>
                    </a:cxn>
                    <a:cxn ang="16200000">
                      <a:pos x="wd2" y="hd2"/>
                    </a:cxn>
                  </a:cxnLst>
                  <a:rect l="0" t="0" r="r" b="b"/>
                  <a:pathLst>
                    <a:path w="21600" h="21600" extrusionOk="0">
                      <a:moveTo>
                        <a:pt x="18346" y="656"/>
                      </a:moveTo>
                      <a:lnTo>
                        <a:pt x="17957" y="1574"/>
                      </a:lnTo>
                      <a:lnTo>
                        <a:pt x="17583" y="2358"/>
                      </a:lnTo>
                      <a:lnTo>
                        <a:pt x="16509" y="2674"/>
                      </a:lnTo>
                      <a:lnTo>
                        <a:pt x="15882" y="3110"/>
                      </a:lnTo>
                      <a:lnTo>
                        <a:pt x="14980" y="4206"/>
                      </a:lnTo>
                      <a:cubicBezTo>
                        <a:pt x="14751" y="4683"/>
                        <a:pt x="14298" y="5103"/>
                        <a:pt x="13683" y="5410"/>
                      </a:cubicBezTo>
                      <a:cubicBezTo>
                        <a:pt x="13153" y="5675"/>
                        <a:pt x="12527" y="5843"/>
                        <a:pt x="11935" y="6048"/>
                      </a:cubicBezTo>
                      <a:cubicBezTo>
                        <a:pt x="11077" y="6344"/>
                        <a:pt x="10290" y="6720"/>
                        <a:pt x="9421" y="7004"/>
                      </a:cubicBezTo>
                      <a:cubicBezTo>
                        <a:pt x="8684" y="7244"/>
                        <a:pt x="7895" y="7417"/>
                        <a:pt x="7190" y="7694"/>
                      </a:cubicBezTo>
                      <a:cubicBezTo>
                        <a:pt x="6649" y="7907"/>
                        <a:pt x="6169" y="8176"/>
                        <a:pt x="5769" y="8491"/>
                      </a:cubicBezTo>
                      <a:cubicBezTo>
                        <a:pt x="5991" y="8843"/>
                        <a:pt x="5996" y="9235"/>
                        <a:pt x="5785" y="9589"/>
                      </a:cubicBezTo>
                      <a:cubicBezTo>
                        <a:pt x="5558" y="9971"/>
                        <a:pt x="5098" y="10277"/>
                        <a:pt x="4510" y="10439"/>
                      </a:cubicBezTo>
                      <a:lnTo>
                        <a:pt x="4024" y="11322"/>
                      </a:lnTo>
                      <a:lnTo>
                        <a:pt x="4213" y="12258"/>
                      </a:lnTo>
                      <a:lnTo>
                        <a:pt x="5210" y="13905"/>
                      </a:lnTo>
                      <a:cubicBezTo>
                        <a:pt x="4957" y="14169"/>
                        <a:pt x="4679" y="14423"/>
                        <a:pt x="4379" y="14666"/>
                      </a:cubicBezTo>
                      <a:cubicBezTo>
                        <a:pt x="3928" y="15031"/>
                        <a:pt x="3420" y="15373"/>
                        <a:pt x="2771" y="15585"/>
                      </a:cubicBezTo>
                      <a:cubicBezTo>
                        <a:pt x="2257" y="15753"/>
                        <a:pt x="1679" y="15828"/>
                        <a:pt x="1177" y="16010"/>
                      </a:cubicBezTo>
                      <a:cubicBezTo>
                        <a:pt x="654" y="16198"/>
                        <a:pt x="241" y="16490"/>
                        <a:pt x="0" y="16842"/>
                      </a:cubicBezTo>
                      <a:lnTo>
                        <a:pt x="193" y="17780"/>
                      </a:lnTo>
                      <a:lnTo>
                        <a:pt x="1083" y="18820"/>
                      </a:lnTo>
                      <a:lnTo>
                        <a:pt x="671" y="20573"/>
                      </a:lnTo>
                      <a:lnTo>
                        <a:pt x="1946" y="21387"/>
                      </a:lnTo>
                      <a:lnTo>
                        <a:pt x="3470" y="21600"/>
                      </a:lnTo>
                      <a:lnTo>
                        <a:pt x="4741" y="21423"/>
                      </a:lnTo>
                      <a:lnTo>
                        <a:pt x="5652" y="20734"/>
                      </a:lnTo>
                      <a:cubicBezTo>
                        <a:pt x="5932" y="20736"/>
                        <a:pt x="6210" y="20718"/>
                        <a:pt x="6484" y="20681"/>
                      </a:cubicBezTo>
                      <a:cubicBezTo>
                        <a:pt x="6925" y="20622"/>
                        <a:pt x="7347" y="20514"/>
                        <a:pt x="7731" y="20363"/>
                      </a:cubicBezTo>
                      <a:cubicBezTo>
                        <a:pt x="8200" y="20254"/>
                        <a:pt x="8619" y="20071"/>
                        <a:pt x="8950" y="19831"/>
                      </a:cubicBezTo>
                      <a:cubicBezTo>
                        <a:pt x="9783" y="19228"/>
                        <a:pt x="9969" y="18363"/>
                        <a:pt x="9421" y="17638"/>
                      </a:cubicBezTo>
                      <a:cubicBezTo>
                        <a:pt x="10257" y="17002"/>
                        <a:pt x="10990" y="16314"/>
                        <a:pt x="11610" y="15584"/>
                      </a:cubicBezTo>
                      <a:cubicBezTo>
                        <a:pt x="12304" y="14766"/>
                        <a:pt x="12851" y="13900"/>
                        <a:pt x="13518" y="13072"/>
                      </a:cubicBezTo>
                      <a:cubicBezTo>
                        <a:pt x="13882" y="12622"/>
                        <a:pt x="14280" y="12184"/>
                        <a:pt x="14679" y="11746"/>
                      </a:cubicBezTo>
                      <a:cubicBezTo>
                        <a:pt x="15331" y="11031"/>
                        <a:pt x="15984" y="10317"/>
                        <a:pt x="16591" y="9586"/>
                      </a:cubicBezTo>
                      <a:cubicBezTo>
                        <a:pt x="16949" y="9155"/>
                        <a:pt x="17291" y="8718"/>
                        <a:pt x="17616" y="8276"/>
                      </a:cubicBezTo>
                      <a:lnTo>
                        <a:pt x="18697" y="7481"/>
                      </a:lnTo>
                      <a:lnTo>
                        <a:pt x="19552" y="6532"/>
                      </a:lnTo>
                      <a:cubicBezTo>
                        <a:pt x="19540" y="6337"/>
                        <a:pt x="19648" y="6147"/>
                        <a:pt x="19854" y="6003"/>
                      </a:cubicBezTo>
                      <a:cubicBezTo>
                        <a:pt x="20199" y="5761"/>
                        <a:pt x="20745" y="5686"/>
                        <a:pt x="21215" y="5815"/>
                      </a:cubicBezTo>
                      <a:lnTo>
                        <a:pt x="21600" y="4808"/>
                      </a:lnTo>
                      <a:lnTo>
                        <a:pt x="21600" y="3092"/>
                      </a:lnTo>
                      <a:lnTo>
                        <a:pt x="20741" y="1552"/>
                      </a:lnTo>
                      <a:lnTo>
                        <a:pt x="20159" y="826"/>
                      </a:lnTo>
                      <a:lnTo>
                        <a:pt x="19743" y="102"/>
                      </a:lnTo>
                      <a:lnTo>
                        <a:pt x="18701" y="0"/>
                      </a:lnTo>
                      <a:lnTo>
                        <a:pt x="18346" y="656"/>
                      </a:lnTo>
                      <a:close/>
                    </a:path>
                  </a:pathLst>
                </a:custGeom>
                <a:solidFill>
                  <a:srgbClr val="005A8A"/>
                </a:solidFill>
                <a:ln w="12700" cap="flat">
                  <a:noFill/>
                  <a:miter lim="400000"/>
                </a:ln>
                <a:effectLst/>
              </p:spPr>
              <p:txBody>
                <a:bodyPr wrap="square" lIns="91440" tIns="45720" rIns="91440" bIns="45720" anchor="ctr">
                  <a:normAutofit fontScale="70000" lnSpcReduction="20000"/>
                </a:bodyPr>
                <a:lstStyle/>
                <a:p>
                  <a:pPr algn="ctr"/>
                  <a:endParaRPr>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íślîḋé">
                  <a:extLst>
                    <a:ext uri="{FF2B5EF4-FFF2-40B4-BE49-F238E27FC236}">
                      <a16:creationId xmlns:a16="http://schemas.microsoft.com/office/drawing/2014/main" id="{83EC6E96-A852-4376-89CA-F50B4A88B836}"/>
                    </a:ext>
                  </a:extLst>
                </p:cNvPr>
                <p:cNvSpPr/>
                <p:nvPr/>
              </p:nvSpPr>
              <p:spPr>
                <a:xfrm>
                  <a:off x="6852551" y="4416527"/>
                  <a:ext cx="17046" cy="21960"/>
                </a:xfrm>
                <a:custGeom>
                  <a:avLst/>
                  <a:gdLst/>
                  <a:ahLst/>
                  <a:cxnLst>
                    <a:cxn ang="0">
                      <a:pos x="wd2" y="hd2"/>
                    </a:cxn>
                    <a:cxn ang="5400000">
                      <a:pos x="wd2" y="hd2"/>
                    </a:cxn>
                    <a:cxn ang="10800000">
                      <a:pos x="wd2" y="hd2"/>
                    </a:cxn>
                    <a:cxn ang="16200000">
                      <a:pos x="wd2" y="hd2"/>
                    </a:cxn>
                  </a:cxnLst>
                  <a:rect l="0" t="0" r="r" b="b"/>
                  <a:pathLst>
                    <a:path w="21600" h="21600" extrusionOk="0">
                      <a:moveTo>
                        <a:pt x="16859" y="0"/>
                      </a:moveTo>
                      <a:lnTo>
                        <a:pt x="6955" y="3766"/>
                      </a:lnTo>
                      <a:lnTo>
                        <a:pt x="0" y="12807"/>
                      </a:lnTo>
                      <a:lnTo>
                        <a:pt x="1520" y="21600"/>
                      </a:lnTo>
                      <a:lnTo>
                        <a:pt x="11830" y="18440"/>
                      </a:lnTo>
                      <a:lnTo>
                        <a:pt x="21600" y="7067"/>
                      </a:lnTo>
                      <a:lnTo>
                        <a:pt x="1685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ïş1ïďé">
                  <a:extLst>
                    <a:ext uri="{FF2B5EF4-FFF2-40B4-BE49-F238E27FC236}">
                      <a16:creationId xmlns:a16="http://schemas.microsoft.com/office/drawing/2014/main" id="{ECC86889-8CC6-4BC9-AD46-7C59190063B8}"/>
                    </a:ext>
                  </a:extLst>
                </p:cNvPr>
                <p:cNvSpPr/>
                <p:nvPr/>
              </p:nvSpPr>
              <p:spPr>
                <a:xfrm>
                  <a:off x="6813417" y="444348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4812" y="0"/>
                      </a:moveTo>
                      <a:lnTo>
                        <a:pt x="4681" y="6372"/>
                      </a:lnTo>
                      <a:lnTo>
                        <a:pt x="0" y="21600"/>
                      </a:lnTo>
                      <a:lnTo>
                        <a:pt x="14684" y="16243"/>
                      </a:lnTo>
                      <a:lnTo>
                        <a:pt x="21600" y="8805"/>
                      </a:lnTo>
                      <a:lnTo>
                        <a:pt x="14812"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išļïḋè">
                  <a:extLst>
                    <a:ext uri="{FF2B5EF4-FFF2-40B4-BE49-F238E27FC236}">
                      <a16:creationId xmlns:a16="http://schemas.microsoft.com/office/drawing/2014/main" id="{6A8470E7-3992-4B5F-886B-744F29B23FB0}"/>
                    </a:ext>
                  </a:extLst>
                </p:cNvPr>
                <p:cNvSpPr/>
                <p:nvPr/>
              </p:nvSpPr>
              <p:spPr>
                <a:xfrm>
                  <a:off x="6657771" y="4345698"/>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8649" y="0"/>
                      </a:moveTo>
                      <a:lnTo>
                        <a:pt x="0" y="10705"/>
                      </a:lnTo>
                      <a:lnTo>
                        <a:pt x="6331" y="21600"/>
                      </a:lnTo>
                      <a:lnTo>
                        <a:pt x="21600" y="11002"/>
                      </a:lnTo>
                      <a:lnTo>
                        <a:pt x="864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ïsľïḑè">
                  <a:extLst>
                    <a:ext uri="{FF2B5EF4-FFF2-40B4-BE49-F238E27FC236}">
                      <a16:creationId xmlns:a16="http://schemas.microsoft.com/office/drawing/2014/main" id="{8097355F-CB0F-41E2-B757-B0E8547B942A}"/>
                    </a:ext>
                  </a:extLst>
                </p:cNvPr>
                <p:cNvSpPr/>
                <p:nvPr/>
              </p:nvSpPr>
              <p:spPr>
                <a:xfrm>
                  <a:off x="6646139" y="4336938"/>
                  <a:ext cx="15847" cy="15846"/>
                </a:xfrm>
                <a:custGeom>
                  <a:avLst/>
                  <a:gdLst/>
                  <a:ahLst/>
                  <a:cxnLst>
                    <a:cxn ang="0">
                      <a:pos x="wd2" y="hd2"/>
                    </a:cxn>
                    <a:cxn ang="5400000">
                      <a:pos x="wd2" y="hd2"/>
                    </a:cxn>
                    <a:cxn ang="10800000">
                      <a:pos x="wd2" y="hd2"/>
                    </a:cxn>
                    <a:cxn ang="16200000">
                      <a:pos x="wd2" y="hd2"/>
                    </a:cxn>
                  </a:cxnLst>
                  <a:rect l="0" t="0" r="r" b="b"/>
                  <a:pathLst>
                    <a:path w="21600" h="21600" extrusionOk="0">
                      <a:moveTo>
                        <a:pt x="7759" y="0"/>
                      </a:moveTo>
                      <a:lnTo>
                        <a:pt x="41" y="9426"/>
                      </a:lnTo>
                      <a:lnTo>
                        <a:pt x="0" y="21600"/>
                      </a:lnTo>
                      <a:lnTo>
                        <a:pt x="12649" y="16740"/>
                      </a:lnTo>
                      <a:lnTo>
                        <a:pt x="21600" y="5613"/>
                      </a:lnTo>
                      <a:lnTo>
                        <a:pt x="7759"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íṡľîḓé">
                  <a:extLst>
                    <a:ext uri="{FF2B5EF4-FFF2-40B4-BE49-F238E27FC236}">
                      <a16:creationId xmlns:a16="http://schemas.microsoft.com/office/drawing/2014/main" id="{9A81129E-77C3-4480-BFB2-3AF00F385022}"/>
                    </a:ext>
                  </a:extLst>
                </p:cNvPr>
                <p:cNvSpPr/>
                <p:nvPr/>
              </p:nvSpPr>
              <p:spPr>
                <a:xfrm>
                  <a:off x="5896709" y="3183452"/>
                  <a:ext cx="39984" cy="96359"/>
                </a:xfrm>
                <a:custGeom>
                  <a:avLst/>
                  <a:gdLst/>
                  <a:ahLst/>
                  <a:cxnLst>
                    <a:cxn ang="0">
                      <a:pos x="wd2" y="hd2"/>
                    </a:cxn>
                    <a:cxn ang="5400000">
                      <a:pos x="wd2" y="hd2"/>
                    </a:cxn>
                    <a:cxn ang="10800000">
                      <a:pos x="wd2" y="hd2"/>
                    </a:cxn>
                    <a:cxn ang="16200000">
                      <a:pos x="wd2" y="hd2"/>
                    </a:cxn>
                  </a:cxnLst>
                  <a:rect l="0" t="0" r="r" b="b"/>
                  <a:pathLst>
                    <a:path w="21600" h="21600" extrusionOk="0">
                      <a:moveTo>
                        <a:pt x="11706" y="1646"/>
                      </a:moveTo>
                      <a:lnTo>
                        <a:pt x="8506" y="3359"/>
                      </a:lnTo>
                      <a:lnTo>
                        <a:pt x="11870" y="6185"/>
                      </a:lnTo>
                      <a:lnTo>
                        <a:pt x="14695" y="10345"/>
                      </a:lnTo>
                      <a:lnTo>
                        <a:pt x="8309" y="8432"/>
                      </a:lnTo>
                      <a:lnTo>
                        <a:pt x="3822" y="10864"/>
                      </a:lnTo>
                      <a:lnTo>
                        <a:pt x="4782" y="14064"/>
                      </a:lnTo>
                      <a:lnTo>
                        <a:pt x="0" y="19744"/>
                      </a:lnTo>
                      <a:lnTo>
                        <a:pt x="7410" y="21600"/>
                      </a:lnTo>
                      <a:cubicBezTo>
                        <a:pt x="9359" y="21215"/>
                        <a:pt x="11169" y="20720"/>
                        <a:pt x="12788" y="20128"/>
                      </a:cubicBezTo>
                      <a:cubicBezTo>
                        <a:pt x="15690" y="19068"/>
                        <a:pt x="17915" y="17727"/>
                        <a:pt x="19267" y="16224"/>
                      </a:cubicBezTo>
                      <a:cubicBezTo>
                        <a:pt x="19676" y="15596"/>
                        <a:pt x="19985" y="14957"/>
                        <a:pt x="20193" y="14312"/>
                      </a:cubicBezTo>
                      <a:cubicBezTo>
                        <a:pt x="20617" y="12996"/>
                        <a:pt x="20617" y="11661"/>
                        <a:pt x="20193" y="10344"/>
                      </a:cubicBezTo>
                      <a:cubicBezTo>
                        <a:pt x="19639" y="9493"/>
                        <a:pt x="19334" y="8617"/>
                        <a:pt x="19286" y="7736"/>
                      </a:cubicBezTo>
                      <a:cubicBezTo>
                        <a:pt x="19228" y="6678"/>
                        <a:pt x="19540" y="5621"/>
                        <a:pt x="20212" y="4600"/>
                      </a:cubicBezTo>
                      <a:lnTo>
                        <a:pt x="21600" y="2360"/>
                      </a:lnTo>
                      <a:lnTo>
                        <a:pt x="17454" y="0"/>
                      </a:lnTo>
                      <a:lnTo>
                        <a:pt x="11706" y="1646"/>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ïṥ1iḍè">
                  <a:extLst>
                    <a:ext uri="{FF2B5EF4-FFF2-40B4-BE49-F238E27FC236}">
                      <a16:creationId xmlns:a16="http://schemas.microsoft.com/office/drawing/2014/main" id="{539DDADF-9EFB-4C15-B09B-15845E72AAD3}"/>
                    </a:ext>
                  </a:extLst>
                </p:cNvPr>
                <p:cNvSpPr/>
                <p:nvPr/>
              </p:nvSpPr>
              <p:spPr>
                <a:xfrm>
                  <a:off x="5797808" y="3225353"/>
                  <a:ext cx="47225" cy="32282"/>
                </a:xfrm>
                <a:custGeom>
                  <a:avLst/>
                  <a:gdLst/>
                  <a:ahLst/>
                  <a:cxnLst>
                    <a:cxn ang="0">
                      <a:pos x="wd2" y="hd2"/>
                    </a:cxn>
                    <a:cxn ang="5400000">
                      <a:pos x="wd2" y="hd2"/>
                    </a:cxn>
                    <a:cxn ang="10800000">
                      <a:pos x="wd2" y="hd2"/>
                    </a:cxn>
                    <a:cxn ang="16200000">
                      <a:pos x="wd2" y="hd2"/>
                    </a:cxn>
                  </a:cxnLst>
                  <a:rect l="0" t="0" r="r" b="b"/>
                  <a:pathLst>
                    <a:path w="21600" h="21290" extrusionOk="0">
                      <a:moveTo>
                        <a:pt x="9770" y="3686"/>
                      </a:moveTo>
                      <a:lnTo>
                        <a:pt x="3715" y="6276"/>
                      </a:lnTo>
                      <a:lnTo>
                        <a:pt x="0" y="16005"/>
                      </a:lnTo>
                      <a:cubicBezTo>
                        <a:pt x="1247" y="19524"/>
                        <a:pt x="3850" y="21600"/>
                        <a:pt x="6580" y="21252"/>
                      </a:cubicBezTo>
                      <a:cubicBezTo>
                        <a:pt x="8984" y="20946"/>
                        <a:pt x="11084" y="18784"/>
                        <a:pt x="12065" y="15605"/>
                      </a:cubicBezTo>
                      <a:lnTo>
                        <a:pt x="17159" y="10520"/>
                      </a:lnTo>
                      <a:lnTo>
                        <a:pt x="21600" y="4871"/>
                      </a:lnTo>
                      <a:lnTo>
                        <a:pt x="19249" y="0"/>
                      </a:lnTo>
                      <a:lnTo>
                        <a:pt x="15510" y="2699"/>
                      </a:lnTo>
                      <a:lnTo>
                        <a:pt x="9770" y="3686"/>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işļíḓe">
                  <a:extLst>
                    <a:ext uri="{FF2B5EF4-FFF2-40B4-BE49-F238E27FC236}">
                      <a16:creationId xmlns:a16="http://schemas.microsoft.com/office/drawing/2014/main" id="{D0399D76-6C2C-40FA-9A09-E0B73314AF7A}"/>
                    </a:ext>
                  </a:extLst>
                </p:cNvPr>
                <p:cNvSpPr/>
                <p:nvPr/>
              </p:nvSpPr>
              <p:spPr>
                <a:xfrm>
                  <a:off x="6002136" y="3331942"/>
                  <a:ext cx="18945" cy="17035"/>
                </a:xfrm>
                <a:custGeom>
                  <a:avLst/>
                  <a:gdLst/>
                  <a:ahLst/>
                  <a:cxnLst>
                    <a:cxn ang="0">
                      <a:pos x="wd2" y="hd2"/>
                    </a:cxn>
                    <a:cxn ang="5400000">
                      <a:pos x="wd2" y="hd2"/>
                    </a:cxn>
                    <a:cxn ang="10800000">
                      <a:pos x="wd2" y="hd2"/>
                    </a:cxn>
                    <a:cxn ang="16200000">
                      <a:pos x="wd2" y="hd2"/>
                    </a:cxn>
                  </a:cxnLst>
                  <a:rect l="0" t="0" r="r" b="b"/>
                  <a:pathLst>
                    <a:path w="21600" h="21600" extrusionOk="0">
                      <a:moveTo>
                        <a:pt x="8216" y="0"/>
                      </a:moveTo>
                      <a:lnTo>
                        <a:pt x="0" y="11586"/>
                      </a:lnTo>
                      <a:lnTo>
                        <a:pt x="7029" y="21600"/>
                      </a:lnTo>
                      <a:lnTo>
                        <a:pt x="18710" y="21600"/>
                      </a:lnTo>
                      <a:lnTo>
                        <a:pt x="21600" y="9745"/>
                      </a:lnTo>
                      <a:lnTo>
                        <a:pt x="8216"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iṣḷîḓê">
                  <a:extLst>
                    <a:ext uri="{FF2B5EF4-FFF2-40B4-BE49-F238E27FC236}">
                      <a16:creationId xmlns:a16="http://schemas.microsoft.com/office/drawing/2014/main" id="{A7873B4D-E5EC-4997-8178-42C8785C3E28}"/>
                    </a:ext>
                  </a:extLst>
                </p:cNvPr>
                <p:cNvSpPr/>
                <p:nvPr/>
              </p:nvSpPr>
              <p:spPr>
                <a:xfrm>
                  <a:off x="5772652" y="326071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5718" y="0"/>
                      </a:moveTo>
                      <a:lnTo>
                        <a:pt x="0" y="13353"/>
                      </a:lnTo>
                      <a:lnTo>
                        <a:pt x="21600" y="21600"/>
                      </a:lnTo>
                      <a:lnTo>
                        <a:pt x="15718" y="0"/>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íšļîḓê">
                  <a:extLst>
                    <a:ext uri="{FF2B5EF4-FFF2-40B4-BE49-F238E27FC236}">
                      <a16:creationId xmlns:a16="http://schemas.microsoft.com/office/drawing/2014/main" id="{F52FE811-D41F-48C5-958B-7A1AB2E7C6B8}"/>
                    </a:ext>
                  </a:extLst>
                </p:cNvPr>
                <p:cNvSpPr/>
                <p:nvPr/>
              </p:nvSpPr>
              <p:spPr>
                <a:xfrm>
                  <a:off x="6336327" y="3322673"/>
                  <a:ext cx="53421" cy="36410"/>
                </a:xfrm>
                <a:custGeom>
                  <a:avLst/>
                  <a:gdLst/>
                  <a:ahLst/>
                  <a:cxnLst>
                    <a:cxn ang="0">
                      <a:pos x="wd2" y="hd2"/>
                    </a:cxn>
                    <a:cxn ang="5400000">
                      <a:pos x="wd2" y="hd2"/>
                    </a:cxn>
                    <a:cxn ang="10800000">
                      <a:pos x="wd2" y="hd2"/>
                    </a:cxn>
                    <a:cxn ang="16200000">
                      <a:pos x="wd2" y="hd2"/>
                    </a:cxn>
                  </a:cxnLst>
                  <a:rect l="0" t="0" r="r" b="b"/>
                  <a:pathLst>
                    <a:path w="21600" h="21096" extrusionOk="0">
                      <a:moveTo>
                        <a:pt x="16791" y="1649"/>
                      </a:moveTo>
                      <a:lnTo>
                        <a:pt x="11726" y="4110"/>
                      </a:lnTo>
                      <a:lnTo>
                        <a:pt x="3733" y="7282"/>
                      </a:lnTo>
                      <a:lnTo>
                        <a:pt x="0" y="13714"/>
                      </a:lnTo>
                      <a:lnTo>
                        <a:pt x="2485" y="19148"/>
                      </a:lnTo>
                      <a:cubicBezTo>
                        <a:pt x="4278" y="21053"/>
                        <a:pt x="6603" y="21600"/>
                        <a:pt x="8727" y="20616"/>
                      </a:cubicBezTo>
                      <a:cubicBezTo>
                        <a:pt x="10473" y="19807"/>
                        <a:pt x="11919" y="18026"/>
                        <a:pt x="12738" y="15673"/>
                      </a:cubicBezTo>
                      <a:cubicBezTo>
                        <a:pt x="13681" y="13711"/>
                        <a:pt x="14802" y="11938"/>
                        <a:pt x="16072" y="10401"/>
                      </a:cubicBezTo>
                      <a:cubicBezTo>
                        <a:pt x="17334" y="8875"/>
                        <a:pt x="18732" y="7595"/>
                        <a:pt x="20229" y="6596"/>
                      </a:cubicBezTo>
                      <a:lnTo>
                        <a:pt x="21600" y="0"/>
                      </a:lnTo>
                      <a:lnTo>
                        <a:pt x="16791" y="1649"/>
                      </a:lnTo>
                      <a:close/>
                    </a:path>
                  </a:pathLst>
                </a:custGeom>
                <a:solidFill>
                  <a:srgbClr val="005A8A"/>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íṥļïdê">
                  <a:extLst>
                    <a:ext uri="{FF2B5EF4-FFF2-40B4-BE49-F238E27FC236}">
                      <a16:creationId xmlns:a16="http://schemas.microsoft.com/office/drawing/2014/main" id="{C0572191-49C6-4EF9-BD1A-2576A02E1172}"/>
                    </a:ext>
                  </a:extLst>
                </p:cNvPr>
                <p:cNvSpPr/>
                <p:nvPr/>
              </p:nvSpPr>
              <p:spPr>
                <a:xfrm>
                  <a:off x="4860234" y="3629485"/>
                  <a:ext cx="242939" cy="753336"/>
                </a:xfrm>
                <a:custGeom>
                  <a:avLst/>
                  <a:gdLst/>
                  <a:ahLst/>
                  <a:cxnLst>
                    <a:cxn ang="0">
                      <a:pos x="wd2" y="hd2"/>
                    </a:cxn>
                    <a:cxn ang="5400000">
                      <a:pos x="wd2" y="hd2"/>
                    </a:cxn>
                    <a:cxn ang="10800000">
                      <a:pos x="wd2" y="hd2"/>
                    </a:cxn>
                    <a:cxn ang="16200000">
                      <a:pos x="wd2" y="hd2"/>
                    </a:cxn>
                  </a:cxnLst>
                  <a:rect l="0" t="0" r="r" b="b"/>
                  <a:pathLst>
                    <a:path w="21206" h="21600" extrusionOk="0">
                      <a:moveTo>
                        <a:pt x="87" y="0"/>
                      </a:moveTo>
                      <a:lnTo>
                        <a:pt x="3105" y="1351"/>
                      </a:lnTo>
                      <a:lnTo>
                        <a:pt x="4941" y="2158"/>
                      </a:lnTo>
                      <a:lnTo>
                        <a:pt x="4813" y="2625"/>
                      </a:lnTo>
                      <a:lnTo>
                        <a:pt x="5430" y="3306"/>
                      </a:lnTo>
                      <a:lnTo>
                        <a:pt x="5374" y="4036"/>
                      </a:lnTo>
                      <a:lnTo>
                        <a:pt x="5264" y="4778"/>
                      </a:lnTo>
                      <a:lnTo>
                        <a:pt x="5322" y="5440"/>
                      </a:lnTo>
                      <a:cubicBezTo>
                        <a:pt x="5337" y="5651"/>
                        <a:pt x="5470" y="5859"/>
                        <a:pt x="5714" y="6054"/>
                      </a:cubicBezTo>
                      <a:cubicBezTo>
                        <a:pt x="5921" y="6219"/>
                        <a:pt x="6204" y="6372"/>
                        <a:pt x="6553" y="6508"/>
                      </a:cubicBezTo>
                      <a:lnTo>
                        <a:pt x="7298" y="6936"/>
                      </a:lnTo>
                      <a:cubicBezTo>
                        <a:pt x="7568" y="7062"/>
                        <a:pt x="7842" y="7187"/>
                        <a:pt x="8121" y="7311"/>
                      </a:cubicBezTo>
                      <a:cubicBezTo>
                        <a:pt x="8309" y="7394"/>
                        <a:pt x="8500" y="7477"/>
                        <a:pt x="8693" y="7560"/>
                      </a:cubicBezTo>
                      <a:lnTo>
                        <a:pt x="9067" y="7873"/>
                      </a:lnTo>
                      <a:lnTo>
                        <a:pt x="9270" y="8148"/>
                      </a:lnTo>
                      <a:lnTo>
                        <a:pt x="9644" y="8473"/>
                      </a:lnTo>
                      <a:lnTo>
                        <a:pt x="10224" y="8718"/>
                      </a:lnTo>
                      <a:lnTo>
                        <a:pt x="10971" y="8927"/>
                      </a:lnTo>
                      <a:lnTo>
                        <a:pt x="11380" y="9116"/>
                      </a:lnTo>
                      <a:lnTo>
                        <a:pt x="12069" y="9367"/>
                      </a:lnTo>
                      <a:lnTo>
                        <a:pt x="13945" y="10058"/>
                      </a:lnTo>
                      <a:lnTo>
                        <a:pt x="14784" y="10450"/>
                      </a:lnTo>
                      <a:lnTo>
                        <a:pt x="15008" y="10910"/>
                      </a:lnTo>
                      <a:lnTo>
                        <a:pt x="15513" y="11253"/>
                      </a:lnTo>
                      <a:lnTo>
                        <a:pt x="16260" y="11824"/>
                      </a:lnTo>
                      <a:lnTo>
                        <a:pt x="17456" y="12180"/>
                      </a:lnTo>
                      <a:lnTo>
                        <a:pt x="18970" y="12628"/>
                      </a:lnTo>
                      <a:lnTo>
                        <a:pt x="19737" y="13032"/>
                      </a:lnTo>
                      <a:lnTo>
                        <a:pt x="20129" y="13566"/>
                      </a:lnTo>
                      <a:cubicBezTo>
                        <a:pt x="20317" y="13735"/>
                        <a:pt x="20393" y="13915"/>
                        <a:pt x="20353" y="14094"/>
                      </a:cubicBezTo>
                      <a:cubicBezTo>
                        <a:pt x="20310" y="14285"/>
                        <a:pt x="20136" y="14470"/>
                        <a:pt x="19905" y="14646"/>
                      </a:cubicBezTo>
                      <a:cubicBezTo>
                        <a:pt x="19688" y="14811"/>
                        <a:pt x="19422" y="14969"/>
                        <a:pt x="19232" y="15137"/>
                      </a:cubicBezTo>
                      <a:cubicBezTo>
                        <a:pt x="19023" y="15322"/>
                        <a:pt x="18910" y="15517"/>
                        <a:pt x="18896" y="15715"/>
                      </a:cubicBezTo>
                      <a:cubicBezTo>
                        <a:pt x="18962" y="15855"/>
                        <a:pt x="18981" y="15997"/>
                        <a:pt x="18952" y="16138"/>
                      </a:cubicBezTo>
                      <a:cubicBezTo>
                        <a:pt x="18917" y="16303"/>
                        <a:pt x="18816" y="16467"/>
                        <a:pt x="18653" y="16623"/>
                      </a:cubicBezTo>
                      <a:lnTo>
                        <a:pt x="18190" y="16819"/>
                      </a:lnTo>
                      <a:lnTo>
                        <a:pt x="18900" y="17310"/>
                      </a:lnTo>
                      <a:lnTo>
                        <a:pt x="19293" y="17665"/>
                      </a:lnTo>
                      <a:lnTo>
                        <a:pt x="19442" y="18088"/>
                      </a:lnTo>
                      <a:lnTo>
                        <a:pt x="19386" y="18425"/>
                      </a:lnTo>
                      <a:lnTo>
                        <a:pt x="20250" y="18935"/>
                      </a:lnTo>
                      <a:lnTo>
                        <a:pt x="20306" y="19338"/>
                      </a:lnTo>
                      <a:lnTo>
                        <a:pt x="20475" y="20172"/>
                      </a:lnTo>
                      <a:lnTo>
                        <a:pt x="21206" y="21600"/>
                      </a:lnTo>
                      <a:cubicBezTo>
                        <a:pt x="13816" y="18492"/>
                        <a:pt x="8189" y="14973"/>
                        <a:pt x="4593" y="11211"/>
                      </a:cubicBezTo>
                      <a:cubicBezTo>
                        <a:pt x="1131" y="7587"/>
                        <a:pt x="-394" y="3794"/>
                        <a:pt x="87" y="0"/>
                      </a:cubicBezTo>
                      <a:close/>
                    </a:path>
                  </a:pathLst>
                </a:custGeom>
                <a:solidFill>
                  <a:srgbClr val="005A8A"/>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sp>
        <p:nvSpPr>
          <p:cNvPr id="67" name="矩形 66">
            <a:extLst>
              <a:ext uri="{FF2B5EF4-FFF2-40B4-BE49-F238E27FC236}">
                <a16:creationId xmlns:a16="http://schemas.microsoft.com/office/drawing/2014/main" id="{2703C28F-AC78-4509-965E-4C4D80E91066}"/>
              </a:ext>
            </a:extLst>
          </p:cNvPr>
          <p:cNvSpPr/>
          <p:nvPr/>
        </p:nvSpPr>
        <p:spPr>
          <a:xfrm>
            <a:off x="804958" y="1726377"/>
            <a:ext cx="3241727" cy="1706301"/>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大模型在图像分析中存在“幻觉”现象，易生成不实信息</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      解决方案：优化提示词策略，反复强调输出内容需基于事实依据，并增加明确的输出约束条件，以提升模型回答的准确性与可靠性。</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矩形 67">
            <a:extLst>
              <a:ext uri="{FF2B5EF4-FFF2-40B4-BE49-F238E27FC236}">
                <a16:creationId xmlns:a16="http://schemas.microsoft.com/office/drawing/2014/main" id="{D844DB65-BF2E-4F51-968D-ECFBBE50834B}"/>
              </a:ext>
            </a:extLst>
          </p:cNvPr>
          <p:cNvSpPr/>
          <p:nvPr/>
        </p:nvSpPr>
        <p:spPr>
          <a:xfrm>
            <a:off x="914400" y="3985907"/>
            <a:ext cx="3099921" cy="1706301"/>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大模型部署过程中涉及较多专业术语，理解存在障碍</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       解决方案：针对不熟悉的专业名词和技术概念，逐一查阅相关资料并进行系统学习，以加深对模型部署各环节功能与原理的理解。 </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矩形 68">
            <a:extLst>
              <a:ext uri="{FF2B5EF4-FFF2-40B4-BE49-F238E27FC236}">
                <a16:creationId xmlns:a16="http://schemas.microsoft.com/office/drawing/2014/main" id="{A5EC4970-994B-4C3F-B23B-6A7B724B8D98}"/>
              </a:ext>
            </a:extLst>
          </p:cNvPr>
          <p:cNvSpPr/>
          <p:nvPr/>
        </p:nvSpPr>
        <p:spPr>
          <a:xfrm>
            <a:off x="7942974" y="1635816"/>
            <a:ext cx="3365926" cy="2060244"/>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模型输出内容不够细化，</a:t>
            </a:r>
            <a:r>
              <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提示词表述不够清晰</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       解决方案：持续细化与优化提示词设计，通过多次迭代并与大模型沟通，使提示词更加具体、明确，从而引导模型输出更详实、结构化的内容。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0" name="矩形 69">
            <a:extLst>
              <a:ext uri="{FF2B5EF4-FFF2-40B4-BE49-F238E27FC236}">
                <a16:creationId xmlns:a16="http://schemas.microsoft.com/office/drawing/2014/main" id="{5940E4AA-A7B1-4ACD-98C5-097F851DA5FD}"/>
              </a:ext>
            </a:extLst>
          </p:cNvPr>
          <p:cNvSpPr/>
          <p:nvPr/>
        </p:nvSpPr>
        <p:spPr>
          <a:xfrm>
            <a:off x="7909321" y="3987550"/>
            <a:ext cx="3584277" cy="2229778"/>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提示词优化过程中，缺乏具有代表性、典型的图像样本用于模型分析</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       解决方案：目前尚未形成系统性的解决方案，正在积极探索构建高质量图像样本库的可行途径，以提升提示词优化的针对性和有效性。</a:t>
            </a:r>
          </a:p>
          <a:p>
            <a:pPr>
              <a:lnSpc>
                <a:spcPct val="150000"/>
              </a:lnSpc>
            </a:pPr>
            <a:endPar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extLst>
      <p:ext uri="{BB962C8B-B14F-4D97-AF65-F5344CB8AC3E}">
        <p14:creationId xmlns:p14="http://schemas.microsoft.com/office/powerpoint/2010/main" val="3010016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C801D35-68A1-4184-A2A0-3E86D535D932}"/>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a:extLst>
              <a:ext uri="{FF2B5EF4-FFF2-40B4-BE49-F238E27FC236}">
                <a16:creationId xmlns:a16="http://schemas.microsoft.com/office/drawing/2014/main" id="{F12EFB7D-0D00-4088-A401-619DEACE6045}"/>
              </a:ext>
            </a:extLst>
          </p:cNvPr>
          <p:cNvSpPr/>
          <p:nvPr/>
        </p:nvSpPr>
        <p:spPr>
          <a:xfrm>
            <a:off x="1483360" y="1981200"/>
            <a:ext cx="2651760" cy="164592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文本框 5">
            <a:extLst>
              <a:ext uri="{FF2B5EF4-FFF2-40B4-BE49-F238E27FC236}">
                <a16:creationId xmlns:a16="http://schemas.microsoft.com/office/drawing/2014/main" id="{A57600E8-B4B6-4110-83D4-AF2FD6249827}"/>
              </a:ext>
            </a:extLst>
          </p:cNvPr>
          <p:cNvSpPr txBox="1"/>
          <p:nvPr/>
        </p:nvSpPr>
        <p:spPr>
          <a:xfrm>
            <a:off x="1701606" y="2604104"/>
            <a:ext cx="2215269"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技术实现进度滞后</a:t>
            </a:r>
          </a:p>
        </p:txBody>
      </p:sp>
      <p:sp>
        <p:nvSpPr>
          <p:cNvPr id="7" name="矩形 6">
            <a:extLst>
              <a:ext uri="{FF2B5EF4-FFF2-40B4-BE49-F238E27FC236}">
                <a16:creationId xmlns:a16="http://schemas.microsoft.com/office/drawing/2014/main" id="{C5CEEE3D-5312-46EA-AEF2-C32B89EB0AD2}"/>
              </a:ext>
            </a:extLst>
          </p:cNvPr>
          <p:cNvSpPr/>
          <p:nvPr/>
        </p:nvSpPr>
        <p:spPr>
          <a:xfrm>
            <a:off x="4135120" y="1981200"/>
            <a:ext cx="6309360" cy="1645920"/>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矩形 7">
            <a:extLst>
              <a:ext uri="{FF2B5EF4-FFF2-40B4-BE49-F238E27FC236}">
                <a16:creationId xmlns:a16="http://schemas.microsoft.com/office/drawing/2014/main" id="{BB5AD55C-7BC0-45D8-8549-3165D9805C1E}"/>
              </a:ext>
            </a:extLst>
          </p:cNvPr>
          <p:cNvSpPr/>
          <p:nvPr/>
        </p:nvSpPr>
        <p:spPr>
          <a:xfrm>
            <a:off x="1483360" y="4094480"/>
            <a:ext cx="2651760" cy="164592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文本框 9">
            <a:extLst>
              <a:ext uri="{FF2B5EF4-FFF2-40B4-BE49-F238E27FC236}">
                <a16:creationId xmlns:a16="http://schemas.microsoft.com/office/drawing/2014/main" id="{B36724CD-3ACB-4205-9F09-B20447A775B8}"/>
              </a:ext>
            </a:extLst>
          </p:cNvPr>
          <p:cNvSpPr txBox="1"/>
          <p:nvPr/>
        </p:nvSpPr>
        <p:spPr>
          <a:xfrm>
            <a:off x="1678856" y="4717385"/>
            <a:ext cx="2260767"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模型适配性待验证</a:t>
            </a:r>
          </a:p>
        </p:txBody>
      </p:sp>
      <p:sp>
        <p:nvSpPr>
          <p:cNvPr id="11" name="矩形 10">
            <a:extLst>
              <a:ext uri="{FF2B5EF4-FFF2-40B4-BE49-F238E27FC236}">
                <a16:creationId xmlns:a16="http://schemas.microsoft.com/office/drawing/2014/main" id="{CC532DDD-5C04-45A1-B399-47F27A3D552F}"/>
              </a:ext>
            </a:extLst>
          </p:cNvPr>
          <p:cNvSpPr/>
          <p:nvPr/>
        </p:nvSpPr>
        <p:spPr>
          <a:xfrm>
            <a:off x="4135120" y="4094480"/>
            <a:ext cx="6309360" cy="1645920"/>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文本框 11">
            <a:extLst>
              <a:ext uri="{FF2B5EF4-FFF2-40B4-BE49-F238E27FC236}">
                <a16:creationId xmlns:a16="http://schemas.microsoft.com/office/drawing/2014/main" id="{37FB771B-6C11-4B58-A471-FE0E67B16C28}"/>
              </a:ext>
            </a:extLst>
          </p:cNvPr>
          <p:cNvSpPr txBox="1"/>
          <p:nvPr/>
        </p:nvSpPr>
        <p:spPr>
          <a:xfrm>
            <a:off x="4443093" y="2225731"/>
            <a:ext cx="5859145" cy="1156855"/>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原计划于</a:t>
            </a:r>
            <a:r>
              <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10</a:t>
            </a: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月完成的“输出结果数字化转化”任务尚未完成，可能影响后续数据建设与系统集成工作的启动时序，存在任务衔接风险。</a:t>
            </a:r>
          </a:p>
        </p:txBody>
      </p:sp>
      <p:sp>
        <p:nvSpPr>
          <p:cNvPr id="13" name="文本框 12">
            <a:extLst>
              <a:ext uri="{FF2B5EF4-FFF2-40B4-BE49-F238E27FC236}">
                <a16:creationId xmlns:a16="http://schemas.microsoft.com/office/drawing/2014/main" id="{D4A1C427-C8F6-46E5-8E48-535FA054BC35}"/>
              </a:ext>
            </a:extLst>
          </p:cNvPr>
          <p:cNvSpPr txBox="1"/>
          <p:nvPr/>
        </p:nvSpPr>
        <p:spPr>
          <a:xfrm>
            <a:off x="4443092" y="4339012"/>
            <a:ext cx="5859145" cy="1156855"/>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当前项目虽已完成模型本地部署与初步稳定性测试，但针对车载复杂场景（如光照变化、振动干扰等）的大模型鲁棒性尚未系统评估，实际应用可靠性存在不确定性。</a:t>
            </a:r>
          </a:p>
        </p:txBody>
      </p:sp>
      <p:pic>
        <p:nvPicPr>
          <p:cNvPr id="15" name="图片 14">
            <a:extLst>
              <a:ext uri="{FF2B5EF4-FFF2-40B4-BE49-F238E27FC236}">
                <a16:creationId xmlns:a16="http://schemas.microsoft.com/office/drawing/2014/main" id="{164863AD-4CBB-4E7C-85A6-28FD4FB0B1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6" name="矩形 15">
            <a:extLst>
              <a:ext uri="{FF2B5EF4-FFF2-40B4-BE49-F238E27FC236}">
                <a16:creationId xmlns:a16="http://schemas.microsoft.com/office/drawing/2014/main" id="{06AA2D42-720A-46B3-A376-DEBE68195A5B}"/>
              </a:ext>
            </a:extLst>
          </p:cNvPr>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现存问题</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extLst>
      <p:ext uri="{BB962C8B-B14F-4D97-AF65-F5344CB8AC3E}">
        <p14:creationId xmlns:p14="http://schemas.microsoft.com/office/powerpoint/2010/main" val="19610385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5040638" y="0"/>
            <a:ext cx="7151370" cy="6858000"/>
            <a:chOff x="0" y="0"/>
            <a:chExt cx="5959248" cy="5143500"/>
          </a:xfrm>
        </p:grpSpPr>
        <p:sp>
          <p:nvSpPr>
            <p:cNvPr id="9219" name="平行四边形 54"/>
            <p:cNvSpPr>
              <a:spLocks noChangeArrowheads="1"/>
            </p:cNvSpPr>
            <p:nvPr/>
          </p:nvSpPr>
          <p:spPr bwMode="auto">
            <a:xfrm>
              <a:off x="0" y="0"/>
              <a:ext cx="2009775" cy="5143500"/>
            </a:xfrm>
            <a:prstGeom prst="parallelogram">
              <a:avLst>
                <a:gd name="adj" fmla="val 50588"/>
              </a:avLst>
            </a:prstGeom>
            <a:solidFill>
              <a:schemeClr val="accent1">
                <a:lumMod val="20000"/>
                <a:lumOff val="80000"/>
              </a:schemeClr>
            </a:solid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0" name="流程图: 手动输入 28"/>
            <p:cNvSpPr>
              <a:spLocks noChangeArrowheads="1"/>
            </p:cNvSpPr>
            <p:nvPr/>
          </p:nvSpPr>
          <p:spPr bwMode="auto">
            <a:xfrm rot="16200000" flipH="1">
              <a:off x="906235" y="90487"/>
              <a:ext cx="5143500" cy="4962526"/>
            </a:xfrm>
            <a:prstGeom prst="flowChartManualInput">
              <a:avLst/>
            </a:prstGeom>
            <a:solidFill>
              <a:schemeClr val="accent1">
                <a:lumMod val="60000"/>
                <a:lumOff val="40000"/>
              </a:schemeClr>
            </a:solid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1" name="平行四边形 11"/>
            <p:cNvSpPr>
              <a:spLocks noChangeArrowheads="1"/>
            </p:cNvSpPr>
            <p:nvPr/>
          </p:nvSpPr>
          <p:spPr bwMode="auto">
            <a:xfrm>
              <a:off x="973590" y="0"/>
              <a:ext cx="2009775" cy="5143500"/>
            </a:xfrm>
            <a:prstGeom prst="parallelogram">
              <a:avLst>
                <a:gd name="adj" fmla="val 50588"/>
              </a:avLst>
            </a:prstGeom>
            <a:solidFill>
              <a:srgbClr val="005A8A"/>
            </a:solid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2" name="Group 6"/>
          <p:cNvGrpSpPr>
            <a:grpSpLocks/>
          </p:cNvGrpSpPr>
          <p:nvPr/>
        </p:nvGrpSpPr>
        <p:grpSpPr bwMode="auto">
          <a:xfrm>
            <a:off x="2670572" y="1951581"/>
            <a:ext cx="4457172" cy="1998133"/>
            <a:chOff x="0" y="0"/>
            <a:chExt cx="3713835" cy="1497581"/>
          </a:xfrm>
          <a:solidFill>
            <a:srgbClr val="005A8A"/>
          </a:solidFill>
        </p:grpSpPr>
        <p:sp>
          <p:nvSpPr>
            <p:cNvPr id="9223" name="右箭头 30"/>
            <p:cNvSpPr>
              <a:spLocks noChangeArrowheads="1"/>
            </p:cNvSpPr>
            <p:nvPr/>
          </p:nvSpPr>
          <p:spPr bwMode="auto">
            <a:xfrm rot="660000" flipH="1" flipV="1">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4" name="矩形 9"/>
            <p:cNvSpPr>
              <a:spLocks noChangeArrowheads="1"/>
            </p:cNvSpPr>
            <p:nvPr/>
          </p:nvSpPr>
          <p:spPr bwMode="auto">
            <a:xfrm rot="660000">
              <a:off x="695370" y="539712"/>
              <a:ext cx="3018465" cy="43549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Aft>
                  <a:spcPts val="600"/>
                </a:spcAft>
              </a:pP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一、加快数字化转化攻坚</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5" name="Group 9"/>
          <p:cNvGrpSpPr>
            <a:grpSpLocks/>
          </p:cNvGrpSpPr>
          <p:nvPr/>
        </p:nvGrpSpPr>
        <p:grpSpPr bwMode="auto">
          <a:xfrm>
            <a:off x="6496826" y="3977557"/>
            <a:ext cx="4288117" cy="1996018"/>
            <a:chOff x="-53936" y="0"/>
            <a:chExt cx="3572974" cy="1497581"/>
          </a:xfrm>
          <a:solidFill>
            <a:schemeClr val="accent1">
              <a:lumMod val="20000"/>
              <a:lumOff val="80000"/>
            </a:schemeClr>
          </a:solidFill>
        </p:grpSpPr>
        <p:sp>
          <p:nvSpPr>
            <p:cNvPr id="9226" name="右箭头 52"/>
            <p:cNvSpPr>
              <a:spLocks noChangeArrowheads="1"/>
            </p:cNvSpPr>
            <p:nvPr/>
          </p:nvSpPr>
          <p:spPr bwMode="auto">
            <a:xfrm rot="660000">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defTabSz="1096930"/>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7" name="矩形 53"/>
            <p:cNvSpPr>
              <a:spLocks noChangeArrowheads="1"/>
            </p:cNvSpPr>
            <p:nvPr/>
          </p:nvSpPr>
          <p:spPr bwMode="auto">
            <a:xfrm rot="619144">
              <a:off x="-53936" y="423133"/>
              <a:ext cx="3112895" cy="4359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Aft>
                  <a:spcPts val="600"/>
                </a:spcAft>
              </a:pPr>
              <a:r>
                <a:rPr lang="zh-CN" altLang="en-US"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二、开展场景化压力测试</a:t>
              </a:r>
              <a:endParaRPr lang="en-US" altLang="zh-CN" sz="24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8" name="任意多边形: 形状 17">
            <a:extLst>
              <a:ext uri="{FF2B5EF4-FFF2-40B4-BE49-F238E27FC236}">
                <a16:creationId xmlns:a16="http://schemas.microsoft.com/office/drawing/2014/main" id="{B16619BE-6E82-4097-AEEE-EEEFA13EE96E}"/>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a:extLst>
              <a:ext uri="{FF2B5EF4-FFF2-40B4-BE49-F238E27FC236}">
                <a16:creationId xmlns:a16="http://schemas.microsoft.com/office/drawing/2014/main" id="{073951A4-120E-4824-8F80-5150822BE4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a:extLst>
              <a:ext uri="{FF2B5EF4-FFF2-40B4-BE49-F238E27FC236}">
                <a16:creationId xmlns:a16="http://schemas.microsoft.com/office/drawing/2014/main" id="{AAF5AD87-162D-449D-87E4-ACCA536EA69E}"/>
              </a:ext>
            </a:extLst>
          </p:cNvPr>
          <p:cNvSpPr/>
          <p:nvPr/>
        </p:nvSpPr>
        <p:spPr>
          <a:xfrm>
            <a:off x="1378101"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解决方案</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a:extLst>
              <a:ext uri="{FF2B5EF4-FFF2-40B4-BE49-F238E27FC236}">
                <a16:creationId xmlns:a16="http://schemas.microsoft.com/office/drawing/2014/main" id="{F95B3000-C882-4DAF-9692-9A4762256D14}"/>
              </a:ext>
            </a:extLst>
          </p:cNvPr>
          <p:cNvSpPr/>
          <p:nvPr/>
        </p:nvSpPr>
        <p:spPr>
          <a:xfrm>
            <a:off x="1012905" y="4397138"/>
            <a:ext cx="3345765" cy="1156855"/>
          </a:xfrm>
          <a:prstGeom prst="rect">
            <a:avLst/>
          </a:prstGeom>
        </p:spPr>
        <p:txBody>
          <a:bodyPr wrap="square">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团队需集中资源优先突破输出结果数字化技术难点，明确技术路线，确保</a:t>
            </a:r>
            <a:r>
              <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11</a:t>
            </a: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月按计划启动数据建设工作</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a:extLst>
              <a:ext uri="{FF2B5EF4-FFF2-40B4-BE49-F238E27FC236}">
                <a16:creationId xmlns:a16="http://schemas.microsoft.com/office/drawing/2014/main" id="{FA9933A3-E443-46A2-96E5-1020BA0982BF}"/>
              </a:ext>
            </a:extLst>
          </p:cNvPr>
          <p:cNvSpPr/>
          <p:nvPr/>
        </p:nvSpPr>
        <p:spPr>
          <a:xfrm>
            <a:off x="8881362" y="1622599"/>
            <a:ext cx="2746490" cy="1895519"/>
          </a:xfrm>
          <a:prstGeom prst="rect">
            <a:avLst/>
          </a:prstGeom>
        </p:spPr>
        <p:txBody>
          <a:bodyPr wrap="square">
            <a:spAutoFit/>
          </a:bodyPr>
          <a:lstStyle/>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下一阶段集成测试中，</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需要补充极端场景下的模型性能测试，针对性优化提示词或者引入模型微调，提升车载环境适应性。</a:t>
            </a:r>
            <a:endParaRPr lang="en-US" altLang="zh-CN" sz="16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4" name="图片 23"/>
          <p:cNvPicPr>
            <a:picLocks noChangeAspect="1"/>
          </p:cNvPicPr>
          <p:nvPr/>
        </p:nvPicPr>
        <p:blipFill>
          <a:blip r:embed="rId4" cstate="print">
            <a:biLevel thresh="25000"/>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extLst>
      <p:ext uri="{BB962C8B-B14F-4D97-AF65-F5344CB8AC3E}">
        <p14:creationId xmlns:p14="http://schemas.microsoft.com/office/powerpoint/2010/main" val="20968652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18307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FA0680CB-2A11-42DA-83F3-350FE41180D5}"/>
              </a:ext>
            </a:extLst>
          </p:cNvPr>
          <p:cNvGrpSpPr>
            <a:grpSpLocks noChangeAspect="1"/>
          </p:cNvGrpSpPr>
          <p:nvPr>
            <p:custDataLst>
              <p:tags r:id="rId1"/>
            </p:custDataLst>
          </p:nvPr>
        </p:nvGrpSpPr>
        <p:grpSpPr>
          <a:xfrm>
            <a:off x="3649576" y="1125538"/>
            <a:ext cx="4893118" cy="5018087"/>
            <a:chOff x="3649576" y="1125538"/>
            <a:chExt cx="4893118" cy="5018087"/>
          </a:xfrm>
        </p:grpSpPr>
        <p:sp>
          <p:nvSpPr>
            <p:cNvPr id="4" name="ïS1ïḋê">
              <a:extLst>
                <a:ext uri="{FF2B5EF4-FFF2-40B4-BE49-F238E27FC236}">
                  <a16:creationId xmlns:a16="http://schemas.microsoft.com/office/drawing/2014/main" id="{7BF3EDBD-227B-4732-959D-E16E6A1C3296}"/>
                </a:ext>
              </a:extLst>
            </p:cNvPr>
            <p:cNvSpPr/>
            <p:nvPr/>
          </p:nvSpPr>
          <p:spPr bwMode="auto">
            <a:xfrm>
              <a:off x="3649576" y="2025357"/>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rgbClr val="005A8A"/>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iŝliďé" title="ry6MHxwOH8WsTKLSa514qPVJnvhhWFnRDjZGIbRZNsFBp">
              <a:extLst>
                <a:ext uri="{FF2B5EF4-FFF2-40B4-BE49-F238E27FC236}">
                  <a16:creationId xmlns:a16="http://schemas.microsoft.com/office/drawing/2014/main" id="{6FEFC630-90F6-4DF7-B0E4-D0089DF01138}"/>
                </a:ext>
              </a:extLst>
            </p:cNvPr>
            <p:cNvSpPr/>
            <p:nvPr/>
          </p:nvSpPr>
          <p:spPr bwMode="auto">
            <a:xfrm>
              <a:off x="3954076" y="3805052"/>
              <a:ext cx="293274" cy="206084"/>
            </a:xfrm>
            <a:custGeom>
              <a:avLst/>
              <a:gdLst>
                <a:gd name="connsiteX0" fmla="*/ 450100 w 607639"/>
                <a:gd name="connsiteY0" fmla="*/ 313203 h 426991"/>
                <a:gd name="connsiteX1" fmla="*/ 450100 w 607639"/>
                <a:gd name="connsiteY1" fmla="*/ 403167 h 426991"/>
                <a:gd name="connsiteX2" fmla="*/ 585744 w 607639"/>
                <a:gd name="connsiteY2" fmla="*/ 403167 h 426991"/>
                <a:gd name="connsiteX3" fmla="*/ 586100 w 607639"/>
                <a:gd name="connsiteY3" fmla="*/ 313203 h 426991"/>
                <a:gd name="connsiteX4" fmla="*/ 530294 w 607639"/>
                <a:gd name="connsiteY4" fmla="*/ 313203 h 426991"/>
                <a:gd name="connsiteX5" fmla="*/ 530116 w 607639"/>
                <a:gd name="connsiteY5" fmla="*/ 313203 h 426991"/>
                <a:gd name="connsiteX6" fmla="*/ 529760 w 607639"/>
                <a:gd name="connsiteY6" fmla="*/ 313203 h 426991"/>
                <a:gd name="connsiteX7" fmla="*/ 450901 w 607639"/>
                <a:gd name="connsiteY7" fmla="*/ 313203 h 426991"/>
                <a:gd name="connsiteX8" fmla="*/ 236309 w 607639"/>
                <a:gd name="connsiteY8" fmla="*/ 313203 h 426991"/>
                <a:gd name="connsiteX9" fmla="*/ 236309 w 607639"/>
                <a:gd name="connsiteY9" fmla="*/ 403167 h 426991"/>
                <a:gd name="connsiteX10" fmla="*/ 371953 w 607639"/>
                <a:gd name="connsiteY10" fmla="*/ 403167 h 426991"/>
                <a:gd name="connsiteX11" fmla="*/ 372754 w 607639"/>
                <a:gd name="connsiteY11" fmla="*/ 313203 h 426991"/>
                <a:gd name="connsiteX12" fmla="*/ 237110 w 607639"/>
                <a:gd name="connsiteY12" fmla="*/ 313203 h 426991"/>
                <a:gd name="connsiteX13" fmla="*/ 22519 w 607639"/>
                <a:gd name="connsiteY13" fmla="*/ 313203 h 426991"/>
                <a:gd name="connsiteX14" fmla="*/ 22519 w 607639"/>
                <a:gd name="connsiteY14" fmla="*/ 403167 h 426991"/>
                <a:gd name="connsiteX15" fmla="*/ 158163 w 607639"/>
                <a:gd name="connsiteY15" fmla="*/ 403167 h 426991"/>
                <a:gd name="connsiteX16" fmla="*/ 158964 w 607639"/>
                <a:gd name="connsiteY16" fmla="*/ 313203 h 426991"/>
                <a:gd name="connsiteX17" fmla="*/ 91498 w 607639"/>
                <a:gd name="connsiteY17" fmla="*/ 313203 h 426991"/>
                <a:gd name="connsiteX18" fmla="*/ 91231 w 607639"/>
                <a:gd name="connsiteY18" fmla="*/ 313203 h 426991"/>
                <a:gd name="connsiteX19" fmla="*/ 90964 w 607639"/>
                <a:gd name="connsiteY19" fmla="*/ 313203 h 426991"/>
                <a:gd name="connsiteX20" fmla="*/ 23320 w 607639"/>
                <a:gd name="connsiteY20" fmla="*/ 313203 h 426991"/>
                <a:gd name="connsiteX21" fmla="*/ 91409 w 607639"/>
                <a:gd name="connsiteY21" fmla="*/ 224751 h 426991"/>
                <a:gd name="connsiteX22" fmla="*/ 530294 w 607639"/>
                <a:gd name="connsiteY22" fmla="*/ 224751 h 426991"/>
                <a:gd name="connsiteX23" fmla="*/ 540084 w 607639"/>
                <a:gd name="connsiteY23" fmla="*/ 234530 h 426991"/>
                <a:gd name="connsiteX24" fmla="*/ 540084 w 607639"/>
                <a:gd name="connsiteY24" fmla="*/ 292135 h 426991"/>
                <a:gd name="connsiteX25" fmla="*/ 586456 w 607639"/>
                <a:gd name="connsiteY25" fmla="*/ 292135 h 426991"/>
                <a:gd name="connsiteX26" fmla="*/ 607639 w 607639"/>
                <a:gd name="connsiteY26" fmla="*/ 313203 h 426991"/>
                <a:gd name="connsiteX27" fmla="*/ 607639 w 607639"/>
                <a:gd name="connsiteY27" fmla="*/ 403167 h 426991"/>
                <a:gd name="connsiteX28" fmla="*/ 586456 w 607639"/>
                <a:gd name="connsiteY28" fmla="*/ 426991 h 426991"/>
                <a:gd name="connsiteX29" fmla="*/ 451524 w 607639"/>
                <a:gd name="connsiteY29" fmla="*/ 426991 h 426991"/>
                <a:gd name="connsiteX30" fmla="*/ 427582 w 607639"/>
                <a:gd name="connsiteY30" fmla="*/ 403167 h 426991"/>
                <a:gd name="connsiteX31" fmla="*/ 427582 w 607639"/>
                <a:gd name="connsiteY31" fmla="*/ 313203 h 426991"/>
                <a:gd name="connsiteX32" fmla="*/ 451524 w 607639"/>
                <a:gd name="connsiteY32" fmla="*/ 292135 h 426991"/>
                <a:gd name="connsiteX33" fmla="*/ 517566 w 607639"/>
                <a:gd name="connsiteY33" fmla="*/ 292135 h 426991"/>
                <a:gd name="connsiteX34" fmla="*/ 517566 w 607639"/>
                <a:gd name="connsiteY34" fmla="*/ 247242 h 426991"/>
                <a:gd name="connsiteX35" fmla="*/ 315079 w 607639"/>
                <a:gd name="connsiteY35" fmla="*/ 247242 h 426991"/>
                <a:gd name="connsiteX36" fmla="*/ 315079 w 607639"/>
                <a:gd name="connsiteY36" fmla="*/ 292135 h 426991"/>
                <a:gd name="connsiteX37" fmla="*/ 372665 w 607639"/>
                <a:gd name="connsiteY37" fmla="*/ 292135 h 426991"/>
                <a:gd name="connsiteX38" fmla="*/ 393849 w 607639"/>
                <a:gd name="connsiteY38" fmla="*/ 313203 h 426991"/>
                <a:gd name="connsiteX39" fmla="*/ 393849 w 607639"/>
                <a:gd name="connsiteY39" fmla="*/ 403167 h 426991"/>
                <a:gd name="connsiteX40" fmla="*/ 372665 w 607639"/>
                <a:gd name="connsiteY40" fmla="*/ 426991 h 426991"/>
                <a:gd name="connsiteX41" fmla="*/ 237733 w 607639"/>
                <a:gd name="connsiteY41" fmla="*/ 426991 h 426991"/>
                <a:gd name="connsiteX42" fmla="*/ 213791 w 607639"/>
                <a:gd name="connsiteY42" fmla="*/ 403167 h 426991"/>
                <a:gd name="connsiteX43" fmla="*/ 213791 w 607639"/>
                <a:gd name="connsiteY43" fmla="*/ 313203 h 426991"/>
                <a:gd name="connsiteX44" fmla="*/ 237733 w 607639"/>
                <a:gd name="connsiteY44" fmla="*/ 292135 h 426991"/>
                <a:gd name="connsiteX45" fmla="*/ 292561 w 607639"/>
                <a:gd name="connsiteY45" fmla="*/ 292135 h 426991"/>
                <a:gd name="connsiteX46" fmla="*/ 292561 w 607639"/>
                <a:gd name="connsiteY46" fmla="*/ 247242 h 426991"/>
                <a:gd name="connsiteX47" fmla="*/ 101288 w 607639"/>
                <a:gd name="connsiteY47" fmla="*/ 247242 h 426991"/>
                <a:gd name="connsiteX48" fmla="*/ 101288 w 607639"/>
                <a:gd name="connsiteY48" fmla="*/ 292135 h 426991"/>
                <a:gd name="connsiteX49" fmla="*/ 158875 w 607639"/>
                <a:gd name="connsiteY49" fmla="*/ 292135 h 426991"/>
                <a:gd name="connsiteX50" fmla="*/ 180058 w 607639"/>
                <a:gd name="connsiteY50" fmla="*/ 313203 h 426991"/>
                <a:gd name="connsiteX51" fmla="*/ 180058 w 607639"/>
                <a:gd name="connsiteY51" fmla="*/ 403167 h 426991"/>
                <a:gd name="connsiteX52" fmla="*/ 158875 w 607639"/>
                <a:gd name="connsiteY52" fmla="*/ 426991 h 426991"/>
                <a:gd name="connsiteX53" fmla="*/ 24032 w 607639"/>
                <a:gd name="connsiteY53" fmla="*/ 426991 h 426991"/>
                <a:gd name="connsiteX54" fmla="*/ 0 w 607639"/>
                <a:gd name="connsiteY54" fmla="*/ 403167 h 426991"/>
                <a:gd name="connsiteX55" fmla="*/ 0 w 607639"/>
                <a:gd name="connsiteY55" fmla="*/ 313203 h 426991"/>
                <a:gd name="connsiteX56" fmla="*/ 24032 w 607639"/>
                <a:gd name="connsiteY56" fmla="*/ 292135 h 426991"/>
                <a:gd name="connsiteX57" fmla="*/ 78770 w 607639"/>
                <a:gd name="connsiteY57" fmla="*/ 292135 h 426991"/>
                <a:gd name="connsiteX58" fmla="*/ 78770 w 607639"/>
                <a:gd name="connsiteY58" fmla="*/ 234530 h 426991"/>
                <a:gd name="connsiteX59" fmla="*/ 91409 w 607639"/>
                <a:gd name="connsiteY59" fmla="*/ 224751 h 426991"/>
                <a:gd name="connsiteX60" fmla="*/ 236326 w 607639"/>
                <a:gd name="connsiteY60" fmla="*/ 21066 h 426991"/>
                <a:gd name="connsiteX61" fmla="*/ 236326 w 607639"/>
                <a:gd name="connsiteY61" fmla="*/ 111021 h 426991"/>
                <a:gd name="connsiteX62" fmla="*/ 371758 w 607639"/>
                <a:gd name="connsiteY62" fmla="*/ 111021 h 426991"/>
                <a:gd name="connsiteX63" fmla="*/ 372380 w 607639"/>
                <a:gd name="connsiteY63" fmla="*/ 21066 h 426991"/>
                <a:gd name="connsiteX64" fmla="*/ 237127 w 607639"/>
                <a:gd name="connsiteY64" fmla="*/ 21066 h 426991"/>
                <a:gd name="connsiteX65" fmla="*/ 237750 w 607639"/>
                <a:gd name="connsiteY65" fmla="*/ 0 h 426991"/>
                <a:gd name="connsiteX66" fmla="*/ 372647 w 607639"/>
                <a:gd name="connsiteY66" fmla="*/ 0 h 426991"/>
                <a:gd name="connsiteX67" fmla="*/ 393825 w 607639"/>
                <a:gd name="connsiteY67" fmla="*/ 21066 h 426991"/>
                <a:gd name="connsiteX68" fmla="*/ 393825 w 607639"/>
                <a:gd name="connsiteY68" fmla="*/ 111021 h 426991"/>
                <a:gd name="connsiteX69" fmla="*/ 372647 w 607639"/>
                <a:gd name="connsiteY69" fmla="*/ 134843 h 426991"/>
                <a:gd name="connsiteX70" fmla="*/ 315076 w 607639"/>
                <a:gd name="connsiteY70" fmla="*/ 134843 h 426991"/>
                <a:gd name="connsiteX71" fmla="*/ 315076 w 607639"/>
                <a:gd name="connsiteY71" fmla="*/ 191020 h 426991"/>
                <a:gd name="connsiteX72" fmla="*/ 292563 w 607639"/>
                <a:gd name="connsiteY72" fmla="*/ 191020 h 426991"/>
                <a:gd name="connsiteX73" fmla="*/ 292563 w 607639"/>
                <a:gd name="connsiteY73" fmla="*/ 134843 h 426991"/>
                <a:gd name="connsiteX74" fmla="*/ 237750 w 607639"/>
                <a:gd name="connsiteY74" fmla="*/ 134843 h 426991"/>
                <a:gd name="connsiteX75" fmla="*/ 213813 w 607639"/>
                <a:gd name="connsiteY75" fmla="*/ 111021 h 426991"/>
                <a:gd name="connsiteX76" fmla="*/ 213813 w 607639"/>
                <a:gd name="connsiteY76" fmla="*/ 21066 h 426991"/>
                <a:gd name="connsiteX77" fmla="*/ 237750 w 607639"/>
                <a:gd name="connsiteY77" fmla="*/ 0 h 4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639" h="426991">
                  <a:moveTo>
                    <a:pt x="450100" y="313203"/>
                  </a:moveTo>
                  <a:lnTo>
                    <a:pt x="450100" y="403167"/>
                  </a:lnTo>
                  <a:lnTo>
                    <a:pt x="585744" y="403167"/>
                  </a:lnTo>
                  <a:lnTo>
                    <a:pt x="586100" y="313203"/>
                  </a:lnTo>
                  <a:lnTo>
                    <a:pt x="530294" y="313203"/>
                  </a:lnTo>
                  <a:cubicBezTo>
                    <a:pt x="530294" y="313203"/>
                    <a:pt x="530116" y="313203"/>
                    <a:pt x="530116" y="313203"/>
                  </a:cubicBezTo>
                  <a:cubicBezTo>
                    <a:pt x="530027" y="313203"/>
                    <a:pt x="529849" y="313203"/>
                    <a:pt x="529760" y="313203"/>
                  </a:cubicBezTo>
                  <a:lnTo>
                    <a:pt x="450901" y="313203"/>
                  </a:lnTo>
                  <a:close/>
                  <a:moveTo>
                    <a:pt x="236309" y="313203"/>
                  </a:moveTo>
                  <a:lnTo>
                    <a:pt x="236309" y="403167"/>
                  </a:lnTo>
                  <a:lnTo>
                    <a:pt x="371953" y="403167"/>
                  </a:lnTo>
                  <a:lnTo>
                    <a:pt x="372754" y="313203"/>
                  </a:lnTo>
                  <a:lnTo>
                    <a:pt x="237110" y="313203"/>
                  </a:lnTo>
                  <a:close/>
                  <a:moveTo>
                    <a:pt x="22519" y="313203"/>
                  </a:moveTo>
                  <a:lnTo>
                    <a:pt x="22519" y="403167"/>
                  </a:lnTo>
                  <a:lnTo>
                    <a:pt x="158163" y="403167"/>
                  </a:lnTo>
                  <a:lnTo>
                    <a:pt x="158964" y="313203"/>
                  </a:lnTo>
                  <a:lnTo>
                    <a:pt x="91498" y="313203"/>
                  </a:lnTo>
                  <a:cubicBezTo>
                    <a:pt x="91409" y="313203"/>
                    <a:pt x="91320" y="313203"/>
                    <a:pt x="91231" y="313203"/>
                  </a:cubicBezTo>
                  <a:cubicBezTo>
                    <a:pt x="91231" y="313203"/>
                    <a:pt x="90964" y="313203"/>
                    <a:pt x="90964" y="313203"/>
                  </a:cubicBezTo>
                  <a:lnTo>
                    <a:pt x="23320" y="313203"/>
                  </a:lnTo>
                  <a:close/>
                  <a:moveTo>
                    <a:pt x="91409" y="224751"/>
                  </a:moveTo>
                  <a:lnTo>
                    <a:pt x="530294" y="224751"/>
                  </a:lnTo>
                  <a:cubicBezTo>
                    <a:pt x="536435" y="224751"/>
                    <a:pt x="540084" y="228396"/>
                    <a:pt x="540084" y="234530"/>
                  </a:cubicBezTo>
                  <a:lnTo>
                    <a:pt x="540084" y="292135"/>
                  </a:lnTo>
                  <a:lnTo>
                    <a:pt x="586456" y="292135"/>
                  </a:lnTo>
                  <a:cubicBezTo>
                    <a:pt x="598917" y="292135"/>
                    <a:pt x="607639" y="300847"/>
                    <a:pt x="607639" y="313203"/>
                  </a:cubicBezTo>
                  <a:lnTo>
                    <a:pt x="607639" y="403167"/>
                  </a:lnTo>
                  <a:cubicBezTo>
                    <a:pt x="607639" y="415524"/>
                    <a:pt x="598917" y="426991"/>
                    <a:pt x="586456" y="426991"/>
                  </a:cubicBezTo>
                  <a:lnTo>
                    <a:pt x="451524" y="426991"/>
                  </a:lnTo>
                  <a:cubicBezTo>
                    <a:pt x="439152" y="426991"/>
                    <a:pt x="427582" y="415524"/>
                    <a:pt x="427582" y="403167"/>
                  </a:cubicBezTo>
                  <a:lnTo>
                    <a:pt x="427582" y="313203"/>
                  </a:lnTo>
                  <a:cubicBezTo>
                    <a:pt x="427582" y="300847"/>
                    <a:pt x="439152" y="292135"/>
                    <a:pt x="451524" y="292135"/>
                  </a:cubicBezTo>
                  <a:lnTo>
                    <a:pt x="517566" y="292135"/>
                  </a:lnTo>
                  <a:lnTo>
                    <a:pt x="517566" y="247242"/>
                  </a:lnTo>
                  <a:lnTo>
                    <a:pt x="315079" y="247242"/>
                  </a:lnTo>
                  <a:lnTo>
                    <a:pt x="315079" y="292135"/>
                  </a:lnTo>
                  <a:lnTo>
                    <a:pt x="372665" y="292135"/>
                  </a:lnTo>
                  <a:cubicBezTo>
                    <a:pt x="385126" y="292135"/>
                    <a:pt x="393849" y="300847"/>
                    <a:pt x="393849" y="313203"/>
                  </a:cubicBezTo>
                  <a:lnTo>
                    <a:pt x="393849" y="403167"/>
                  </a:lnTo>
                  <a:cubicBezTo>
                    <a:pt x="393849" y="415524"/>
                    <a:pt x="385126" y="426991"/>
                    <a:pt x="372665" y="426991"/>
                  </a:cubicBezTo>
                  <a:lnTo>
                    <a:pt x="237733" y="426991"/>
                  </a:lnTo>
                  <a:cubicBezTo>
                    <a:pt x="225362" y="426991"/>
                    <a:pt x="213791" y="415524"/>
                    <a:pt x="213791" y="403167"/>
                  </a:cubicBezTo>
                  <a:lnTo>
                    <a:pt x="213791" y="313203"/>
                  </a:lnTo>
                  <a:cubicBezTo>
                    <a:pt x="213791" y="300847"/>
                    <a:pt x="225362" y="292135"/>
                    <a:pt x="237733" y="292135"/>
                  </a:cubicBezTo>
                  <a:lnTo>
                    <a:pt x="292561" y="292135"/>
                  </a:lnTo>
                  <a:lnTo>
                    <a:pt x="292561" y="247242"/>
                  </a:lnTo>
                  <a:lnTo>
                    <a:pt x="101288" y="247242"/>
                  </a:lnTo>
                  <a:lnTo>
                    <a:pt x="101288" y="292135"/>
                  </a:lnTo>
                  <a:lnTo>
                    <a:pt x="158875" y="292135"/>
                  </a:lnTo>
                  <a:cubicBezTo>
                    <a:pt x="171335" y="292135"/>
                    <a:pt x="180058" y="300847"/>
                    <a:pt x="180058" y="313203"/>
                  </a:cubicBezTo>
                  <a:lnTo>
                    <a:pt x="180058" y="403167"/>
                  </a:lnTo>
                  <a:cubicBezTo>
                    <a:pt x="180058" y="415524"/>
                    <a:pt x="171335" y="426991"/>
                    <a:pt x="158875" y="426991"/>
                  </a:cubicBezTo>
                  <a:lnTo>
                    <a:pt x="24032" y="426991"/>
                  </a:lnTo>
                  <a:cubicBezTo>
                    <a:pt x="11571" y="426991"/>
                    <a:pt x="0" y="415524"/>
                    <a:pt x="0" y="403167"/>
                  </a:cubicBezTo>
                  <a:lnTo>
                    <a:pt x="0" y="313203"/>
                  </a:lnTo>
                  <a:cubicBezTo>
                    <a:pt x="0" y="300847"/>
                    <a:pt x="11571" y="292135"/>
                    <a:pt x="24032" y="292135"/>
                  </a:cubicBezTo>
                  <a:lnTo>
                    <a:pt x="78770" y="292135"/>
                  </a:lnTo>
                  <a:lnTo>
                    <a:pt x="78770" y="234530"/>
                  </a:lnTo>
                  <a:cubicBezTo>
                    <a:pt x="78770" y="228396"/>
                    <a:pt x="85178" y="224751"/>
                    <a:pt x="91409" y="224751"/>
                  </a:cubicBezTo>
                  <a:close/>
                  <a:moveTo>
                    <a:pt x="236326" y="21066"/>
                  </a:moveTo>
                  <a:lnTo>
                    <a:pt x="236326" y="111021"/>
                  </a:lnTo>
                  <a:lnTo>
                    <a:pt x="371758" y="111021"/>
                  </a:lnTo>
                  <a:lnTo>
                    <a:pt x="372380" y="21066"/>
                  </a:lnTo>
                  <a:lnTo>
                    <a:pt x="237127" y="21066"/>
                  </a:lnTo>
                  <a:close/>
                  <a:moveTo>
                    <a:pt x="237750" y="0"/>
                  </a:moveTo>
                  <a:lnTo>
                    <a:pt x="372647" y="0"/>
                  </a:lnTo>
                  <a:cubicBezTo>
                    <a:pt x="385105" y="0"/>
                    <a:pt x="393825" y="8711"/>
                    <a:pt x="393825" y="21066"/>
                  </a:cubicBezTo>
                  <a:lnTo>
                    <a:pt x="393825" y="111021"/>
                  </a:lnTo>
                  <a:cubicBezTo>
                    <a:pt x="393825" y="123376"/>
                    <a:pt x="385105" y="134843"/>
                    <a:pt x="372647" y="134843"/>
                  </a:cubicBezTo>
                  <a:lnTo>
                    <a:pt x="315076" y="134843"/>
                  </a:lnTo>
                  <a:lnTo>
                    <a:pt x="315076" y="191020"/>
                  </a:lnTo>
                  <a:lnTo>
                    <a:pt x="292563" y="191020"/>
                  </a:lnTo>
                  <a:lnTo>
                    <a:pt x="292563" y="134843"/>
                  </a:lnTo>
                  <a:lnTo>
                    <a:pt x="237750" y="134843"/>
                  </a:lnTo>
                  <a:cubicBezTo>
                    <a:pt x="225381" y="134843"/>
                    <a:pt x="213813" y="123376"/>
                    <a:pt x="213813" y="111021"/>
                  </a:cubicBezTo>
                  <a:lnTo>
                    <a:pt x="213813" y="21066"/>
                  </a:lnTo>
                  <a:cubicBezTo>
                    <a:pt x="213813" y="8711"/>
                    <a:pt x="225381" y="0"/>
                    <a:pt x="237750" y="0"/>
                  </a:cubicBezTo>
                  <a:close/>
                </a:path>
              </a:pathLst>
            </a:custGeom>
            <a:solidFill>
              <a:schemeClr val="bg1"/>
            </a:solidFill>
            <a:ln>
              <a:noFill/>
            </a:ln>
          </p:spPr>
          <p:txBody>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endParaRPr lang="zh-CN" altLang="en-US"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ïš1ídé">
              <a:extLst>
                <a:ext uri="{FF2B5EF4-FFF2-40B4-BE49-F238E27FC236}">
                  <a16:creationId xmlns:a16="http://schemas.microsoft.com/office/drawing/2014/main" id="{21EE4AA3-F819-4CE7-91F3-E1A4FC0D9176}"/>
                </a:ext>
              </a:extLst>
            </p:cNvPr>
            <p:cNvSpPr/>
            <p:nvPr/>
          </p:nvSpPr>
          <p:spPr bwMode="auto">
            <a:xfrm flipH="1" flipV="1">
              <a:off x="6667058" y="1125538"/>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ïṥlïḋê" title="ry6MHxwOH8WsTKLSa514qPVJnvhhWFnRDjZGIbRZNsFBp">
              <a:extLst>
                <a:ext uri="{FF2B5EF4-FFF2-40B4-BE49-F238E27FC236}">
                  <a16:creationId xmlns:a16="http://schemas.microsoft.com/office/drawing/2014/main" id="{7545F258-215C-4496-A9DA-DB521B364054}"/>
                </a:ext>
              </a:extLst>
            </p:cNvPr>
            <p:cNvSpPr/>
            <p:nvPr/>
          </p:nvSpPr>
          <p:spPr bwMode="auto">
            <a:xfrm>
              <a:off x="7944651" y="3202583"/>
              <a:ext cx="293274" cy="292887"/>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txBody>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endParaRPr lang="zh-CN" altLang="en-US" dirty="0">
                <a:solidFill>
                  <a:srgbClr val="911F22"/>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6" name="任意多边形: 形状 15">
            <a:extLst>
              <a:ext uri="{FF2B5EF4-FFF2-40B4-BE49-F238E27FC236}">
                <a16:creationId xmlns:a16="http://schemas.microsoft.com/office/drawing/2014/main" id="{56C13677-5F5E-4DBC-AF02-0649123E79A6}"/>
              </a:ext>
            </a:extLst>
          </p:cNvPr>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7" name="图片 16">
            <a:extLst>
              <a:ext uri="{FF2B5EF4-FFF2-40B4-BE49-F238E27FC236}">
                <a16:creationId xmlns:a16="http://schemas.microsoft.com/office/drawing/2014/main" id="{A3F741E8-EC42-41B7-AEAA-FF989CFC73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8" name="矩形 17">
            <a:extLst>
              <a:ext uri="{FF2B5EF4-FFF2-40B4-BE49-F238E27FC236}">
                <a16:creationId xmlns:a16="http://schemas.microsoft.com/office/drawing/2014/main" id="{693DDED8-E88B-419C-A65E-35C8759F1304}"/>
              </a:ext>
            </a:extLst>
          </p:cNvPr>
          <p:cNvSpPr/>
          <p:nvPr/>
        </p:nvSpPr>
        <p:spPr>
          <a:xfrm>
            <a:off x="1196072" y="647713"/>
            <a:ext cx="2771913"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3.4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补充说明情况</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a:extLst>
              <a:ext uri="{FF2B5EF4-FFF2-40B4-BE49-F238E27FC236}">
                <a16:creationId xmlns:a16="http://schemas.microsoft.com/office/drawing/2014/main" id="{7CF1DD9D-093B-4FF5-9B9B-7C7AECF90D42}"/>
              </a:ext>
            </a:extLst>
          </p:cNvPr>
          <p:cNvSpPr/>
          <p:nvPr/>
        </p:nvSpPr>
        <p:spPr>
          <a:xfrm>
            <a:off x="1052763" y="4193293"/>
            <a:ext cx="3105699" cy="1613968"/>
          </a:xfrm>
          <a:prstGeom prst="rect">
            <a:avLst/>
          </a:prstGeom>
        </p:spPr>
        <p:txBody>
          <a:bodyPr wrap="square">
            <a:spAutoFit/>
          </a:bodyPr>
          <a:lstStyle/>
          <a:p>
            <a:pPr algn="ctr">
              <a:lnSpc>
                <a:spcPct val="150000"/>
              </a:lnSpc>
              <a:spcAft>
                <a:spcPts val="600"/>
              </a:spcAft>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阶段性成果价值</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       当前已完成视觉大模型从部署到初步应用的关键跨越，提示词优化与视频预处理为后续实时交互奠定了重要技术基础，进度虽稍有滞后，但项目整体推进符合预期。</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a:extLst>
              <a:ext uri="{FF2B5EF4-FFF2-40B4-BE49-F238E27FC236}">
                <a16:creationId xmlns:a16="http://schemas.microsoft.com/office/drawing/2014/main" id="{75E74398-9DB4-4479-9FAC-212252834EA1}"/>
              </a:ext>
            </a:extLst>
          </p:cNvPr>
          <p:cNvSpPr/>
          <p:nvPr/>
        </p:nvSpPr>
        <p:spPr>
          <a:xfrm>
            <a:off x="8091288" y="1757212"/>
            <a:ext cx="2962390" cy="1336969"/>
          </a:xfrm>
          <a:prstGeom prst="rect">
            <a:avLst/>
          </a:prstGeom>
        </p:spPr>
        <p:txBody>
          <a:bodyPr wrap="square">
            <a:spAutoFit/>
          </a:bodyPr>
          <a:lstStyle/>
          <a:p>
            <a:pPr algn="ctr">
              <a:lnSpc>
                <a:spcPct val="150000"/>
              </a:lnSpc>
              <a:spcAft>
                <a:spcPts val="600"/>
              </a:spcAft>
            </a:pPr>
            <a:r>
              <a:rPr lang="zh-CN" altLang="en-US"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风险可控性</a:t>
            </a:r>
            <a:endParaRPr lang="en-US" altLang="zh-CN" sz="16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       输出结果数字化虽未完成，但团队在后续计划预留了缓冲时间，可通过任务协调追赶进度。</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extLst>
      <p:ext uri="{BB962C8B-B14F-4D97-AF65-F5344CB8AC3E}">
        <p14:creationId xmlns:p14="http://schemas.microsoft.com/office/powerpoint/2010/main" val="24972319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3616960"/>
          </a:xfrm>
          <a:prstGeom prst="rect">
            <a:avLst/>
          </a:prstGeom>
          <a:solidFill>
            <a:srgbClr val="005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rgbClr val="005A8A"/>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645160"/>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4.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下一步工作计划</a:t>
            </a:r>
          </a:p>
        </p:txBody>
      </p:sp>
      <p:pic>
        <p:nvPicPr>
          <p:cNvPr id="7" name="图片 6"/>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142030" y="754120"/>
            <a:ext cx="1308810" cy="1308810"/>
          </a:xfrm>
          <a:prstGeom prst="rect">
            <a:avLst/>
          </a:prstGeom>
        </p:spPr>
      </p:pic>
      <p:pic>
        <p:nvPicPr>
          <p:cNvPr id="8" name="图片 7"/>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5677420" y="968390"/>
            <a:ext cx="2434110" cy="8400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4612640" y="2338585"/>
            <a:ext cx="3429138" cy="3204661"/>
            <a:chOff x="0" y="0"/>
            <a:chExt cx="2490" cy="2327"/>
          </a:xfrm>
        </p:grpSpPr>
        <p:sp>
          <p:nvSpPr>
            <p:cNvPr id="3" name="Freeform 4"/>
            <p:cNvSpPr>
              <a:spLocks noChangeArrowheads="1"/>
            </p:cNvSpPr>
            <p:nvPr/>
          </p:nvSpPr>
          <p:spPr bwMode="auto">
            <a:xfrm>
              <a:off x="5" y="689"/>
              <a:ext cx="912" cy="1231"/>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Freeform 5"/>
            <p:cNvSpPr>
              <a:spLocks noChangeArrowheads="1"/>
            </p:cNvSpPr>
            <p:nvPr/>
          </p:nvSpPr>
          <p:spPr bwMode="auto">
            <a:xfrm rot="7200000">
              <a:off x="1071" y="8"/>
              <a:ext cx="860" cy="1305"/>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chemeClr val="accent1">
                <a:lumMod val="75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Group 6"/>
            <p:cNvGrpSpPr/>
            <p:nvPr/>
          </p:nvGrpSpPr>
          <p:grpSpPr bwMode="auto">
            <a:xfrm>
              <a:off x="57" y="0"/>
              <a:ext cx="1480" cy="1302"/>
              <a:chOff x="0" y="0"/>
              <a:chExt cx="1480" cy="1302"/>
            </a:xfrm>
          </p:grpSpPr>
          <p:sp>
            <p:nvSpPr>
              <p:cNvPr id="15" name="AutoShape 7"/>
              <p:cNvSpPr>
                <a:spLocks noChangeArrowheads="1"/>
              </p:cNvSpPr>
              <p:nvPr/>
            </p:nvSpPr>
            <p:spPr bwMode="auto">
              <a:xfrm rot="12600000">
                <a:off x="0" y="922"/>
                <a:ext cx="908" cy="380"/>
              </a:xfrm>
              <a:prstGeom prst="triangle">
                <a:avLst>
                  <a:gd name="adj" fmla="val 50000"/>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Freeform 8"/>
              <p:cNvSpPr>
                <a:spLocks noChangeArrowheads="1"/>
              </p:cNvSpPr>
              <p:nvPr/>
            </p:nvSpPr>
            <p:spPr bwMode="auto">
              <a:xfrm rot="7200000">
                <a:off x="249" y="421"/>
                <a:ext cx="948" cy="508"/>
              </a:xfrm>
              <a:custGeom>
                <a:avLst/>
                <a:gdLst>
                  <a:gd name="T0" fmla="*/ 9866 w 750"/>
                  <a:gd name="T1" fmla="*/ 0 h 378"/>
                  <a:gd name="T2" fmla="*/ 0 w 750"/>
                  <a:gd name="T3" fmla="*/ 0 h 378"/>
                  <a:gd name="T4" fmla="*/ 32 w 750"/>
                  <a:gd name="T5" fmla="*/ 5020 h 378"/>
                  <a:gd name="T6" fmla="*/ 368 w 750"/>
                  <a:gd name="T7" fmla="*/ 9768 h 378"/>
                  <a:gd name="T8" fmla="*/ 9866 w 750"/>
                  <a:gd name="T9" fmla="*/ 9768 h 378"/>
                  <a:gd name="T10" fmla="*/ 9866 w 750"/>
                  <a:gd name="T11" fmla="*/ 0 h 378"/>
                  <a:gd name="T12" fmla="*/ 9866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chemeClr val="accent1">
                  <a:lumMod val="75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Freeform 9"/>
              <p:cNvSpPr>
                <a:spLocks noChangeArrowheads="1"/>
              </p:cNvSpPr>
              <p:nvPr/>
            </p:nvSpPr>
            <p:spPr bwMode="auto">
              <a:xfrm rot="7200000">
                <a:off x="925" y="-163"/>
                <a:ext cx="392" cy="718"/>
              </a:xfrm>
              <a:custGeom>
                <a:avLst/>
                <a:gdLst>
                  <a:gd name="T0" fmla="*/ 38 w 495"/>
                  <a:gd name="T1" fmla="*/ 10 h 971"/>
                  <a:gd name="T2" fmla="*/ 38 w 495"/>
                  <a:gd name="T3" fmla="*/ 35 h 971"/>
                  <a:gd name="T4" fmla="*/ 35 w 495"/>
                  <a:gd name="T5" fmla="*/ 35 h 971"/>
                  <a:gd name="T6" fmla="*/ 33 w 495"/>
                  <a:gd name="T7" fmla="*/ 35 h 971"/>
                  <a:gd name="T8" fmla="*/ 31 w 495"/>
                  <a:gd name="T9" fmla="*/ 33 h 971"/>
                  <a:gd name="T10" fmla="*/ 29 w 495"/>
                  <a:gd name="T11" fmla="*/ 33 h 971"/>
                  <a:gd name="T12" fmla="*/ 25 w 495"/>
                  <a:gd name="T13" fmla="*/ 31 h 971"/>
                  <a:gd name="T14" fmla="*/ 23 w 495"/>
                  <a:gd name="T15" fmla="*/ 29 h 971"/>
                  <a:gd name="T16" fmla="*/ 21 w 495"/>
                  <a:gd name="T17" fmla="*/ 27 h 971"/>
                  <a:gd name="T18" fmla="*/ 17 w 495"/>
                  <a:gd name="T19" fmla="*/ 24 h 971"/>
                  <a:gd name="T20" fmla="*/ 14 w 495"/>
                  <a:gd name="T21" fmla="*/ 20 h 971"/>
                  <a:gd name="T22" fmla="*/ 10 w 495"/>
                  <a:gd name="T23" fmla="*/ 16 h 971"/>
                  <a:gd name="T24" fmla="*/ 8 w 495"/>
                  <a:gd name="T25" fmla="*/ 13 h 971"/>
                  <a:gd name="T26" fmla="*/ 2 w 495"/>
                  <a:gd name="T27" fmla="*/ 7 h 971"/>
                  <a:gd name="T28" fmla="*/ 2 w 495"/>
                  <a:gd name="T29" fmla="*/ 5 h 971"/>
                  <a:gd name="T30" fmla="*/ 0 w 495"/>
                  <a:gd name="T31" fmla="*/ 2 h 971"/>
                  <a:gd name="T32" fmla="*/ 2 w 495"/>
                  <a:gd name="T33" fmla="*/ 0 h 971"/>
                  <a:gd name="T34" fmla="*/ 2 w 495"/>
                  <a:gd name="T35" fmla="*/ 1 h 971"/>
                  <a:gd name="T36" fmla="*/ 2 w 495"/>
                  <a:gd name="T37" fmla="*/ 3 h 971"/>
                  <a:gd name="T38" fmla="*/ 2 w 495"/>
                  <a:gd name="T39" fmla="*/ 4 h 971"/>
                  <a:gd name="T40" fmla="*/ 2 w 495"/>
                  <a:gd name="T41" fmla="*/ 5 h 971"/>
                  <a:gd name="T42" fmla="*/ 2 w 495"/>
                  <a:gd name="T43" fmla="*/ 6 h 971"/>
                  <a:gd name="T44" fmla="*/ 4 w 495"/>
                  <a:gd name="T45" fmla="*/ 7 h 971"/>
                  <a:gd name="T46" fmla="*/ 6 w 495"/>
                  <a:gd name="T47" fmla="*/ 9 h 971"/>
                  <a:gd name="T48" fmla="*/ 10 w 495"/>
                  <a:gd name="T49" fmla="*/ 10 h 971"/>
                  <a:gd name="T50" fmla="*/ 13 w 495"/>
                  <a:gd name="T51" fmla="*/ 10 h 971"/>
                  <a:gd name="T52" fmla="*/ 19 w 495"/>
                  <a:gd name="T53" fmla="*/ 10 h 971"/>
                  <a:gd name="T54" fmla="*/ 38 w 495"/>
                  <a:gd name="T55" fmla="*/ 10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chemeClr val="accent1">
                  <a:lumMod val="75000"/>
                </a:schemeClr>
              </a:solidFill>
              <a:ln w="0" cmpd="sng">
                <a:noFill/>
                <a:bevel/>
              </a:ln>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6" name="Freeform 10"/>
            <p:cNvSpPr>
              <a:spLocks noChangeArrowheads="1"/>
            </p:cNvSpPr>
            <p:nvPr/>
          </p:nvSpPr>
          <p:spPr bwMode="auto">
            <a:xfrm rot="14400000">
              <a:off x="1143" y="1175"/>
              <a:ext cx="860" cy="1305"/>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rgbClr val="005A8A"/>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7" name="Group 11"/>
            <p:cNvGrpSpPr/>
            <p:nvPr/>
          </p:nvGrpSpPr>
          <p:grpSpPr bwMode="auto">
            <a:xfrm>
              <a:off x="1194" y="602"/>
              <a:ext cx="1296" cy="1381"/>
              <a:chOff x="0" y="0"/>
              <a:chExt cx="1296" cy="1381"/>
            </a:xfrm>
          </p:grpSpPr>
          <p:sp>
            <p:nvSpPr>
              <p:cNvPr id="12" name="AutoShape 12"/>
              <p:cNvSpPr>
                <a:spLocks noChangeArrowheads="1"/>
              </p:cNvSpPr>
              <p:nvPr/>
            </p:nvSpPr>
            <p:spPr bwMode="auto">
              <a:xfrm rot="19800000">
                <a:off x="0" y="0"/>
                <a:ext cx="906" cy="380"/>
              </a:xfrm>
              <a:prstGeom prst="triangle">
                <a:avLst>
                  <a:gd name="adj" fmla="val 50000"/>
                </a:avLst>
              </a:prstGeom>
              <a:solidFill>
                <a:srgbClr val="005A8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Freeform 13"/>
              <p:cNvSpPr>
                <a:spLocks noChangeArrowheads="1"/>
              </p:cNvSpPr>
              <p:nvPr/>
            </p:nvSpPr>
            <p:spPr bwMode="auto">
              <a:xfrm rot="14400000">
                <a:off x="248" y="374"/>
                <a:ext cx="948" cy="507"/>
              </a:xfrm>
              <a:custGeom>
                <a:avLst/>
                <a:gdLst>
                  <a:gd name="T0" fmla="*/ 9866 w 750"/>
                  <a:gd name="T1" fmla="*/ 0 h 378"/>
                  <a:gd name="T2" fmla="*/ 0 w 750"/>
                  <a:gd name="T3" fmla="*/ 0 h 378"/>
                  <a:gd name="T4" fmla="*/ 32 w 750"/>
                  <a:gd name="T5" fmla="*/ 4901 h 378"/>
                  <a:gd name="T6" fmla="*/ 368 w 750"/>
                  <a:gd name="T7" fmla="*/ 9551 h 378"/>
                  <a:gd name="T8" fmla="*/ 9866 w 750"/>
                  <a:gd name="T9" fmla="*/ 9551 h 378"/>
                  <a:gd name="T10" fmla="*/ 9866 w 750"/>
                  <a:gd name="T11" fmla="*/ 0 h 378"/>
                  <a:gd name="T12" fmla="*/ 9866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rgbClr val="005A8A"/>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Freeform 14"/>
              <p:cNvSpPr>
                <a:spLocks noChangeArrowheads="1"/>
              </p:cNvSpPr>
              <p:nvPr/>
            </p:nvSpPr>
            <p:spPr bwMode="auto">
              <a:xfrm rot="14400000">
                <a:off x="764" y="849"/>
                <a:ext cx="346" cy="718"/>
              </a:xfrm>
              <a:custGeom>
                <a:avLst/>
                <a:gdLst>
                  <a:gd name="T0" fmla="*/ 10 w 495"/>
                  <a:gd name="T1" fmla="*/ 10 h 971"/>
                  <a:gd name="T2" fmla="*/ 10 w 495"/>
                  <a:gd name="T3" fmla="*/ 35 h 971"/>
                  <a:gd name="T4" fmla="*/ 9 w 495"/>
                  <a:gd name="T5" fmla="*/ 35 h 971"/>
                  <a:gd name="T6" fmla="*/ 8 w 495"/>
                  <a:gd name="T7" fmla="*/ 35 h 971"/>
                  <a:gd name="T8" fmla="*/ 8 w 495"/>
                  <a:gd name="T9" fmla="*/ 33 h 971"/>
                  <a:gd name="T10" fmla="*/ 7 w 495"/>
                  <a:gd name="T11" fmla="*/ 33 h 971"/>
                  <a:gd name="T12" fmla="*/ 7 w 495"/>
                  <a:gd name="T13" fmla="*/ 31 h 971"/>
                  <a:gd name="T14" fmla="*/ 6 w 495"/>
                  <a:gd name="T15" fmla="*/ 29 h 971"/>
                  <a:gd name="T16" fmla="*/ 5 w 495"/>
                  <a:gd name="T17" fmla="*/ 27 h 971"/>
                  <a:gd name="T18" fmla="*/ 4 w 495"/>
                  <a:gd name="T19" fmla="*/ 24 h 971"/>
                  <a:gd name="T20" fmla="*/ 3 w 495"/>
                  <a:gd name="T21" fmla="*/ 20 h 971"/>
                  <a:gd name="T22" fmla="*/ 2 w 495"/>
                  <a:gd name="T23" fmla="*/ 16 h 971"/>
                  <a:gd name="T24" fmla="*/ 2 w 495"/>
                  <a:gd name="T25" fmla="*/ 13 h 971"/>
                  <a:gd name="T26" fmla="*/ 1 w 495"/>
                  <a:gd name="T27" fmla="*/ 7 h 971"/>
                  <a:gd name="T28" fmla="*/ 1 w 495"/>
                  <a:gd name="T29" fmla="*/ 5 h 971"/>
                  <a:gd name="T30" fmla="*/ 0 w 495"/>
                  <a:gd name="T31" fmla="*/ 2 h 971"/>
                  <a:gd name="T32" fmla="*/ 1 w 495"/>
                  <a:gd name="T33" fmla="*/ 0 h 971"/>
                  <a:gd name="T34" fmla="*/ 1 w 495"/>
                  <a:gd name="T35" fmla="*/ 1 h 971"/>
                  <a:gd name="T36" fmla="*/ 1 w 495"/>
                  <a:gd name="T37" fmla="*/ 3 h 971"/>
                  <a:gd name="T38" fmla="*/ 1 w 495"/>
                  <a:gd name="T39" fmla="*/ 4 h 971"/>
                  <a:gd name="T40" fmla="*/ 1 w 495"/>
                  <a:gd name="T41" fmla="*/ 5 h 971"/>
                  <a:gd name="T42" fmla="*/ 1 w 495"/>
                  <a:gd name="T43" fmla="*/ 6 h 971"/>
                  <a:gd name="T44" fmla="*/ 1 w 495"/>
                  <a:gd name="T45" fmla="*/ 7 h 971"/>
                  <a:gd name="T46" fmla="*/ 1 w 495"/>
                  <a:gd name="T47" fmla="*/ 9 h 971"/>
                  <a:gd name="T48" fmla="*/ 2 w 495"/>
                  <a:gd name="T49" fmla="*/ 10 h 971"/>
                  <a:gd name="T50" fmla="*/ 3 w 495"/>
                  <a:gd name="T51" fmla="*/ 10 h 971"/>
                  <a:gd name="T52" fmla="*/ 5 w 495"/>
                  <a:gd name="T53" fmla="*/ 10 h 971"/>
                  <a:gd name="T54" fmla="*/ 10 w 495"/>
                  <a:gd name="T55" fmla="*/ 10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005A8A"/>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8" name="Group 15"/>
            <p:cNvGrpSpPr/>
            <p:nvPr/>
          </p:nvGrpSpPr>
          <p:grpSpPr bwMode="auto">
            <a:xfrm>
              <a:off x="0" y="1448"/>
              <a:ext cx="1571" cy="879"/>
              <a:chOff x="0" y="0"/>
              <a:chExt cx="1571" cy="879"/>
            </a:xfrm>
          </p:grpSpPr>
          <p:sp>
            <p:nvSpPr>
              <p:cNvPr id="9" name="Freeform 16"/>
              <p:cNvSpPr>
                <a:spLocks noChangeArrowheads="1"/>
              </p:cNvSpPr>
              <p:nvPr/>
            </p:nvSpPr>
            <p:spPr bwMode="auto">
              <a:xfrm>
                <a:off x="0" y="0"/>
                <a:ext cx="366" cy="692"/>
              </a:xfrm>
              <a:custGeom>
                <a:avLst/>
                <a:gdLst>
                  <a:gd name="T0" fmla="*/ 18 w 495"/>
                  <a:gd name="T1" fmla="*/ 7 h 971"/>
                  <a:gd name="T2" fmla="*/ 18 w 495"/>
                  <a:gd name="T3" fmla="*/ 24 h 971"/>
                  <a:gd name="T4" fmla="*/ 16 w 495"/>
                  <a:gd name="T5" fmla="*/ 24 h 971"/>
                  <a:gd name="T6" fmla="*/ 16 w 495"/>
                  <a:gd name="T7" fmla="*/ 23 h 971"/>
                  <a:gd name="T8" fmla="*/ 15 w 495"/>
                  <a:gd name="T9" fmla="*/ 22 h 971"/>
                  <a:gd name="T10" fmla="*/ 13 w 495"/>
                  <a:gd name="T11" fmla="*/ 22 h 971"/>
                  <a:gd name="T12" fmla="*/ 12 w 495"/>
                  <a:gd name="T13" fmla="*/ 21 h 971"/>
                  <a:gd name="T14" fmla="*/ 11 w 495"/>
                  <a:gd name="T15" fmla="*/ 19 h 971"/>
                  <a:gd name="T16" fmla="*/ 10 w 495"/>
                  <a:gd name="T17" fmla="*/ 17 h 971"/>
                  <a:gd name="T18" fmla="*/ 8 w 495"/>
                  <a:gd name="T19" fmla="*/ 16 h 971"/>
                  <a:gd name="T20" fmla="*/ 7 w 495"/>
                  <a:gd name="T21" fmla="*/ 14 h 971"/>
                  <a:gd name="T22" fmla="*/ 5 w 495"/>
                  <a:gd name="T23" fmla="*/ 11 h 971"/>
                  <a:gd name="T24" fmla="*/ 4 w 495"/>
                  <a:gd name="T25" fmla="*/ 9 h 971"/>
                  <a:gd name="T26" fmla="*/ 1 w 495"/>
                  <a:gd name="T27" fmla="*/ 5 h 971"/>
                  <a:gd name="T28" fmla="*/ 1 w 495"/>
                  <a:gd name="T29" fmla="*/ 3 h 971"/>
                  <a:gd name="T30" fmla="*/ 0 w 495"/>
                  <a:gd name="T31" fmla="*/ 1 h 971"/>
                  <a:gd name="T32" fmla="*/ 1 w 495"/>
                  <a:gd name="T33" fmla="*/ 0 h 971"/>
                  <a:gd name="T34" fmla="*/ 1 w 495"/>
                  <a:gd name="T35" fmla="*/ 1 h 971"/>
                  <a:gd name="T36" fmla="*/ 1 w 495"/>
                  <a:gd name="T37" fmla="*/ 2 h 971"/>
                  <a:gd name="T38" fmla="*/ 1 w 495"/>
                  <a:gd name="T39" fmla="*/ 3 h 971"/>
                  <a:gd name="T40" fmla="*/ 1 w 495"/>
                  <a:gd name="T41" fmla="*/ 3 h 971"/>
                  <a:gd name="T42" fmla="*/ 1 w 495"/>
                  <a:gd name="T43" fmla="*/ 4 h 971"/>
                  <a:gd name="T44" fmla="*/ 2 w 495"/>
                  <a:gd name="T45" fmla="*/ 5 h 971"/>
                  <a:gd name="T46" fmla="*/ 3 w 495"/>
                  <a:gd name="T47" fmla="*/ 6 h 971"/>
                  <a:gd name="T48" fmla="*/ 4 w 495"/>
                  <a:gd name="T49" fmla="*/ 6 h 971"/>
                  <a:gd name="T50" fmla="*/ 7 w 495"/>
                  <a:gd name="T51" fmla="*/ 7 h 971"/>
                  <a:gd name="T52" fmla="*/ 9 w 495"/>
                  <a:gd name="T53" fmla="*/ 7 h 971"/>
                  <a:gd name="T54" fmla="*/ 18 w 495"/>
                  <a:gd name="T55" fmla="*/ 7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AutoShape 17"/>
              <p:cNvSpPr>
                <a:spLocks noChangeArrowheads="1"/>
              </p:cNvSpPr>
              <p:nvPr/>
            </p:nvSpPr>
            <p:spPr bwMode="auto">
              <a:xfrm rot="5400000">
                <a:off x="934" y="240"/>
                <a:ext cx="872" cy="403"/>
              </a:xfrm>
              <a:prstGeom prst="triangle">
                <a:avLst>
                  <a:gd name="adj" fmla="val 50000"/>
                </a:avLst>
              </a:prstGeom>
              <a:solidFill>
                <a:schemeClr val="bg1">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Freeform 18"/>
              <p:cNvSpPr>
                <a:spLocks noChangeArrowheads="1"/>
              </p:cNvSpPr>
              <p:nvPr/>
            </p:nvSpPr>
            <p:spPr bwMode="auto">
              <a:xfrm>
                <a:off x="330" y="203"/>
                <a:ext cx="1005" cy="489"/>
              </a:xfrm>
              <a:custGeom>
                <a:avLst/>
                <a:gdLst>
                  <a:gd name="T0" fmla="*/ 18765 w 750"/>
                  <a:gd name="T1" fmla="*/ 0 h 378"/>
                  <a:gd name="T2" fmla="*/ 0 w 750"/>
                  <a:gd name="T3" fmla="*/ 0 h 378"/>
                  <a:gd name="T4" fmla="*/ 51 w 750"/>
                  <a:gd name="T5" fmla="*/ 3290 h 378"/>
                  <a:gd name="T6" fmla="*/ 702 w 750"/>
                  <a:gd name="T7" fmla="*/ 6419 h 378"/>
                  <a:gd name="T8" fmla="*/ 18765 w 750"/>
                  <a:gd name="T9" fmla="*/ 6419 h 378"/>
                  <a:gd name="T10" fmla="*/ 18765 w 750"/>
                  <a:gd name="T11" fmla="*/ 0 h 378"/>
                  <a:gd name="T12" fmla="*/ 18765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25" name="任意多边形: 形状 24"/>
          <p:cNvSpPr/>
          <p:nvPr/>
        </p:nvSpPr>
        <p:spPr>
          <a:xfrm>
            <a:off x="415290" y="503555"/>
            <a:ext cx="7886700" cy="749935"/>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177" y="569456"/>
            <a:ext cx="618131" cy="618131"/>
          </a:xfrm>
          <a:prstGeom prst="rect">
            <a:avLst/>
          </a:prstGeom>
        </p:spPr>
      </p:pic>
      <p:sp>
        <p:nvSpPr>
          <p:cNvPr id="27" name="矩形 26"/>
          <p:cNvSpPr/>
          <p:nvPr/>
        </p:nvSpPr>
        <p:spPr>
          <a:xfrm>
            <a:off x="1411903" y="657297"/>
            <a:ext cx="6468110" cy="46037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实时系统集成与性能优化（</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2025.11-2025.12)</a:t>
            </a:r>
          </a:p>
        </p:txBody>
      </p:sp>
      <p:sp>
        <p:nvSpPr>
          <p:cNvPr id="28" name="矩形 27"/>
          <p:cNvSpPr/>
          <p:nvPr/>
        </p:nvSpPr>
        <p:spPr>
          <a:xfrm>
            <a:off x="4266565" y="1449705"/>
            <a:ext cx="4334510" cy="750570"/>
          </a:xfrm>
          <a:prstGeom prst="rect">
            <a:avLst/>
          </a:prstGeom>
        </p:spPr>
        <p:txBody>
          <a:bodyPr wrap="square">
            <a:noAutofit/>
          </a:bodyPr>
          <a:lstStyle/>
          <a:p>
            <a:pPr indent="0" algn="ctr">
              <a:lnSpc>
                <a:spcPct val="150000"/>
              </a:lnSpc>
              <a:spcAft>
                <a:spcPts val="600"/>
              </a:spcAft>
              <a:buFont typeface="Wingdings" panose="05000000000000000000" pitchFamily="2" charset="2"/>
              <a:buNone/>
            </a:pPr>
            <a:r>
              <a:rPr lang="zh-CN" altLang="en-US" dirty="0">
                <a:ea typeface="字魂105号-简雅黑" panose="00000500000000000000" pitchFamily="2" charset="-122"/>
                <a:sym typeface="字魂105号-简雅黑" panose="00000500000000000000" pitchFamily="2" charset="-122"/>
              </a:rPr>
              <a:t>构建端到端实时视频分析架构，实现多路摄像头数据与视觉大模型的高效对接</a:t>
            </a:r>
          </a:p>
        </p:txBody>
      </p:sp>
      <p:sp>
        <p:nvSpPr>
          <p:cNvPr id="29" name="矩形 28"/>
          <p:cNvSpPr/>
          <p:nvPr/>
        </p:nvSpPr>
        <p:spPr>
          <a:xfrm>
            <a:off x="1303893" y="4256957"/>
            <a:ext cx="2962390" cy="879664"/>
          </a:xfrm>
          <a:prstGeom prst="rect">
            <a:avLst/>
          </a:prstGeom>
        </p:spPr>
        <p:txBody>
          <a:bodyPr wrap="square">
            <a:spAutoFit/>
          </a:bodyPr>
          <a:lstStyle/>
          <a:p>
            <a:pPr indent="0" algn="ctr">
              <a:lnSpc>
                <a:spcPct val="150000"/>
              </a:lnSpc>
              <a:spcAft>
                <a:spcPts val="600"/>
              </a:spcAft>
              <a:buFont typeface="Wingdings" panose="05000000000000000000" pitchFamily="2" charset="2"/>
              <a:buNone/>
            </a:pPr>
            <a:r>
              <a:rPr lang="zh-CN" altLang="en-US" dirty="0">
                <a:ea typeface="字魂105号-简雅黑" panose="00000500000000000000" pitchFamily="2" charset="-122"/>
                <a:sym typeface="字魂105号-简雅黑" panose="00000500000000000000" pitchFamily="2" charset="-122"/>
              </a:rPr>
              <a:t>完成模型的微服务化部署，设计高可用架构方案</a:t>
            </a:r>
          </a:p>
        </p:txBody>
      </p:sp>
      <p:sp>
        <p:nvSpPr>
          <p:cNvPr id="30" name="矩形 29"/>
          <p:cNvSpPr/>
          <p:nvPr/>
        </p:nvSpPr>
        <p:spPr>
          <a:xfrm>
            <a:off x="8185785" y="4049395"/>
            <a:ext cx="3651885" cy="1337945"/>
          </a:xfrm>
          <a:prstGeom prst="rect">
            <a:avLst/>
          </a:prstGeom>
        </p:spPr>
        <p:txBody>
          <a:bodyPr wrap="square">
            <a:spAutoFit/>
          </a:bodyPr>
          <a:lstStyle/>
          <a:p>
            <a:pPr indent="0" algn="ctr">
              <a:lnSpc>
                <a:spcPct val="150000"/>
              </a:lnSpc>
              <a:spcAft>
                <a:spcPts val="600"/>
              </a:spcAft>
              <a:buFont typeface="Wingdings" panose="05000000000000000000" pitchFamily="2" charset="2"/>
              <a:buNone/>
            </a:pPr>
            <a:r>
              <a:rPr lang="zh-CN" altLang="en-US" dirty="0">
                <a:ea typeface="字魂105号-简雅黑" panose="00000500000000000000" pitchFamily="2" charset="-122"/>
                <a:sym typeface="字魂105号-简雅黑" panose="00000500000000000000" pitchFamily="2" charset="-122"/>
              </a:rPr>
              <a:t>建立图像数据集，并在此基础上建立系统性能监控体系，重点优化高并发场景下的资源调度与响应延迟</a:t>
            </a:r>
          </a:p>
        </p:txBody>
      </p:sp>
      <p:sp>
        <p:nvSpPr>
          <p:cNvPr id="31" name="矩形 30"/>
          <p:cNvSpPr/>
          <p:nvPr/>
        </p:nvSpPr>
        <p:spPr>
          <a:xfrm>
            <a:off x="3368675" y="5730240"/>
            <a:ext cx="6150610" cy="879664"/>
          </a:xfrm>
          <a:prstGeom prst="rect">
            <a:avLst/>
          </a:prstGeom>
        </p:spPr>
        <p:txBody>
          <a:bodyPr wrap="square">
            <a:spAutoFit/>
          </a:bodyPr>
          <a:lstStyle/>
          <a:p>
            <a:pPr algn="ctr">
              <a:lnSpc>
                <a:spcPct val="150000"/>
              </a:lnSpc>
              <a:spcAft>
                <a:spcPts val="600"/>
              </a:spcAft>
            </a:pPr>
            <a:r>
              <a:rPr lang="zh-CN" altLang="en-US" b="1" dirty="0">
                <a:solidFill>
                  <a:srgbClr val="005A8A"/>
                </a:solidFill>
                <a:ea typeface="字魂105号-简雅黑" panose="00000500000000000000" pitchFamily="2" charset="-122"/>
                <a:sym typeface="字魂105号-简雅黑" panose="00000500000000000000" pitchFamily="2" charset="-122"/>
              </a:rPr>
              <a:t>提升系统对画面的分析能力，实现毫秒级图像分析与决策输出的工程化能力</a:t>
            </a: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矩形 79"/>
          <p:cNvSpPr>
            <a:spLocks noChangeArrowheads="1"/>
          </p:cNvSpPr>
          <p:nvPr>
            <p:custDataLst>
              <p:tags r:id="rId1"/>
            </p:custDataLst>
          </p:nvPr>
        </p:nvSpPr>
        <p:spPr bwMode="auto">
          <a:xfrm>
            <a:off x="1215757" y="1494890"/>
            <a:ext cx="2514528" cy="3762586"/>
          </a:xfrm>
          <a:prstGeom prst="rect">
            <a:avLst/>
          </a:prstGeom>
          <a:solidFill>
            <a:schemeClr val="bg1"/>
          </a:solidFill>
          <a:ln w="12700" cap="flat" cmpd="sng">
            <a:solidFill>
              <a:srgbClr val="005A8A"/>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2" name="矩形 82"/>
          <p:cNvSpPr>
            <a:spLocks noChangeArrowheads="1"/>
          </p:cNvSpPr>
          <p:nvPr>
            <p:custDataLst>
              <p:tags r:id="rId2"/>
            </p:custDataLst>
          </p:nvPr>
        </p:nvSpPr>
        <p:spPr bwMode="auto">
          <a:xfrm>
            <a:off x="1215757" y="1494889"/>
            <a:ext cx="2514528" cy="617751"/>
          </a:xfrm>
          <a:prstGeom prst="rect">
            <a:avLst/>
          </a:prstGeom>
          <a:solidFill>
            <a:srgbClr val="005A8A"/>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3" name="矩形 85"/>
          <p:cNvSpPr>
            <a:spLocks noChangeArrowheads="1"/>
          </p:cNvSpPr>
          <p:nvPr>
            <p:custDataLst>
              <p:tags r:id="rId3"/>
            </p:custDataLst>
          </p:nvPr>
        </p:nvSpPr>
        <p:spPr bwMode="auto">
          <a:xfrm>
            <a:off x="1229165" y="1600640"/>
            <a:ext cx="251452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目标一</a:t>
            </a:r>
          </a:p>
        </p:txBody>
      </p:sp>
      <p:sp>
        <p:nvSpPr>
          <p:cNvPr id="23564" name="矩形 88"/>
          <p:cNvSpPr>
            <a:spLocks noChangeArrowheads="1"/>
          </p:cNvSpPr>
          <p:nvPr>
            <p:custDataLst>
              <p:tags r:id="rId4"/>
            </p:custDataLst>
          </p:nvPr>
        </p:nvSpPr>
        <p:spPr bwMode="auto">
          <a:xfrm>
            <a:off x="1347198" y="2349460"/>
            <a:ext cx="2251645"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dirty="0">
                <a:ea typeface="字魂105号-简雅黑" panose="00000500000000000000" pitchFamily="2" charset="-122"/>
                <a:sym typeface="字魂105号-简雅黑" panose="00000500000000000000" pitchFamily="2" charset="-122"/>
              </a:rPr>
              <a:t>研发多模态感知融合框架，支持视觉、雷达等多源异构数据融合</a:t>
            </a:r>
          </a:p>
        </p:txBody>
      </p:sp>
      <p:grpSp>
        <p:nvGrpSpPr>
          <p:cNvPr id="23565" name="Group 13"/>
          <p:cNvGrpSpPr/>
          <p:nvPr>
            <p:custDataLst>
              <p:tags r:id="rId5"/>
            </p:custDataLst>
          </p:nvPr>
        </p:nvGrpSpPr>
        <p:grpSpPr bwMode="auto">
          <a:xfrm>
            <a:off x="2097809" y="4890409"/>
            <a:ext cx="777240" cy="777600"/>
            <a:chOff x="0" y="0"/>
            <a:chExt cx="648000" cy="648000"/>
          </a:xfrm>
          <a:solidFill>
            <a:srgbClr val="005A8A"/>
          </a:solidFill>
        </p:grpSpPr>
        <p:sp>
          <p:nvSpPr>
            <p:cNvPr id="23566" name="矩形 10"/>
            <p:cNvSpPr>
              <a:spLocks noChangeArrowheads="1"/>
            </p:cNvSpPr>
            <p:nvPr>
              <p:custDataLst>
                <p:tags r:id="rId18"/>
              </p:custDataLst>
            </p:nvPr>
          </p:nvSpPr>
          <p:spPr bwMode="auto">
            <a:xfrm>
              <a:off x="0" y="0"/>
              <a:ext cx="648000" cy="648000"/>
            </a:xfrm>
            <a:prstGeom prst="rect">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67" name="Picture 48"/>
            <p:cNvPicPr>
              <a:picLocks noChangeAspect="1" noChangeArrowheads="1"/>
            </p:cNvPicPr>
            <p:nvPr>
              <p:custDataLst>
                <p:tags r:id="rId19"/>
              </p:custDataLst>
            </p:nvPr>
          </p:nvPicPr>
          <p:blipFill>
            <a:blip r:embed="rId22">
              <a:extLst>
                <a:ext uri="{28A0092B-C50C-407E-A947-70E740481C1C}">
                  <a14:useLocalDpi xmlns:a14="http://schemas.microsoft.com/office/drawing/2010/main" val="0"/>
                </a:ext>
              </a:extLst>
            </a:blip>
            <a:srcRect/>
            <a:stretch>
              <a:fillRect/>
            </a:stretch>
          </p:blipFill>
          <p:spPr bwMode="auto">
            <a:xfrm>
              <a:off x="117751" y="105875"/>
              <a:ext cx="434849" cy="45023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6" name="任意多边形: 形状 25"/>
          <p:cNvSpPr/>
          <p:nvPr/>
        </p:nvSpPr>
        <p:spPr>
          <a:xfrm>
            <a:off x="415290" y="503555"/>
            <a:ext cx="7546340" cy="749935"/>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7" name="图片 26"/>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08683" y="576493"/>
            <a:ext cx="618131" cy="618131"/>
          </a:xfrm>
          <a:prstGeom prst="rect">
            <a:avLst/>
          </a:prstGeom>
        </p:spPr>
      </p:pic>
      <p:sp>
        <p:nvSpPr>
          <p:cNvPr id="28" name="矩形 27"/>
          <p:cNvSpPr/>
          <p:nvPr/>
        </p:nvSpPr>
        <p:spPr>
          <a:xfrm>
            <a:off x="1434833" y="654885"/>
            <a:ext cx="6007100" cy="46037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智能感知融合算法开发（</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2026.1-2026.2</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p>
        </p:txBody>
      </p:sp>
      <p:sp>
        <p:nvSpPr>
          <p:cNvPr id="30" name="矩形 79"/>
          <p:cNvSpPr>
            <a:spLocks noChangeArrowheads="1"/>
          </p:cNvSpPr>
          <p:nvPr>
            <p:custDataLst>
              <p:tags r:id="rId6"/>
            </p:custDataLst>
          </p:nvPr>
        </p:nvSpPr>
        <p:spPr bwMode="auto">
          <a:xfrm>
            <a:off x="4913997" y="1494890"/>
            <a:ext cx="2514528" cy="3762586"/>
          </a:xfrm>
          <a:prstGeom prst="rect">
            <a:avLst/>
          </a:prstGeom>
          <a:solidFill>
            <a:schemeClr val="bg1"/>
          </a:solidFill>
          <a:ln w="12700" cap="flat" cmpd="sng">
            <a:solidFill>
              <a:srgbClr val="005A8A"/>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82"/>
          <p:cNvSpPr>
            <a:spLocks noChangeArrowheads="1"/>
          </p:cNvSpPr>
          <p:nvPr>
            <p:custDataLst>
              <p:tags r:id="rId7"/>
            </p:custDataLst>
          </p:nvPr>
        </p:nvSpPr>
        <p:spPr bwMode="auto">
          <a:xfrm>
            <a:off x="4913997" y="1494889"/>
            <a:ext cx="2514528" cy="617751"/>
          </a:xfrm>
          <a:prstGeom prst="rect">
            <a:avLst/>
          </a:prstGeom>
          <a:solidFill>
            <a:srgbClr val="005A8A"/>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85"/>
          <p:cNvSpPr>
            <a:spLocks noChangeArrowheads="1"/>
          </p:cNvSpPr>
          <p:nvPr>
            <p:custDataLst>
              <p:tags r:id="rId8"/>
            </p:custDataLst>
          </p:nvPr>
        </p:nvSpPr>
        <p:spPr bwMode="auto">
          <a:xfrm>
            <a:off x="4927405" y="1600640"/>
            <a:ext cx="251452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目标二</a:t>
            </a:r>
          </a:p>
        </p:txBody>
      </p:sp>
      <p:sp>
        <p:nvSpPr>
          <p:cNvPr id="33" name="矩形 88"/>
          <p:cNvSpPr>
            <a:spLocks noChangeArrowheads="1"/>
          </p:cNvSpPr>
          <p:nvPr>
            <p:custDataLst>
              <p:tags r:id="rId9"/>
            </p:custDataLst>
          </p:nvPr>
        </p:nvSpPr>
        <p:spPr bwMode="auto">
          <a:xfrm>
            <a:off x="5045438" y="2349460"/>
            <a:ext cx="2251645" cy="133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dirty="0">
                <a:ea typeface="字魂105号-简雅黑" panose="00000500000000000000" pitchFamily="2" charset="-122"/>
                <a:sym typeface="字魂105号-简雅黑" panose="00000500000000000000" pitchFamily="2" charset="-122"/>
              </a:rPr>
              <a:t>设计环境自适应机制，根据天气、光照等条件动态调整融合策略</a:t>
            </a:r>
          </a:p>
        </p:txBody>
      </p:sp>
      <p:sp>
        <p:nvSpPr>
          <p:cNvPr id="35" name="矩形 10"/>
          <p:cNvSpPr>
            <a:spLocks noChangeArrowheads="1"/>
          </p:cNvSpPr>
          <p:nvPr>
            <p:custDataLst>
              <p:tags r:id="rId10"/>
            </p:custDataLst>
          </p:nvPr>
        </p:nvSpPr>
        <p:spPr bwMode="auto">
          <a:xfrm>
            <a:off x="5796049" y="4890409"/>
            <a:ext cx="777240" cy="777600"/>
          </a:xfrm>
          <a:prstGeom prst="rect">
            <a:avLst/>
          </a:prstGeom>
          <a:solidFill>
            <a:srgbClr val="00617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79"/>
          <p:cNvSpPr>
            <a:spLocks noChangeArrowheads="1"/>
          </p:cNvSpPr>
          <p:nvPr>
            <p:custDataLst>
              <p:tags r:id="rId11"/>
            </p:custDataLst>
          </p:nvPr>
        </p:nvSpPr>
        <p:spPr bwMode="auto">
          <a:xfrm>
            <a:off x="8639053" y="1494890"/>
            <a:ext cx="2514528" cy="3762586"/>
          </a:xfrm>
          <a:prstGeom prst="rect">
            <a:avLst/>
          </a:prstGeom>
          <a:solidFill>
            <a:schemeClr val="bg1"/>
          </a:solidFill>
          <a:ln w="12700" cap="flat" cmpd="sng">
            <a:solidFill>
              <a:srgbClr val="005A8A"/>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82"/>
          <p:cNvSpPr>
            <a:spLocks noChangeArrowheads="1"/>
          </p:cNvSpPr>
          <p:nvPr>
            <p:custDataLst>
              <p:tags r:id="rId12"/>
            </p:custDataLst>
          </p:nvPr>
        </p:nvSpPr>
        <p:spPr bwMode="auto">
          <a:xfrm>
            <a:off x="8639053" y="1494889"/>
            <a:ext cx="2514528" cy="617751"/>
          </a:xfrm>
          <a:prstGeom prst="rect">
            <a:avLst/>
          </a:prstGeom>
          <a:solidFill>
            <a:srgbClr val="005A8A"/>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85"/>
          <p:cNvSpPr>
            <a:spLocks noChangeArrowheads="1"/>
          </p:cNvSpPr>
          <p:nvPr>
            <p:custDataLst>
              <p:tags r:id="rId13"/>
            </p:custDataLst>
          </p:nvPr>
        </p:nvSpPr>
        <p:spPr bwMode="auto">
          <a:xfrm>
            <a:off x="8652461" y="1600640"/>
            <a:ext cx="251452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目标三</a:t>
            </a:r>
          </a:p>
        </p:txBody>
      </p:sp>
      <p:sp>
        <p:nvSpPr>
          <p:cNvPr id="41" name="矩形 88"/>
          <p:cNvSpPr>
            <a:spLocks noChangeArrowheads="1"/>
          </p:cNvSpPr>
          <p:nvPr>
            <p:custDataLst>
              <p:tags r:id="rId14"/>
            </p:custDataLst>
          </p:nvPr>
        </p:nvSpPr>
        <p:spPr bwMode="auto">
          <a:xfrm>
            <a:off x="8770494" y="2349460"/>
            <a:ext cx="2251645" cy="133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dirty="0">
                <a:ea typeface="字魂105号-简雅黑" panose="00000500000000000000" pitchFamily="2" charset="-122"/>
                <a:sym typeface="字魂105号-简雅黑" panose="00000500000000000000" pitchFamily="2" charset="-122"/>
              </a:rPr>
              <a:t>构建置信度评估体系，实现基于可信度的感知权重动态分配</a:t>
            </a:r>
          </a:p>
        </p:txBody>
      </p:sp>
      <p:pic>
        <p:nvPicPr>
          <p:cNvPr id="23580" name="Picture 7" descr="\\MAGNUM\Projects\Microsoft\Cloud Power FY12\Design\Icons\PNGs\Pooled.png"/>
          <p:cNvPicPr>
            <a:picLocks noChangeAspect="1" noChangeArrowheads="1"/>
          </p:cNvPicPr>
          <p:nvPr>
            <p:custDataLst>
              <p:tags r:id="rId15"/>
            </p:custDataLst>
          </p:nvPr>
        </p:nvPicPr>
        <p:blipFill>
          <a:blip r:embed="rId24" cstate="print">
            <a:lum bright="100000"/>
            <a:extLst>
              <a:ext uri="{28A0092B-C50C-407E-A947-70E740481C1C}">
                <a14:useLocalDpi xmlns:a14="http://schemas.microsoft.com/office/drawing/2010/main" val="0"/>
              </a:ext>
            </a:extLst>
          </a:blip>
          <a:srcRect/>
          <a:stretch>
            <a:fillRect/>
          </a:stretch>
        </p:blipFill>
        <p:spPr bwMode="auto">
          <a:xfrm>
            <a:off x="5809275" y="4907038"/>
            <a:ext cx="781050" cy="752194"/>
          </a:xfrm>
          <a:prstGeom prst="rect">
            <a:avLst/>
          </a:prstGeom>
          <a:solidFill>
            <a:srgbClr val="005A8A"/>
          </a:solidFill>
          <a:ln>
            <a:solidFill>
              <a:srgbClr val="005A8A"/>
            </a:solidFill>
          </a:ln>
        </p:spPr>
      </p:pic>
      <p:sp>
        <p:nvSpPr>
          <p:cNvPr id="43" name="矩形 10"/>
          <p:cNvSpPr>
            <a:spLocks noChangeArrowheads="1"/>
          </p:cNvSpPr>
          <p:nvPr>
            <p:custDataLst>
              <p:tags r:id="rId16"/>
            </p:custDataLst>
          </p:nvPr>
        </p:nvSpPr>
        <p:spPr bwMode="auto">
          <a:xfrm>
            <a:off x="9572285" y="4890409"/>
            <a:ext cx="777240" cy="777600"/>
          </a:xfrm>
          <a:prstGeom prst="rect">
            <a:avLst/>
          </a:prstGeom>
          <a:solidFill>
            <a:srgbClr val="005A8A"/>
          </a:solidFill>
          <a:ln>
            <a:solidFill>
              <a:srgbClr val="911F22"/>
            </a:solid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3" name="Picture 2" descr="C:\Users\kelleyc\Desktop\untitled3.png"/>
          <p:cNvPicPr>
            <a:picLocks noChangeAspect="1" noChangeArrowheads="1"/>
          </p:cNvPicPr>
          <p:nvPr>
            <p:custDataLst>
              <p:tags r:id="rId17"/>
            </p:custDataLst>
          </p:nvPr>
        </p:nvPicPr>
        <p:blipFill>
          <a:blip r:embed="rId25" cstate="print">
            <a:extLst>
              <a:ext uri="{28A0092B-C50C-407E-A947-70E740481C1C}">
                <a14:useLocalDpi xmlns:a14="http://schemas.microsoft.com/office/drawing/2010/main" val="0"/>
              </a:ext>
            </a:extLst>
          </a:blip>
          <a:srcRect/>
          <a:stretch>
            <a:fillRect/>
          </a:stretch>
        </p:blipFill>
        <p:spPr bwMode="auto">
          <a:xfrm>
            <a:off x="9703502" y="5040503"/>
            <a:ext cx="514806" cy="51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35"/>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文本框 1"/>
          <p:cNvSpPr txBox="1"/>
          <p:nvPr/>
        </p:nvSpPr>
        <p:spPr>
          <a:xfrm>
            <a:off x="3369310" y="5878195"/>
            <a:ext cx="5603240" cy="879664"/>
          </a:xfrm>
          <a:prstGeom prst="rect">
            <a:avLst/>
          </a:prstGeom>
          <a:noFill/>
        </p:spPr>
        <p:txBody>
          <a:bodyPr wrap="square" rtlCol="0">
            <a:spAutoFit/>
          </a:bodyPr>
          <a:lstStyle/>
          <a:p>
            <a:pPr algn="ctr">
              <a:lnSpc>
                <a:spcPct val="150000"/>
              </a:lnSpc>
              <a:spcAft>
                <a:spcPts val="600"/>
              </a:spcAft>
            </a:pPr>
            <a:r>
              <a:rPr lang="zh-CN" altLang="en-US" b="1" dirty="0">
                <a:solidFill>
                  <a:srgbClr val="005A8A"/>
                </a:solidFill>
                <a:ea typeface="字魂105号-简雅黑" panose="00000500000000000000" pitchFamily="2" charset="-122"/>
              </a:rPr>
              <a:t>建立多维度智能感知系统并通过数字孪生平台进行大规模仿真验证，完成多轮算法迭代优化</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87"/>
          <p:cNvSpPr/>
          <p:nvPr>
            <p:custDataLst>
              <p:tags r:id="rId1"/>
            </p:custDataLst>
          </p:nvPr>
        </p:nvSpPr>
        <p:spPr>
          <a:xfrm>
            <a:off x="4992858" y="2574636"/>
            <a:ext cx="2160000" cy="2160000"/>
          </a:xfrm>
          <a:prstGeom prst="ellipse">
            <a:avLst/>
          </a:prstGeom>
          <a:solidFill>
            <a:schemeClr val="bg1">
              <a:lumMod val="65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Oval 88"/>
          <p:cNvSpPr/>
          <p:nvPr>
            <p:custDataLst>
              <p:tags r:id="rId2"/>
            </p:custDataLst>
          </p:nvPr>
        </p:nvSpPr>
        <p:spPr>
          <a:xfrm>
            <a:off x="4047653" y="2956776"/>
            <a:ext cx="1296000" cy="1296000"/>
          </a:xfrm>
          <a:prstGeom prst="ellipse">
            <a:avLst/>
          </a:prstGeom>
          <a:solidFill>
            <a:srgbClr val="005A8A"/>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Oval 89"/>
          <p:cNvSpPr/>
          <p:nvPr>
            <p:custDataLst>
              <p:tags r:id="rId3"/>
            </p:custDataLst>
          </p:nvPr>
        </p:nvSpPr>
        <p:spPr>
          <a:xfrm>
            <a:off x="6841253" y="2956775"/>
            <a:ext cx="1296000" cy="1296000"/>
          </a:xfrm>
          <a:prstGeom prst="ellipse">
            <a:avLst/>
          </a:prstGeom>
          <a:solidFill>
            <a:srgbClr val="005A8A"/>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Oval 90"/>
          <p:cNvSpPr/>
          <p:nvPr>
            <p:custDataLst>
              <p:tags r:id="rId4"/>
            </p:custDataLst>
          </p:nvPr>
        </p:nvSpPr>
        <p:spPr>
          <a:xfrm rot="16200000">
            <a:off x="5444455" y="4441373"/>
            <a:ext cx="1296000" cy="1296000"/>
          </a:xfrm>
          <a:prstGeom prst="ellipse">
            <a:avLst/>
          </a:prstGeom>
          <a:solidFill>
            <a:srgbClr val="005A8A"/>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Oval 92"/>
          <p:cNvSpPr/>
          <p:nvPr>
            <p:custDataLst>
              <p:tags r:id="rId5"/>
            </p:custDataLst>
          </p:nvPr>
        </p:nvSpPr>
        <p:spPr>
          <a:xfrm rot="16200000">
            <a:off x="5444454" y="1517144"/>
            <a:ext cx="1296000" cy="1296000"/>
          </a:xfrm>
          <a:prstGeom prst="ellipse">
            <a:avLst/>
          </a:prstGeom>
          <a:solidFill>
            <a:srgbClr val="005A8A"/>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9" name="Elbow Connector 93"/>
          <p:cNvCxnSpPr>
            <a:stCxn id="5" idx="2"/>
          </p:cNvCxnSpPr>
          <p:nvPr>
            <p:custDataLst>
              <p:tags r:id="rId6"/>
            </p:custDataLst>
          </p:nvPr>
        </p:nvCxnSpPr>
        <p:spPr>
          <a:xfrm rot="10800000" flipV="1">
            <a:off x="1532355" y="3604776"/>
            <a:ext cx="2515302" cy="483790"/>
          </a:xfrm>
          <a:prstGeom prst="bentConnector3">
            <a:avLst>
              <a:gd name="adj1" fmla="val 50000"/>
            </a:avLst>
          </a:prstGeom>
          <a:ln w="12700" cmpd="dbl">
            <a:solidFill>
              <a:srgbClr val="005A8A"/>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0" name="Elbow Connector 94"/>
          <p:cNvCxnSpPr>
            <a:stCxn id="7" idx="0"/>
          </p:cNvCxnSpPr>
          <p:nvPr>
            <p:custDataLst>
              <p:tags r:id="rId7"/>
            </p:custDataLst>
          </p:nvPr>
        </p:nvCxnSpPr>
        <p:spPr>
          <a:xfrm rot="10800000" flipV="1">
            <a:off x="2639433" y="5089372"/>
            <a:ext cx="2805032" cy="380528"/>
          </a:xfrm>
          <a:prstGeom prst="bentConnector3">
            <a:avLst/>
          </a:prstGeom>
          <a:ln w="12700" cmpd="dbl">
            <a:solidFill>
              <a:srgbClr val="005A8A"/>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1" name="Elbow Connector 95"/>
          <p:cNvCxnSpPr>
            <a:stCxn id="8" idx="4"/>
          </p:cNvCxnSpPr>
          <p:nvPr>
            <p:custDataLst>
              <p:tags r:id="rId8"/>
            </p:custDataLst>
          </p:nvPr>
        </p:nvCxnSpPr>
        <p:spPr>
          <a:xfrm flipV="1">
            <a:off x="6740463" y="1632842"/>
            <a:ext cx="2972504" cy="532303"/>
          </a:xfrm>
          <a:prstGeom prst="bentConnector3">
            <a:avLst/>
          </a:prstGeom>
          <a:ln w="12700" cmpd="dbl">
            <a:solidFill>
              <a:srgbClr val="005A8A"/>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2" name="Elbow Connector 96"/>
          <p:cNvCxnSpPr>
            <a:stCxn id="6" idx="6"/>
          </p:cNvCxnSpPr>
          <p:nvPr>
            <p:custDataLst>
              <p:tags r:id="rId9"/>
            </p:custDataLst>
          </p:nvPr>
        </p:nvCxnSpPr>
        <p:spPr>
          <a:xfrm flipV="1">
            <a:off x="8137266" y="3230156"/>
            <a:ext cx="2486838" cy="374618"/>
          </a:xfrm>
          <a:prstGeom prst="bentConnector3">
            <a:avLst>
              <a:gd name="adj1" fmla="val 50000"/>
            </a:avLst>
          </a:prstGeom>
          <a:ln w="12700" cmpd="dbl">
            <a:solidFill>
              <a:srgbClr val="005A8A"/>
            </a:solidFill>
            <a:prstDash val="lgDash"/>
            <a:tailEnd type="diamond" w="lg" len="med"/>
          </a:ln>
        </p:spPr>
        <p:style>
          <a:lnRef idx="1">
            <a:schemeClr val="accent1"/>
          </a:lnRef>
          <a:fillRef idx="0">
            <a:schemeClr val="accent1"/>
          </a:fillRef>
          <a:effectRef idx="0">
            <a:schemeClr val="accent1"/>
          </a:effectRef>
          <a:fontRef idx="minor">
            <a:schemeClr val="tx1"/>
          </a:fontRef>
        </p:style>
      </p:cxnSp>
      <p:sp>
        <p:nvSpPr>
          <p:cNvPr id="16" name="Rectangle 100"/>
          <p:cNvSpPr/>
          <p:nvPr>
            <p:custDataLst>
              <p:tags r:id="rId10"/>
            </p:custDataLst>
          </p:nvPr>
        </p:nvSpPr>
        <p:spPr>
          <a:xfrm>
            <a:off x="8324850" y="1676400"/>
            <a:ext cx="2569845" cy="998220"/>
          </a:xfrm>
          <a:prstGeom prst="rect">
            <a:avLst/>
          </a:prstGeom>
        </p:spPr>
        <p:txBody>
          <a:bodyPr wrap="square" lIns="85549" tIns="42774" rIns="85549" bIns="42774">
            <a:spAutoFit/>
          </a:bodyPr>
          <a:lstStyle/>
          <a:p>
            <a:pPr defTabSz="1096645">
              <a:lnSpc>
                <a:spcPct val="110000"/>
              </a:lnSpc>
            </a:pPr>
            <a:r>
              <a:rPr lang="zh-CN" altLang="en-US" dirty="0">
                <a:ea typeface="字魂105号-简雅黑" panose="00000500000000000000" pitchFamily="2" charset="-122"/>
                <a:sym typeface="字魂105号-简雅黑" panose="00000500000000000000" pitchFamily="2" charset="-122"/>
              </a:rPr>
              <a:t>开展覆盖城市道路、高速、特殊天气等的多场景实车测试</a:t>
            </a:r>
          </a:p>
        </p:txBody>
      </p:sp>
      <p:sp>
        <p:nvSpPr>
          <p:cNvPr id="18" name="Rectangle 102"/>
          <p:cNvSpPr/>
          <p:nvPr>
            <p:custDataLst>
              <p:tags r:id="rId11"/>
            </p:custDataLst>
          </p:nvPr>
        </p:nvSpPr>
        <p:spPr>
          <a:xfrm>
            <a:off x="6893869" y="1676127"/>
            <a:ext cx="1398144" cy="392430"/>
          </a:xfrm>
          <a:prstGeom prst="rect">
            <a:avLst/>
          </a:prstGeom>
        </p:spPr>
        <p:txBody>
          <a:bodyPr wrap="square" lIns="85549" tIns="42774" rIns="85549" bIns="42774">
            <a:spAutoFit/>
          </a:bodyPr>
          <a:lstStyle/>
          <a:p>
            <a:pPr defTabSz="1096645"/>
            <a:r>
              <a:rPr lang="zh-CN" altLang="id-ID" sz="20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目标一</a:t>
            </a:r>
          </a:p>
        </p:txBody>
      </p:sp>
      <p:grpSp>
        <p:nvGrpSpPr>
          <p:cNvPr id="21" name="Group 105"/>
          <p:cNvGrpSpPr/>
          <p:nvPr>
            <p:custDataLst>
              <p:tags r:id="rId12"/>
            </p:custDataLst>
          </p:nvPr>
        </p:nvGrpSpPr>
        <p:grpSpPr>
          <a:xfrm>
            <a:off x="5893285" y="4774838"/>
            <a:ext cx="395717" cy="530489"/>
            <a:chOff x="134906" y="3220464"/>
            <a:chExt cx="730251" cy="881063"/>
          </a:xfrm>
          <a:noFill/>
        </p:grpSpPr>
        <p:sp>
          <p:nvSpPr>
            <p:cNvPr id="22" name="Freeform 34"/>
            <p:cNvSpPr/>
            <p:nvPr>
              <p:custDataLst>
                <p:tags r:id="rId44"/>
              </p:custDataLst>
            </p:nvPr>
          </p:nvSpPr>
          <p:spPr bwMode="auto">
            <a:xfrm>
              <a:off x="134906" y="3220464"/>
              <a:ext cx="730251" cy="577851"/>
            </a:xfrm>
            <a:custGeom>
              <a:avLst/>
              <a:gdLst>
                <a:gd name="T0" fmla="*/ 124 w 192"/>
                <a:gd name="T1" fmla="*/ 96 h 152"/>
                <a:gd name="T2" fmla="*/ 116 w 192"/>
                <a:gd name="T3" fmla="*/ 92 h 152"/>
                <a:gd name="T4" fmla="*/ 116 w 192"/>
                <a:gd name="T5" fmla="*/ 80 h 152"/>
                <a:gd name="T6" fmla="*/ 120 w 192"/>
                <a:gd name="T7" fmla="*/ 60 h 152"/>
                <a:gd name="T8" fmla="*/ 121 w 192"/>
                <a:gd name="T9" fmla="*/ 25 h 152"/>
                <a:gd name="T10" fmla="*/ 96 w 192"/>
                <a:gd name="T11" fmla="*/ 0 h 152"/>
                <a:gd name="T12" fmla="*/ 72 w 192"/>
                <a:gd name="T13" fmla="*/ 24 h 152"/>
                <a:gd name="T14" fmla="*/ 72 w 192"/>
                <a:gd name="T15" fmla="*/ 60 h 152"/>
                <a:gd name="T16" fmla="*/ 76 w 192"/>
                <a:gd name="T17" fmla="*/ 80 h 152"/>
                <a:gd name="T18" fmla="*/ 76 w 192"/>
                <a:gd name="T19" fmla="*/ 92 h 152"/>
                <a:gd name="T20" fmla="*/ 68 w 192"/>
                <a:gd name="T21" fmla="*/ 96 h 152"/>
                <a:gd name="T22" fmla="*/ 16 w 192"/>
                <a:gd name="T23" fmla="*/ 96 h 152"/>
                <a:gd name="T24" fmla="*/ 0 w 192"/>
                <a:gd name="T25" fmla="*/ 116 h 152"/>
                <a:gd name="T26" fmla="*/ 0 w 192"/>
                <a:gd name="T27" fmla="*/ 152 h 152"/>
                <a:gd name="T28" fmla="*/ 192 w 192"/>
                <a:gd name="T29" fmla="*/ 152 h 152"/>
                <a:gd name="T30" fmla="*/ 192 w 192"/>
                <a:gd name="T31" fmla="*/ 116 h 152"/>
                <a:gd name="T32" fmla="*/ 176 w 192"/>
                <a:gd name="T33" fmla="*/ 96 h 152"/>
                <a:gd name="T34" fmla="*/ 124 w 192"/>
                <a:gd name="T3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52">
                  <a:moveTo>
                    <a:pt x="124" y="96"/>
                  </a:moveTo>
                  <a:cubicBezTo>
                    <a:pt x="121" y="96"/>
                    <a:pt x="118" y="95"/>
                    <a:pt x="116" y="92"/>
                  </a:cubicBezTo>
                  <a:cubicBezTo>
                    <a:pt x="114" y="89"/>
                    <a:pt x="115" y="83"/>
                    <a:pt x="116" y="80"/>
                  </a:cubicBezTo>
                  <a:cubicBezTo>
                    <a:pt x="119" y="72"/>
                    <a:pt x="120" y="68"/>
                    <a:pt x="120" y="60"/>
                  </a:cubicBezTo>
                  <a:cubicBezTo>
                    <a:pt x="121" y="25"/>
                    <a:pt x="121" y="25"/>
                    <a:pt x="121" y="25"/>
                  </a:cubicBezTo>
                  <a:cubicBezTo>
                    <a:pt x="121" y="11"/>
                    <a:pt x="110" y="0"/>
                    <a:pt x="96" y="0"/>
                  </a:cubicBezTo>
                  <a:cubicBezTo>
                    <a:pt x="82" y="0"/>
                    <a:pt x="72" y="10"/>
                    <a:pt x="72" y="24"/>
                  </a:cubicBezTo>
                  <a:cubicBezTo>
                    <a:pt x="72" y="60"/>
                    <a:pt x="72" y="60"/>
                    <a:pt x="72" y="60"/>
                  </a:cubicBezTo>
                  <a:cubicBezTo>
                    <a:pt x="72" y="68"/>
                    <a:pt x="73" y="72"/>
                    <a:pt x="76" y="80"/>
                  </a:cubicBezTo>
                  <a:cubicBezTo>
                    <a:pt x="77" y="83"/>
                    <a:pt x="78" y="89"/>
                    <a:pt x="76" y="92"/>
                  </a:cubicBezTo>
                  <a:cubicBezTo>
                    <a:pt x="74" y="95"/>
                    <a:pt x="71" y="96"/>
                    <a:pt x="68" y="96"/>
                  </a:cubicBezTo>
                  <a:cubicBezTo>
                    <a:pt x="16" y="96"/>
                    <a:pt x="16" y="96"/>
                    <a:pt x="16" y="96"/>
                  </a:cubicBezTo>
                  <a:cubicBezTo>
                    <a:pt x="8" y="96"/>
                    <a:pt x="0" y="108"/>
                    <a:pt x="0" y="116"/>
                  </a:cubicBezTo>
                  <a:cubicBezTo>
                    <a:pt x="0" y="152"/>
                    <a:pt x="0" y="152"/>
                    <a:pt x="0" y="152"/>
                  </a:cubicBezTo>
                  <a:cubicBezTo>
                    <a:pt x="192" y="152"/>
                    <a:pt x="192" y="152"/>
                    <a:pt x="192" y="152"/>
                  </a:cubicBezTo>
                  <a:cubicBezTo>
                    <a:pt x="192" y="116"/>
                    <a:pt x="192" y="116"/>
                    <a:pt x="192" y="116"/>
                  </a:cubicBezTo>
                  <a:cubicBezTo>
                    <a:pt x="192" y="108"/>
                    <a:pt x="184" y="96"/>
                    <a:pt x="176" y="96"/>
                  </a:cubicBezTo>
                  <a:lnTo>
                    <a:pt x="124" y="96"/>
                  </a:lnTo>
                  <a:close/>
                </a:path>
              </a:pathLst>
            </a:cu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Freeform 35"/>
            <p:cNvSpPr/>
            <p:nvPr>
              <p:custDataLst>
                <p:tags r:id="rId45"/>
              </p:custDataLst>
            </p:nvPr>
          </p:nvSpPr>
          <p:spPr bwMode="auto">
            <a:xfrm>
              <a:off x="165069" y="3798314"/>
              <a:ext cx="669926" cy="303213"/>
            </a:xfrm>
            <a:custGeom>
              <a:avLst/>
              <a:gdLst>
                <a:gd name="T0" fmla="*/ 422 w 422"/>
                <a:gd name="T1" fmla="*/ 191 h 191"/>
                <a:gd name="T2" fmla="*/ 115 w 422"/>
                <a:gd name="T3" fmla="*/ 191 h 191"/>
                <a:gd name="T4" fmla="*/ 115 w 422"/>
                <a:gd name="T5" fmla="*/ 95 h 191"/>
                <a:gd name="T6" fmla="*/ 67 w 422"/>
                <a:gd name="T7" fmla="*/ 191 h 191"/>
                <a:gd name="T8" fmla="*/ 0 w 422"/>
                <a:gd name="T9" fmla="*/ 191 h 191"/>
                <a:gd name="T10" fmla="*/ 0 w 422"/>
                <a:gd name="T11" fmla="*/ 0 h 191"/>
                <a:gd name="T12" fmla="*/ 422 w 422"/>
                <a:gd name="T13" fmla="*/ 0 h 191"/>
                <a:gd name="T14" fmla="*/ 422 w 422"/>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2" h="191">
                  <a:moveTo>
                    <a:pt x="422" y="191"/>
                  </a:moveTo>
                  <a:lnTo>
                    <a:pt x="115" y="191"/>
                  </a:lnTo>
                  <a:lnTo>
                    <a:pt x="115" y="95"/>
                  </a:lnTo>
                  <a:lnTo>
                    <a:pt x="67" y="191"/>
                  </a:lnTo>
                  <a:lnTo>
                    <a:pt x="0" y="191"/>
                  </a:lnTo>
                  <a:lnTo>
                    <a:pt x="0" y="0"/>
                  </a:lnTo>
                  <a:lnTo>
                    <a:pt x="422" y="0"/>
                  </a:lnTo>
                  <a:lnTo>
                    <a:pt x="422" y="191"/>
                  </a:lnTo>
                  <a:close/>
                </a:path>
              </a:pathLst>
            </a:cu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Line 36"/>
            <p:cNvSpPr>
              <a:spLocks noChangeShapeType="1"/>
            </p:cNvSpPr>
            <p:nvPr>
              <p:custDataLst>
                <p:tags r:id="rId46"/>
              </p:custDataLst>
            </p:nvPr>
          </p:nvSpPr>
          <p:spPr bwMode="auto">
            <a:xfrm>
              <a:off x="742919" y="3904677"/>
              <a:ext cx="0" cy="196850"/>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Line 37"/>
            <p:cNvSpPr>
              <a:spLocks noChangeShapeType="1"/>
            </p:cNvSpPr>
            <p:nvPr>
              <p:custDataLst>
                <p:tags r:id="rId47"/>
              </p:custDataLst>
            </p:nvPr>
          </p:nvSpPr>
          <p:spPr bwMode="auto">
            <a:xfrm>
              <a:off x="652432" y="3949127"/>
              <a:ext cx="0" cy="152400"/>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Line 38"/>
            <p:cNvSpPr>
              <a:spLocks noChangeShapeType="1"/>
            </p:cNvSpPr>
            <p:nvPr>
              <p:custDataLst>
                <p:tags r:id="rId48"/>
              </p:custDataLst>
            </p:nvPr>
          </p:nvSpPr>
          <p:spPr bwMode="auto">
            <a:xfrm>
              <a:off x="560357" y="4011039"/>
              <a:ext cx="0" cy="90488"/>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Oval 39"/>
            <p:cNvSpPr>
              <a:spLocks noChangeArrowheads="1"/>
            </p:cNvSpPr>
            <p:nvPr>
              <p:custDataLst>
                <p:tags r:id="rId49"/>
              </p:custDataLst>
            </p:nvPr>
          </p:nvSpPr>
          <p:spPr bwMode="auto">
            <a:xfrm>
              <a:off x="480981" y="3296664"/>
              <a:ext cx="38100" cy="38100"/>
            </a:xfrm>
            <a:prstGeom prst="ellips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8" name="Group 112"/>
          <p:cNvGrpSpPr/>
          <p:nvPr>
            <p:custDataLst>
              <p:tags r:id="rId13"/>
            </p:custDataLst>
          </p:nvPr>
        </p:nvGrpSpPr>
        <p:grpSpPr>
          <a:xfrm>
            <a:off x="4459314" y="3317917"/>
            <a:ext cx="436148" cy="484609"/>
            <a:chOff x="6264275" y="814388"/>
            <a:chExt cx="881063" cy="881063"/>
          </a:xfrm>
        </p:grpSpPr>
        <p:sp>
          <p:nvSpPr>
            <p:cNvPr id="29" name="Freeform 25"/>
            <p:cNvSpPr/>
            <p:nvPr>
              <p:custDataLst>
                <p:tags r:id="rId38"/>
              </p:custDataLst>
            </p:nvPr>
          </p:nvSpPr>
          <p:spPr bwMode="auto">
            <a:xfrm>
              <a:off x="6264275" y="904876"/>
              <a:ext cx="365125" cy="790575"/>
            </a:xfrm>
            <a:custGeom>
              <a:avLst/>
              <a:gdLst>
                <a:gd name="T0" fmla="*/ 96 w 96"/>
                <a:gd name="T1" fmla="*/ 208 h 208"/>
                <a:gd name="T2" fmla="*/ 21 w 96"/>
                <a:gd name="T3" fmla="*/ 208 h 208"/>
                <a:gd name="T4" fmla="*/ 0 w 96"/>
                <a:gd name="T5" fmla="*/ 188 h 208"/>
                <a:gd name="T6" fmla="*/ 0 w 96"/>
                <a:gd name="T7" fmla="*/ 0 h 208"/>
              </a:gdLst>
              <a:ahLst/>
              <a:cxnLst>
                <a:cxn ang="0">
                  <a:pos x="T0" y="T1"/>
                </a:cxn>
                <a:cxn ang="0">
                  <a:pos x="T2" y="T3"/>
                </a:cxn>
                <a:cxn ang="0">
                  <a:pos x="T4" y="T5"/>
                </a:cxn>
                <a:cxn ang="0">
                  <a:pos x="T6" y="T7"/>
                </a:cxn>
              </a:cxnLst>
              <a:rect l="0" t="0" r="r" b="b"/>
              <a:pathLst>
                <a:path w="96" h="208">
                  <a:moveTo>
                    <a:pt x="96" y="208"/>
                  </a:moveTo>
                  <a:cubicBezTo>
                    <a:pt x="21" y="208"/>
                    <a:pt x="21" y="208"/>
                    <a:pt x="21" y="208"/>
                  </a:cubicBezTo>
                  <a:cubicBezTo>
                    <a:pt x="9" y="208"/>
                    <a:pt x="0" y="199"/>
                    <a:pt x="0" y="188"/>
                  </a:cubicBezTo>
                  <a:cubicBezTo>
                    <a:pt x="0" y="0"/>
                    <a:pt x="0" y="0"/>
                    <a:pt x="0" y="0"/>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Line 26"/>
            <p:cNvSpPr>
              <a:spLocks noChangeShapeType="1"/>
            </p:cNvSpPr>
            <p:nvPr>
              <p:custDataLst>
                <p:tags r:id="rId39"/>
              </p:custDataLst>
            </p:nvPr>
          </p:nvSpPr>
          <p:spPr bwMode="auto">
            <a:xfrm>
              <a:off x="6354763" y="904876"/>
              <a:ext cx="608013" cy="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Freeform 27"/>
            <p:cNvSpPr/>
            <p:nvPr>
              <p:custDataLst>
                <p:tags r:id="rId40"/>
              </p:custDataLst>
            </p:nvPr>
          </p:nvSpPr>
          <p:spPr bwMode="auto">
            <a:xfrm>
              <a:off x="6264275" y="814388"/>
              <a:ext cx="728663" cy="303213"/>
            </a:xfrm>
            <a:custGeom>
              <a:avLst/>
              <a:gdLst>
                <a:gd name="T0" fmla="*/ 192 w 192"/>
                <a:gd name="T1" fmla="*/ 0 h 80"/>
                <a:gd name="T2" fmla="*/ 24 w 192"/>
                <a:gd name="T3" fmla="*/ 0 h 80"/>
                <a:gd name="T4" fmla="*/ 0 w 192"/>
                <a:gd name="T5" fmla="*/ 24 h 80"/>
                <a:gd name="T6" fmla="*/ 24 w 192"/>
                <a:gd name="T7" fmla="*/ 48 h 80"/>
                <a:gd name="T8" fmla="*/ 192 w 192"/>
                <a:gd name="T9" fmla="*/ 48 h 80"/>
                <a:gd name="T10" fmla="*/ 192 w 192"/>
                <a:gd name="T11" fmla="*/ 80 h 80"/>
              </a:gdLst>
              <a:ahLst/>
              <a:cxnLst>
                <a:cxn ang="0">
                  <a:pos x="T0" y="T1"/>
                </a:cxn>
                <a:cxn ang="0">
                  <a:pos x="T2" y="T3"/>
                </a:cxn>
                <a:cxn ang="0">
                  <a:pos x="T4" y="T5"/>
                </a:cxn>
                <a:cxn ang="0">
                  <a:pos x="T6" y="T7"/>
                </a:cxn>
                <a:cxn ang="0">
                  <a:pos x="T8" y="T9"/>
                </a:cxn>
                <a:cxn ang="0">
                  <a:pos x="T10" y="T11"/>
                </a:cxn>
              </a:cxnLst>
              <a:rect l="0" t="0" r="r" b="b"/>
              <a:pathLst>
                <a:path w="192" h="80">
                  <a:moveTo>
                    <a:pt x="192" y="0"/>
                  </a:moveTo>
                  <a:cubicBezTo>
                    <a:pt x="24" y="0"/>
                    <a:pt x="24" y="0"/>
                    <a:pt x="24" y="0"/>
                  </a:cubicBezTo>
                  <a:cubicBezTo>
                    <a:pt x="11" y="0"/>
                    <a:pt x="0" y="11"/>
                    <a:pt x="0" y="24"/>
                  </a:cubicBezTo>
                  <a:cubicBezTo>
                    <a:pt x="0" y="38"/>
                    <a:pt x="11" y="48"/>
                    <a:pt x="24" y="48"/>
                  </a:cubicBezTo>
                  <a:cubicBezTo>
                    <a:pt x="192" y="48"/>
                    <a:pt x="192" y="48"/>
                    <a:pt x="192" y="48"/>
                  </a:cubicBezTo>
                  <a:cubicBezTo>
                    <a:pt x="192" y="80"/>
                    <a:pt x="192" y="80"/>
                    <a:pt x="192" y="80"/>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Line 28"/>
            <p:cNvSpPr>
              <a:spLocks noChangeShapeType="1"/>
            </p:cNvSpPr>
            <p:nvPr>
              <p:custDataLst>
                <p:tags r:id="rId41"/>
              </p:custDataLst>
            </p:nvPr>
          </p:nvSpPr>
          <p:spPr bwMode="auto">
            <a:xfrm flipV="1">
              <a:off x="6902450" y="1346201"/>
              <a:ext cx="0" cy="212725"/>
            </a:xfrm>
            <a:prstGeom prst="line">
              <a:avLst/>
            </a:prstGeom>
            <a:noFill/>
            <a:ln w="19050"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Freeform 29"/>
            <p:cNvSpPr/>
            <p:nvPr>
              <p:custDataLst>
                <p:tags r:id="rId42"/>
              </p:custDataLst>
            </p:nvPr>
          </p:nvSpPr>
          <p:spPr bwMode="auto">
            <a:xfrm>
              <a:off x="6810375" y="1466851"/>
              <a:ext cx="182563" cy="92075"/>
            </a:xfrm>
            <a:custGeom>
              <a:avLst/>
              <a:gdLst>
                <a:gd name="T0" fmla="*/ 0 w 115"/>
                <a:gd name="T1" fmla="*/ 0 h 58"/>
                <a:gd name="T2" fmla="*/ 58 w 115"/>
                <a:gd name="T3" fmla="*/ 58 h 58"/>
                <a:gd name="T4" fmla="*/ 115 w 115"/>
                <a:gd name="T5" fmla="*/ 0 h 58"/>
              </a:gdLst>
              <a:ahLst/>
              <a:cxnLst>
                <a:cxn ang="0">
                  <a:pos x="T0" y="T1"/>
                </a:cxn>
                <a:cxn ang="0">
                  <a:pos x="T2" y="T3"/>
                </a:cxn>
                <a:cxn ang="0">
                  <a:pos x="T4" y="T5"/>
                </a:cxn>
              </a:cxnLst>
              <a:rect l="0" t="0" r="r" b="b"/>
              <a:pathLst>
                <a:path w="115" h="58">
                  <a:moveTo>
                    <a:pt x="0" y="0"/>
                  </a:moveTo>
                  <a:lnTo>
                    <a:pt x="58" y="58"/>
                  </a:lnTo>
                  <a:lnTo>
                    <a:pt x="115" y="0"/>
                  </a:ln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Oval 30"/>
            <p:cNvSpPr>
              <a:spLocks noChangeArrowheads="1"/>
            </p:cNvSpPr>
            <p:nvPr>
              <p:custDataLst>
                <p:tags r:id="rId43"/>
              </p:custDataLst>
            </p:nvPr>
          </p:nvSpPr>
          <p:spPr bwMode="auto">
            <a:xfrm>
              <a:off x="6659563" y="1209676"/>
              <a:ext cx="485775" cy="485775"/>
            </a:xfrm>
            <a:prstGeom prst="ellipse">
              <a:avLst/>
            </a:prstGeom>
            <a:noFill/>
            <a:ln w="19050"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5" name="Group 119"/>
          <p:cNvGrpSpPr/>
          <p:nvPr>
            <p:custDataLst>
              <p:tags r:id="rId14"/>
            </p:custDataLst>
          </p:nvPr>
        </p:nvGrpSpPr>
        <p:grpSpPr>
          <a:xfrm>
            <a:off x="7260995" y="3317905"/>
            <a:ext cx="427207" cy="474676"/>
            <a:chOff x="6399213" y="695325"/>
            <a:chExt cx="850899" cy="850901"/>
          </a:xfrm>
        </p:grpSpPr>
        <p:sp>
          <p:nvSpPr>
            <p:cNvPr id="36" name="Freeform 34"/>
            <p:cNvSpPr/>
            <p:nvPr>
              <p:custDataLst>
                <p:tags r:id="rId32"/>
              </p:custDataLst>
            </p:nvPr>
          </p:nvSpPr>
          <p:spPr bwMode="auto">
            <a:xfrm>
              <a:off x="6565900" y="862013"/>
              <a:ext cx="684212" cy="684213"/>
            </a:xfrm>
            <a:custGeom>
              <a:avLst/>
              <a:gdLst>
                <a:gd name="T0" fmla="*/ 431 w 431"/>
                <a:gd name="T1" fmla="*/ 0 h 431"/>
                <a:gd name="T2" fmla="*/ 431 w 431"/>
                <a:gd name="T3" fmla="*/ 431 h 431"/>
                <a:gd name="T4" fmla="*/ 0 w 431"/>
                <a:gd name="T5" fmla="*/ 431 h 431"/>
              </a:gdLst>
              <a:ahLst/>
              <a:cxnLst>
                <a:cxn ang="0">
                  <a:pos x="T0" y="T1"/>
                </a:cxn>
                <a:cxn ang="0">
                  <a:pos x="T2" y="T3"/>
                </a:cxn>
                <a:cxn ang="0">
                  <a:pos x="T4" y="T5"/>
                </a:cxn>
              </a:cxnLst>
              <a:rect l="0" t="0" r="r" b="b"/>
              <a:pathLst>
                <a:path w="431" h="431">
                  <a:moveTo>
                    <a:pt x="431" y="0"/>
                  </a:moveTo>
                  <a:lnTo>
                    <a:pt x="431" y="431"/>
                  </a:lnTo>
                  <a:lnTo>
                    <a:pt x="0" y="431"/>
                  </a:lnTo>
                </a:path>
              </a:pathLst>
            </a:cu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Freeform 35"/>
            <p:cNvSpPr/>
            <p:nvPr>
              <p:custDataLst>
                <p:tags r:id="rId33"/>
              </p:custDataLst>
            </p:nvPr>
          </p:nvSpPr>
          <p:spPr bwMode="auto">
            <a:xfrm>
              <a:off x="6473825" y="769938"/>
              <a:ext cx="715962" cy="715963"/>
            </a:xfrm>
            <a:custGeom>
              <a:avLst/>
              <a:gdLst>
                <a:gd name="T0" fmla="*/ 451 w 451"/>
                <a:gd name="T1" fmla="*/ 0 h 451"/>
                <a:gd name="T2" fmla="*/ 451 w 451"/>
                <a:gd name="T3" fmla="*/ 451 h 451"/>
                <a:gd name="T4" fmla="*/ 0 w 451"/>
                <a:gd name="T5" fmla="*/ 451 h 451"/>
              </a:gdLst>
              <a:ahLst/>
              <a:cxnLst>
                <a:cxn ang="0">
                  <a:pos x="T0" y="T1"/>
                </a:cxn>
                <a:cxn ang="0">
                  <a:pos x="T2" y="T3"/>
                </a:cxn>
                <a:cxn ang="0">
                  <a:pos x="T4" y="T5"/>
                </a:cxn>
              </a:cxnLst>
              <a:rect l="0" t="0" r="r" b="b"/>
              <a:pathLst>
                <a:path w="451" h="451">
                  <a:moveTo>
                    <a:pt x="451" y="0"/>
                  </a:moveTo>
                  <a:lnTo>
                    <a:pt x="451" y="451"/>
                  </a:lnTo>
                  <a:lnTo>
                    <a:pt x="0" y="451"/>
                  </a:lnTo>
                </a:path>
              </a:pathLst>
            </a:cu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Rectangle 36"/>
            <p:cNvSpPr>
              <a:spLocks noChangeArrowheads="1"/>
            </p:cNvSpPr>
            <p:nvPr>
              <p:custDataLst>
                <p:tags r:id="rId34"/>
              </p:custDataLst>
            </p:nvPr>
          </p:nvSpPr>
          <p:spPr bwMode="auto">
            <a:xfrm>
              <a:off x="6399213" y="695325"/>
              <a:ext cx="728662" cy="728663"/>
            </a:xfrm>
            <a:prstGeom prst="rect">
              <a:avLst/>
            </a:pr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Freeform 37"/>
            <p:cNvSpPr/>
            <p:nvPr>
              <p:custDataLst>
                <p:tags r:id="rId35"/>
              </p:custDataLst>
            </p:nvPr>
          </p:nvSpPr>
          <p:spPr bwMode="auto">
            <a:xfrm>
              <a:off x="6550025" y="965200"/>
              <a:ext cx="482600" cy="307975"/>
            </a:xfrm>
            <a:custGeom>
              <a:avLst/>
              <a:gdLst>
                <a:gd name="T0" fmla="*/ 304 w 304"/>
                <a:gd name="T1" fmla="*/ 194 h 194"/>
                <a:gd name="T2" fmla="*/ 230 w 304"/>
                <a:gd name="T3" fmla="*/ 0 h 194"/>
                <a:gd name="T4" fmla="*/ 134 w 304"/>
                <a:gd name="T5" fmla="*/ 143 h 194"/>
                <a:gd name="T6" fmla="*/ 75 w 304"/>
                <a:gd name="T7" fmla="*/ 71 h 194"/>
                <a:gd name="T8" fmla="*/ 0 w 304"/>
                <a:gd name="T9" fmla="*/ 194 h 194"/>
              </a:gdLst>
              <a:ahLst/>
              <a:cxnLst>
                <a:cxn ang="0">
                  <a:pos x="T0" y="T1"/>
                </a:cxn>
                <a:cxn ang="0">
                  <a:pos x="T2" y="T3"/>
                </a:cxn>
                <a:cxn ang="0">
                  <a:pos x="T4" y="T5"/>
                </a:cxn>
                <a:cxn ang="0">
                  <a:pos x="T6" y="T7"/>
                </a:cxn>
                <a:cxn ang="0">
                  <a:pos x="T8" y="T9"/>
                </a:cxn>
              </a:cxnLst>
              <a:rect l="0" t="0" r="r" b="b"/>
              <a:pathLst>
                <a:path w="304" h="194">
                  <a:moveTo>
                    <a:pt x="304" y="194"/>
                  </a:moveTo>
                  <a:lnTo>
                    <a:pt x="230" y="0"/>
                  </a:lnTo>
                  <a:lnTo>
                    <a:pt x="134" y="143"/>
                  </a:lnTo>
                  <a:lnTo>
                    <a:pt x="75" y="71"/>
                  </a:lnTo>
                  <a:lnTo>
                    <a:pt x="0" y="194"/>
                  </a:lnTo>
                </a:path>
              </a:pathLst>
            </a:custGeom>
            <a:noFill/>
            <a:ln w="19050" cap="flat">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Oval 38"/>
            <p:cNvSpPr>
              <a:spLocks noChangeArrowheads="1"/>
            </p:cNvSpPr>
            <p:nvPr>
              <p:custDataLst>
                <p:tags r:id="rId36"/>
              </p:custDataLst>
            </p:nvPr>
          </p:nvSpPr>
          <p:spPr bwMode="auto">
            <a:xfrm>
              <a:off x="6550025" y="808038"/>
              <a:ext cx="119062" cy="119063"/>
            </a:xfrm>
            <a:prstGeom prst="ellipse">
              <a:avLst/>
            </a:prstGeom>
            <a:noFill/>
            <a:ln w="19050" cap="flat">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Line 39"/>
            <p:cNvSpPr>
              <a:spLocks noChangeShapeType="1"/>
            </p:cNvSpPr>
            <p:nvPr>
              <p:custDataLst>
                <p:tags r:id="rId37"/>
              </p:custDataLst>
            </p:nvPr>
          </p:nvSpPr>
          <p:spPr bwMode="auto">
            <a:xfrm flipH="1">
              <a:off x="6399213" y="1273175"/>
              <a:ext cx="728662" cy="0"/>
            </a:xfrm>
            <a:prstGeom prst="line">
              <a:avLst/>
            </a:prstGeom>
            <a:noFill/>
            <a:ln w="19050"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2" name="Group 126"/>
          <p:cNvGrpSpPr/>
          <p:nvPr>
            <p:custDataLst>
              <p:tags r:id="rId15"/>
            </p:custDataLst>
          </p:nvPr>
        </p:nvGrpSpPr>
        <p:grpSpPr>
          <a:xfrm>
            <a:off x="5856956" y="1795573"/>
            <a:ext cx="519698" cy="658237"/>
            <a:chOff x="6873875" y="742950"/>
            <a:chExt cx="771526" cy="879476"/>
          </a:xfrm>
        </p:grpSpPr>
        <p:sp>
          <p:nvSpPr>
            <p:cNvPr id="43" name="Line 43"/>
            <p:cNvSpPr>
              <a:spLocks noChangeShapeType="1"/>
            </p:cNvSpPr>
            <p:nvPr>
              <p:custDataLst>
                <p:tags r:id="rId25"/>
              </p:custDataLst>
            </p:nvPr>
          </p:nvSpPr>
          <p:spPr bwMode="auto">
            <a:xfrm>
              <a:off x="7162800" y="1471613"/>
              <a:ext cx="0" cy="7620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Line 44"/>
            <p:cNvSpPr>
              <a:spLocks noChangeShapeType="1"/>
            </p:cNvSpPr>
            <p:nvPr>
              <p:custDataLst>
                <p:tags r:id="rId26"/>
              </p:custDataLst>
            </p:nvPr>
          </p:nvSpPr>
          <p:spPr bwMode="auto">
            <a:xfrm>
              <a:off x="7223125" y="1471613"/>
              <a:ext cx="0" cy="7620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Freeform 45"/>
            <p:cNvSpPr/>
            <p:nvPr>
              <p:custDataLst>
                <p:tags r:id="rId27"/>
              </p:custDataLst>
            </p:nvPr>
          </p:nvSpPr>
          <p:spPr bwMode="auto">
            <a:xfrm>
              <a:off x="6964363" y="1547813"/>
              <a:ext cx="457200" cy="74613"/>
            </a:xfrm>
            <a:custGeom>
              <a:avLst/>
              <a:gdLst>
                <a:gd name="T0" fmla="*/ 120 w 120"/>
                <a:gd name="T1" fmla="*/ 20 h 20"/>
                <a:gd name="T2" fmla="*/ 60 w 120"/>
                <a:gd name="T3" fmla="*/ 0 h 20"/>
                <a:gd name="T4" fmla="*/ 0 w 120"/>
                <a:gd name="T5" fmla="*/ 20 h 20"/>
                <a:gd name="T6" fmla="*/ 120 w 120"/>
                <a:gd name="T7" fmla="*/ 20 h 20"/>
              </a:gdLst>
              <a:ahLst/>
              <a:cxnLst>
                <a:cxn ang="0">
                  <a:pos x="T0" y="T1"/>
                </a:cxn>
                <a:cxn ang="0">
                  <a:pos x="T2" y="T3"/>
                </a:cxn>
                <a:cxn ang="0">
                  <a:pos x="T4" y="T5"/>
                </a:cxn>
                <a:cxn ang="0">
                  <a:pos x="T6" y="T7"/>
                </a:cxn>
              </a:cxnLst>
              <a:rect l="0" t="0" r="r" b="b"/>
              <a:pathLst>
                <a:path w="120" h="20">
                  <a:moveTo>
                    <a:pt x="120" y="20"/>
                  </a:moveTo>
                  <a:cubicBezTo>
                    <a:pt x="103" y="7"/>
                    <a:pt x="83" y="0"/>
                    <a:pt x="60" y="0"/>
                  </a:cubicBezTo>
                  <a:cubicBezTo>
                    <a:pt x="37" y="0"/>
                    <a:pt x="17" y="7"/>
                    <a:pt x="0" y="20"/>
                  </a:cubicBezTo>
                  <a:lnTo>
                    <a:pt x="120" y="20"/>
                  </a:lnTo>
                  <a:close/>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Oval 46"/>
            <p:cNvSpPr>
              <a:spLocks noChangeArrowheads="1"/>
            </p:cNvSpPr>
            <p:nvPr>
              <p:custDataLst>
                <p:tags r:id="rId28"/>
              </p:custDataLst>
            </p:nvPr>
          </p:nvSpPr>
          <p:spPr bwMode="auto">
            <a:xfrm>
              <a:off x="6904038" y="773113"/>
              <a:ext cx="577850" cy="576263"/>
            </a:xfrm>
            <a:prstGeom prst="ellipse">
              <a:avLst/>
            </a:pr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7" name="Freeform 47"/>
            <p:cNvSpPr/>
            <p:nvPr>
              <p:custDataLst>
                <p:tags r:id="rId29"/>
              </p:custDataLst>
            </p:nvPr>
          </p:nvSpPr>
          <p:spPr bwMode="auto">
            <a:xfrm>
              <a:off x="6904038" y="773113"/>
              <a:ext cx="741363" cy="739775"/>
            </a:xfrm>
            <a:custGeom>
              <a:avLst/>
              <a:gdLst>
                <a:gd name="T0" fmla="*/ 152 w 195"/>
                <a:gd name="T1" fmla="*/ 0 h 195"/>
                <a:gd name="T2" fmla="*/ 152 w 195"/>
                <a:gd name="T3" fmla="*/ 152 h 195"/>
                <a:gd name="T4" fmla="*/ 0 w 195"/>
                <a:gd name="T5" fmla="*/ 152 h 195"/>
              </a:gdLst>
              <a:ahLst/>
              <a:cxnLst>
                <a:cxn ang="0">
                  <a:pos x="T0" y="T1"/>
                </a:cxn>
                <a:cxn ang="0">
                  <a:pos x="T2" y="T3"/>
                </a:cxn>
                <a:cxn ang="0">
                  <a:pos x="T4" y="T5"/>
                </a:cxn>
              </a:cxnLst>
              <a:rect l="0" t="0" r="r" b="b"/>
              <a:pathLst>
                <a:path w="195" h="195">
                  <a:moveTo>
                    <a:pt x="152" y="0"/>
                  </a:moveTo>
                  <a:cubicBezTo>
                    <a:pt x="195" y="42"/>
                    <a:pt x="195" y="110"/>
                    <a:pt x="152" y="152"/>
                  </a:cubicBezTo>
                  <a:cubicBezTo>
                    <a:pt x="110" y="195"/>
                    <a:pt x="42" y="195"/>
                    <a:pt x="0" y="152"/>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Line 48"/>
            <p:cNvSpPr>
              <a:spLocks noChangeShapeType="1"/>
            </p:cNvSpPr>
            <p:nvPr>
              <p:custDataLst>
                <p:tags r:id="rId30"/>
              </p:custDataLst>
            </p:nvPr>
          </p:nvSpPr>
          <p:spPr bwMode="auto">
            <a:xfrm flipV="1">
              <a:off x="6873875" y="1319213"/>
              <a:ext cx="60325" cy="60325"/>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Line 49"/>
            <p:cNvSpPr>
              <a:spLocks noChangeShapeType="1"/>
            </p:cNvSpPr>
            <p:nvPr>
              <p:custDataLst>
                <p:tags r:id="rId31"/>
              </p:custDataLst>
            </p:nvPr>
          </p:nvSpPr>
          <p:spPr bwMode="auto">
            <a:xfrm flipV="1">
              <a:off x="7451725" y="742950"/>
              <a:ext cx="60325" cy="60325"/>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0" name="Group 134"/>
          <p:cNvGrpSpPr/>
          <p:nvPr>
            <p:custDataLst>
              <p:tags r:id="rId16"/>
            </p:custDataLst>
          </p:nvPr>
        </p:nvGrpSpPr>
        <p:grpSpPr>
          <a:xfrm flipH="1">
            <a:off x="5686445" y="3253040"/>
            <a:ext cx="754282" cy="849991"/>
            <a:chOff x="1909763" y="950913"/>
            <a:chExt cx="782637" cy="793750"/>
          </a:xfrm>
          <a:solidFill>
            <a:schemeClr val="bg1"/>
          </a:solidFill>
        </p:grpSpPr>
        <p:sp>
          <p:nvSpPr>
            <p:cNvPr id="51" name="Freeform 59"/>
            <p:cNvSpPr>
              <a:spLocks noEditPoints="1"/>
            </p:cNvSpPr>
            <p:nvPr>
              <p:custDataLst>
                <p:tags r:id="rId23"/>
              </p:custDataLst>
            </p:nvPr>
          </p:nvSpPr>
          <p:spPr bwMode="auto">
            <a:xfrm>
              <a:off x="1909763" y="1204913"/>
              <a:ext cx="539750" cy="539750"/>
            </a:xfrm>
            <a:custGeom>
              <a:avLst/>
              <a:gdLst>
                <a:gd name="T0" fmla="*/ 0 w 340"/>
                <a:gd name="T1" fmla="*/ 340 h 340"/>
                <a:gd name="T2" fmla="*/ 340 w 340"/>
                <a:gd name="T3" fmla="*/ 340 h 340"/>
                <a:gd name="T4" fmla="*/ 340 w 340"/>
                <a:gd name="T5" fmla="*/ 0 h 340"/>
                <a:gd name="T6" fmla="*/ 0 w 340"/>
                <a:gd name="T7" fmla="*/ 0 h 340"/>
                <a:gd name="T8" fmla="*/ 0 w 340"/>
                <a:gd name="T9" fmla="*/ 340 h 340"/>
                <a:gd name="T10" fmla="*/ 304 w 340"/>
                <a:gd name="T11" fmla="*/ 251 h 340"/>
                <a:gd name="T12" fmla="*/ 35 w 340"/>
                <a:gd name="T13" fmla="*/ 251 h 340"/>
                <a:gd name="T14" fmla="*/ 35 w 340"/>
                <a:gd name="T15" fmla="*/ 36 h 340"/>
                <a:gd name="T16" fmla="*/ 304 w 340"/>
                <a:gd name="T17" fmla="*/ 36 h 340"/>
                <a:gd name="T18" fmla="*/ 304 w 340"/>
                <a:gd name="T19" fmla="*/ 251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0" y="340"/>
                  </a:moveTo>
                  <a:lnTo>
                    <a:pt x="340" y="340"/>
                  </a:lnTo>
                  <a:lnTo>
                    <a:pt x="340" y="0"/>
                  </a:lnTo>
                  <a:lnTo>
                    <a:pt x="0" y="0"/>
                  </a:lnTo>
                  <a:lnTo>
                    <a:pt x="0" y="340"/>
                  </a:lnTo>
                  <a:close/>
                  <a:moveTo>
                    <a:pt x="304" y="251"/>
                  </a:moveTo>
                  <a:lnTo>
                    <a:pt x="35" y="251"/>
                  </a:lnTo>
                  <a:lnTo>
                    <a:pt x="35" y="36"/>
                  </a:lnTo>
                  <a:lnTo>
                    <a:pt x="304" y="36"/>
                  </a:lnTo>
                  <a:lnTo>
                    <a:pt x="304" y="2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09728" tIns="54864" rIns="109728" bIns="54864" numCol="1" anchor="t" anchorCtr="0" compatLnSpc="1"/>
            <a:lstStyle/>
            <a:p>
              <a:pPr defTabSz="1096645"/>
              <a:endParaRPr lang="id-ID" sz="216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Freeform 60"/>
            <p:cNvSpPr/>
            <p:nvPr>
              <p:custDataLst>
                <p:tags r:id="rId24"/>
              </p:custDataLst>
            </p:nvPr>
          </p:nvSpPr>
          <p:spPr bwMode="auto">
            <a:xfrm>
              <a:off x="2060575" y="950913"/>
              <a:ext cx="631825" cy="569913"/>
            </a:xfrm>
            <a:custGeom>
              <a:avLst/>
              <a:gdLst>
                <a:gd name="T0" fmla="*/ 334 w 398"/>
                <a:gd name="T1" fmla="*/ 0 h 359"/>
                <a:gd name="T2" fmla="*/ 0 w 398"/>
                <a:gd name="T3" fmla="*/ 64 h 359"/>
                <a:gd name="T4" fmla="*/ 15 w 398"/>
                <a:gd name="T5" fmla="*/ 143 h 359"/>
                <a:gd name="T6" fmla="*/ 51 w 398"/>
                <a:gd name="T7" fmla="*/ 143 h 359"/>
                <a:gd name="T8" fmla="*/ 41 w 398"/>
                <a:gd name="T9" fmla="*/ 93 h 359"/>
                <a:gd name="T10" fmla="*/ 305 w 398"/>
                <a:gd name="T11" fmla="*/ 40 h 359"/>
                <a:gd name="T12" fmla="*/ 346 w 398"/>
                <a:gd name="T13" fmla="*/ 251 h 359"/>
                <a:gd name="T14" fmla="*/ 262 w 398"/>
                <a:gd name="T15" fmla="*/ 268 h 359"/>
                <a:gd name="T16" fmla="*/ 262 w 398"/>
                <a:gd name="T17" fmla="*/ 359 h 359"/>
                <a:gd name="T18" fmla="*/ 398 w 398"/>
                <a:gd name="T19" fmla="*/ 332 h 359"/>
                <a:gd name="T20" fmla="*/ 334 w 398"/>
                <a:gd name="T21" fmla="*/ 0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8" h="359">
                  <a:moveTo>
                    <a:pt x="334" y="0"/>
                  </a:moveTo>
                  <a:lnTo>
                    <a:pt x="0" y="64"/>
                  </a:lnTo>
                  <a:lnTo>
                    <a:pt x="15" y="143"/>
                  </a:lnTo>
                  <a:lnTo>
                    <a:pt x="51" y="143"/>
                  </a:lnTo>
                  <a:lnTo>
                    <a:pt x="41" y="93"/>
                  </a:lnTo>
                  <a:lnTo>
                    <a:pt x="305" y="40"/>
                  </a:lnTo>
                  <a:lnTo>
                    <a:pt x="346" y="251"/>
                  </a:lnTo>
                  <a:lnTo>
                    <a:pt x="262" y="268"/>
                  </a:lnTo>
                  <a:lnTo>
                    <a:pt x="262" y="359"/>
                  </a:lnTo>
                  <a:lnTo>
                    <a:pt x="398" y="332"/>
                  </a:lnTo>
                  <a:lnTo>
                    <a:pt x="33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09728" tIns="54864" rIns="109728" bIns="54864" numCol="1" anchor="t" anchorCtr="0" compatLnSpc="1"/>
            <a:lstStyle/>
            <a:p>
              <a:pPr defTabSz="1096645"/>
              <a:endParaRPr lang="id-ID" sz="216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55" name="Rectangle 102"/>
          <p:cNvSpPr/>
          <p:nvPr>
            <p:custDataLst>
              <p:tags r:id="rId17"/>
            </p:custDataLst>
          </p:nvPr>
        </p:nvSpPr>
        <p:spPr>
          <a:xfrm>
            <a:off x="8291566" y="3212305"/>
            <a:ext cx="1398144" cy="392430"/>
          </a:xfrm>
          <a:prstGeom prst="rect">
            <a:avLst/>
          </a:prstGeom>
        </p:spPr>
        <p:txBody>
          <a:bodyPr wrap="square" lIns="85549" tIns="42774" rIns="85549" bIns="42774">
            <a:spAutoFit/>
          </a:bodyPr>
          <a:lstStyle/>
          <a:p>
            <a:pPr defTabSz="1096645"/>
            <a:r>
              <a:rPr lang="zh-CN" altLang="id-ID" sz="20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目标三</a:t>
            </a:r>
          </a:p>
        </p:txBody>
      </p:sp>
      <p:sp>
        <p:nvSpPr>
          <p:cNvPr id="56" name="Rectangle 100"/>
          <p:cNvSpPr/>
          <p:nvPr>
            <p:custDataLst>
              <p:tags r:id="rId18"/>
            </p:custDataLst>
          </p:nvPr>
        </p:nvSpPr>
        <p:spPr>
          <a:xfrm>
            <a:off x="9398635" y="3231515"/>
            <a:ext cx="2026285" cy="1303020"/>
          </a:xfrm>
          <a:prstGeom prst="rect">
            <a:avLst/>
          </a:prstGeom>
        </p:spPr>
        <p:txBody>
          <a:bodyPr wrap="square" lIns="85549" tIns="42774" rIns="85549" bIns="42774">
            <a:spAutoFit/>
          </a:bodyPr>
          <a:lstStyle/>
          <a:p>
            <a:pPr defTabSz="1096645">
              <a:lnSpc>
                <a:spcPct val="110000"/>
              </a:lnSpc>
            </a:pPr>
            <a:r>
              <a:rPr lang="zh-CN" altLang="en-US" dirty="0">
                <a:ea typeface="字魂105号-简雅黑" panose="00000500000000000000" pitchFamily="2" charset="-122"/>
                <a:sym typeface="字魂105号-简雅黑" panose="00000500000000000000" pitchFamily="2" charset="-122"/>
              </a:rPr>
              <a:t>构建典型场景库与边缘案例集，为系统持续优化提供数据支撑</a:t>
            </a:r>
          </a:p>
        </p:txBody>
      </p:sp>
      <p:sp>
        <p:nvSpPr>
          <p:cNvPr id="57" name="Rectangle 102"/>
          <p:cNvSpPr/>
          <p:nvPr>
            <p:custDataLst>
              <p:tags r:id="rId19"/>
            </p:custDataLst>
          </p:nvPr>
        </p:nvSpPr>
        <p:spPr>
          <a:xfrm>
            <a:off x="2816160" y="3663549"/>
            <a:ext cx="1398144" cy="392430"/>
          </a:xfrm>
          <a:prstGeom prst="rect">
            <a:avLst/>
          </a:prstGeom>
        </p:spPr>
        <p:txBody>
          <a:bodyPr wrap="square" lIns="85549" tIns="42774" rIns="85549" bIns="42774">
            <a:spAutoFit/>
          </a:bodyPr>
          <a:lstStyle/>
          <a:p>
            <a:pPr defTabSz="1096645"/>
            <a:r>
              <a:rPr lang="zh-CN" altLang="id-ID" sz="20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目标二</a:t>
            </a:r>
          </a:p>
        </p:txBody>
      </p:sp>
      <p:sp>
        <p:nvSpPr>
          <p:cNvPr id="58" name="Rectangle 100"/>
          <p:cNvSpPr/>
          <p:nvPr>
            <p:custDataLst>
              <p:tags r:id="rId20"/>
            </p:custDataLst>
          </p:nvPr>
        </p:nvSpPr>
        <p:spPr>
          <a:xfrm>
            <a:off x="532130" y="2813050"/>
            <a:ext cx="2376170" cy="1303020"/>
          </a:xfrm>
          <a:prstGeom prst="rect">
            <a:avLst/>
          </a:prstGeom>
        </p:spPr>
        <p:txBody>
          <a:bodyPr wrap="square" lIns="85549" tIns="42774" rIns="85549" bIns="42774">
            <a:spAutoFit/>
          </a:bodyPr>
          <a:lstStyle/>
          <a:p>
            <a:pPr defTabSz="1096645">
              <a:lnSpc>
                <a:spcPct val="110000"/>
              </a:lnSpc>
            </a:pPr>
            <a:r>
              <a:rPr lang="zh-CN" altLang="en-US" dirty="0">
                <a:ea typeface="字魂105号-简雅黑" panose="00000500000000000000" pitchFamily="2" charset="-122"/>
                <a:sym typeface="字魂105号-简雅黑" panose="00000500000000000000" pitchFamily="2" charset="-122"/>
              </a:rPr>
              <a:t>建立完整的测试评估体系，涵盖感知精度、决策安全性、系统实时性等核心指标</a:t>
            </a:r>
          </a:p>
        </p:txBody>
      </p:sp>
      <p:sp>
        <p:nvSpPr>
          <p:cNvPr id="59" name="Rectangle 102"/>
          <p:cNvSpPr/>
          <p:nvPr>
            <p:custDataLst>
              <p:tags r:id="rId21"/>
            </p:custDataLst>
          </p:nvPr>
        </p:nvSpPr>
        <p:spPr>
          <a:xfrm>
            <a:off x="4042353" y="5132511"/>
            <a:ext cx="1398144" cy="392430"/>
          </a:xfrm>
          <a:prstGeom prst="rect">
            <a:avLst/>
          </a:prstGeom>
        </p:spPr>
        <p:txBody>
          <a:bodyPr wrap="square" lIns="85549" tIns="42774" rIns="85549" bIns="42774">
            <a:spAutoFit/>
          </a:bodyPr>
          <a:lstStyle/>
          <a:p>
            <a:pPr defTabSz="1096645"/>
            <a:r>
              <a:rPr lang="zh-CN" altLang="id-ID" sz="2000" b="1" dirty="0">
                <a:solidFill>
                  <a:srgbClr val="005A8A"/>
                </a:solidFill>
                <a:latin typeface="字魂105号-简雅黑" panose="00000500000000000000" pitchFamily="2" charset="-122"/>
                <a:ea typeface="字魂105号-简雅黑" panose="00000500000000000000" pitchFamily="2" charset="-122"/>
                <a:sym typeface="字魂105号-简雅黑" panose="00000500000000000000" pitchFamily="2" charset="-122"/>
              </a:rPr>
              <a:t>目标四</a:t>
            </a:r>
          </a:p>
        </p:txBody>
      </p:sp>
      <p:sp>
        <p:nvSpPr>
          <p:cNvPr id="60" name="Rectangle 100"/>
          <p:cNvSpPr/>
          <p:nvPr>
            <p:custDataLst>
              <p:tags r:id="rId22"/>
            </p:custDataLst>
          </p:nvPr>
        </p:nvSpPr>
        <p:spPr>
          <a:xfrm>
            <a:off x="2016125" y="4424045"/>
            <a:ext cx="2198370" cy="1303020"/>
          </a:xfrm>
          <a:prstGeom prst="rect">
            <a:avLst/>
          </a:prstGeom>
        </p:spPr>
        <p:txBody>
          <a:bodyPr wrap="square" lIns="85549" tIns="42774" rIns="85549" bIns="42774">
            <a:spAutoFit/>
          </a:bodyPr>
          <a:lstStyle/>
          <a:p>
            <a:pPr defTabSz="1096645">
              <a:lnSpc>
                <a:spcPct val="110000"/>
              </a:lnSpc>
            </a:pPr>
            <a:r>
              <a:rPr lang="zh-CN" altLang="en-US" dirty="0">
                <a:ea typeface="字魂105号-简雅黑" panose="00000500000000000000" pitchFamily="2" charset="-122"/>
                <a:sym typeface="字魂105号-简雅黑" panose="00000500000000000000" pitchFamily="2" charset="-122"/>
              </a:rPr>
              <a:t>完成系统级性能调优，确保各模块协同工作达到设计目标</a:t>
            </a:r>
          </a:p>
        </p:txBody>
      </p:sp>
      <p:sp>
        <p:nvSpPr>
          <p:cNvPr id="61" name="任意多边形: 形状 60"/>
          <p:cNvSpPr/>
          <p:nvPr/>
        </p:nvSpPr>
        <p:spPr>
          <a:xfrm>
            <a:off x="415290" y="503555"/>
            <a:ext cx="7021195" cy="749935"/>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62" name="图片 61"/>
          <p:cNvPicPr>
            <a:picLocks noChangeAspect="1"/>
          </p:cNvPicPr>
          <p:nvPr/>
        </p:nvPicPr>
        <p:blipFill>
          <a:blip r:embed="rId52" cstate="print">
            <a:extLst>
              <a:ext uri="{28A0092B-C50C-407E-A947-70E740481C1C}">
                <a14:useLocalDpi xmlns:a14="http://schemas.microsoft.com/office/drawing/2010/main" val="0"/>
              </a:ext>
            </a:extLst>
          </a:blip>
          <a:stretch>
            <a:fillRect/>
          </a:stretch>
        </p:blipFill>
        <p:spPr>
          <a:xfrm>
            <a:off x="682349" y="578981"/>
            <a:ext cx="618131" cy="618131"/>
          </a:xfrm>
          <a:prstGeom prst="rect">
            <a:avLst/>
          </a:prstGeom>
        </p:spPr>
      </p:pic>
      <p:sp>
        <p:nvSpPr>
          <p:cNvPr id="63" name="矩形 62"/>
          <p:cNvSpPr/>
          <p:nvPr/>
        </p:nvSpPr>
        <p:spPr>
          <a:xfrm>
            <a:off x="1154165" y="657858"/>
            <a:ext cx="7331710" cy="46037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全场景测试验证与迭代（</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2026.3-2026.4</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p>
        </p:txBody>
      </p:sp>
      <p:pic>
        <p:nvPicPr>
          <p:cNvPr id="64" name="图片 63"/>
          <p:cNvPicPr>
            <a:picLocks noChangeAspect="1"/>
          </p:cNvPicPr>
          <p:nvPr/>
        </p:nvPicPr>
        <p:blipFill>
          <a:blip r:embed="rId53" cstate="print">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
        <p:nvSpPr>
          <p:cNvPr id="2" name="文本框 1"/>
          <p:cNvSpPr txBox="1"/>
          <p:nvPr/>
        </p:nvSpPr>
        <p:spPr>
          <a:xfrm>
            <a:off x="3676958" y="6071923"/>
            <a:ext cx="5313680" cy="464166"/>
          </a:xfrm>
          <a:prstGeom prst="rect">
            <a:avLst/>
          </a:prstGeom>
          <a:noFill/>
        </p:spPr>
        <p:txBody>
          <a:bodyPr wrap="square" rtlCol="0">
            <a:spAutoFit/>
          </a:bodyPr>
          <a:lstStyle/>
          <a:p>
            <a:pPr algn="ctr">
              <a:lnSpc>
                <a:spcPct val="150000"/>
              </a:lnSpc>
              <a:spcAft>
                <a:spcPts val="600"/>
              </a:spcAft>
            </a:pPr>
            <a:r>
              <a:rPr lang="zh-CN" altLang="en-US" b="1" dirty="0">
                <a:solidFill>
                  <a:srgbClr val="005A8A"/>
                </a:solidFill>
                <a:ea typeface="字魂105号-简雅黑" panose="00000500000000000000" pitchFamily="2" charset="-122"/>
              </a:rPr>
              <a:t>实车测试与性能迭代，试错与优化的过程</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2433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3448651"/>
            <a:ext cx="12192000" cy="3409349"/>
            <a:chOff x="0" y="3448651"/>
            <a:chExt cx="12192000" cy="3409349"/>
          </a:xfrm>
        </p:grpSpPr>
        <p:sp>
          <p:nvSpPr>
            <p:cNvPr id="4" name="ïṥḻïde"/>
            <p:cNvSpPr/>
            <p:nvPr/>
          </p:nvSpPr>
          <p:spPr>
            <a:xfrm>
              <a:off x="0" y="4689974"/>
              <a:ext cx="12192000" cy="2168026"/>
            </a:xfrm>
            <a:prstGeom prst="rect">
              <a:avLst/>
            </a:prstGeom>
            <a:solidFill>
              <a:srgbClr val="005A8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îşľîḓè"/>
            <p:cNvGrpSpPr/>
            <p:nvPr/>
          </p:nvGrpSpPr>
          <p:grpSpPr>
            <a:xfrm>
              <a:off x="1706548" y="3448651"/>
              <a:ext cx="1097280" cy="1097280"/>
              <a:chOff x="3527538" y="3122851"/>
              <a:chExt cx="1097280" cy="1097280"/>
            </a:xfrm>
          </p:grpSpPr>
          <p:sp>
            <p:nvSpPr>
              <p:cNvPr id="24" name="íśľîḍé"/>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ïŝḷidê"/>
              <p:cNvSpPr/>
              <p:nvPr>
                <p:custDataLst>
                  <p:tags r:id="rId13"/>
                </p:custDataLst>
              </p:nvPr>
            </p:nvSpPr>
            <p:spPr>
              <a:xfrm>
                <a:off x="3564092" y="3159405"/>
                <a:ext cx="1024172" cy="1024172"/>
              </a:xfrm>
              <a:prstGeom prst="ellipse">
                <a:avLst/>
              </a:prstGeom>
              <a:noFill/>
              <a:ln w="28575">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1" name="ï$ḻïďé"/>
            <p:cNvSpPr/>
            <p:nvPr>
              <p:custDataLst>
                <p:tags r:id="rId6"/>
              </p:custDataLst>
            </p:nvPr>
          </p:nvSpPr>
          <p:spPr>
            <a:xfrm>
              <a:off x="1953383" y="3682330"/>
              <a:ext cx="603610" cy="629922"/>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005A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2" name="ïs1íḍé"/>
            <p:cNvGrpSpPr/>
            <p:nvPr/>
          </p:nvGrpSpPr>
          <p:grpSpPr>
            <a:xfrm>
              <a:off x="4267088" y="3448651"/>
              <a:ext cx="1097280" cy="1097280"/>
              <a:chOff x="3527538" y="3122851"/>
              <a:chExt cx="1097280" cy="1097280"/>
            </a:xfrm>
          </p:grpSpPr>
          <p:sp>
            <p:nvSpPr>
              <p:cNvPr id="22" name="îŝļîde"/>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íŝliďé"/>
              <p:cNvSpPr/>
              <p:nvPr>
                <p:custDataLst>
                  <p:tags r:id="rId12"/>
                </p:custDataLst>
              </p:nvPr>
            </p:nvSpPr>
            <p:spPr>
              <a:xfrm>
                <a:off x="3564092" y="3159405"/>
                <a:ext cx="1024172" cy="1024172"/>
              </a:xfrm>
              <a:prstGeom prst="ellipse">
                <a:avLst/>
              </a:prstGeom>
              <a:noFill/>
              <a:ln w="28575">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3" name="ïṡľíde"/>
            <p:cNvSpPr/>
            <p:nvPr>
              <p:custDataLst>
                <p:tags r:id="rId7"/>
              </p:custDataLst>
            </p:nvPr>
          </p:nvSpPr>
          <p:spPr>
            <a:xfrm>
              <a:off x="4500767" y="3772864"/>
              <a:ext cx="629922" cy="448854"/>
            </a:xfrm>
            <a:custGeom>
              <a:avLst/>
              <a:gdLst>
                <a:gd name="connsiteX0" fmla="*/ 32029 w 606007"/>
                <a:gd name="connsiteY0" fmla="*/ 122123 h 431814"/>
                <a:gd name="connsiteX1" fmla="*/ 44636 w 606007"/>
                <a:gd name="connsiteY1" fmla="*/ 124643 h 431814"/>
                <a:gd name="connsiteX2" fmla="*/ 247598 w 606007"/>
                <a:gd name="connsiteY2" fmla="*/ 246133 h 431814"/>
                <a:gd name="connsiteX3" fmla="*/ 299951 w 606007"/>
                <a:gd name="connsiteY3" fmla="*/ 225347 h 431814"/>
                <a:gd name="connsiteX4" fmla="*/ 202842 w 606007"/>
                <a:gd name="connsiteY4" fmla="*/ 217865 h 431814"/>
                <a:gd name="connsiteX5" fmla="*/ 193787 w 606007"/>
                <a:gd name="connsiteY5" fmla="*/ 183465 h 431814"/>
                <a:gd name="connsiteX6" fmla="*/ 400391 w 606007"/>
                <a:gd name="connsiteY6" fmla="*/ 169435 h 431814"/>
                <a:gd name="connsiteX7" fmla="*/ 577019 w 606007"/>
                <a:gd name="connsiteY7" fmla="*/ 313892 h 431814"/>
                <a:gd name="connsiteX8" fmla="*/ 582224 w 606007"/>
                <a:gd name="connsiteY8" fmla="*/ 323765 h 431814"/>
                <a:gd name="connsiteX9" fmla="*/ 585034 w 606007"/>
                <a:gd name="connsiteY9" fmla="*/ 424158 h 431814"/>
                <a:gd name="connsiteX10" fmla="*/ 522688 w 606007"/>
                <a:gd name="connsiteY10" fmla="*/ 399424 h 431814"/>
                <a:gd name="connsiteX11" fmla="*/ 457428 w 606007"/>
                <a:gd name="connsiteY11" fmla="*/ 330001 h 431814"/>
                <a:gd name="connsiteX12" fmla="*/ 455659 w 606007"/>
                <a:gd name="connsiteY12" fmla="*/ 330417 h 431814"/>
                <a:gd name="connsiteX13" fmla="*/ 166413 w 606007"/>
                <a:gd name="connsiteY13" fmla="*/ 320232 h 431814"/>
                <a:gd name="connsiteX14" fmla="*/ 3420 w 606007"/>
                <a:gd name="connsiteY14" fmla="*/ 158835 h 431814"/>
                <a:gd name="connsiteX15" fmla="*/ 18720 w 606007"/>
                <a:gd name="connsiteY15" fmla="*/ 129112 h 431814"/>
                <a:gd name="connsiteX16" fmla="*/ 20281 w 606007"/>
                <a:gd name="connsiteY16" fmla="*/ 127865 h 431814"/>
                <a:gd name="connsiteX17" fmla="*/ 32029 w 606007"/>
                <a:gd name="connsiteY17" fmla="*/ 122123 h 431814"/>
                <a:gd name="connsiteX18" fmla="*/ 243700 w 606007"/>
                <a:gd name="connsiteY18" fmla="*/ 95214 h 431814"/>
                <a:gd name="connsiteX19" fmla="*/ 330644 w 606007"/>
                <a:gd name="connsiteY19" fmla="*/ 97150 h 431814"/>
                <a:gd name="connsiteX20" fmla="*/ 418382 w 606007"/>
                <a:gd name="connsiteY20" fmla="*/ 118145 h 431814"/>
                <a:gd name="connsiteX21" fmla="*/ 418382 w 606007"/>
                <a:gd name="connsiteY21" fmla="*/ 133113 h 431814"/>
                <a:gd name="connsiteX22" fmla="*/ 418278 w 606007"/>
                <a:gd name="connsiteY22" fmla="*/ 133217 h 431814"/>
                <a:gd name="connsiteX23" fmla="*/ 412657 w 606007"/>
                <a:gd name="connsiteY23" fmla="*/ 146521 h 431814"/>
                <a:gd name="connsiteX24" fmla="*/ 164327 w 606007"/>
                <a:gd name="connsiteY24" fmla="*/ 184147 h 431814"/>
                <a:gd name="connsiteX25" fmla="*/ 148195 w 606007"/>
                <a:gd name="connsiteY25" fmla="*/ 188513 h 431814"/>
                <a:gd name="connsiteX26" fmla="*/ 143407 w 606007"/>
                <a:gd name="connsiteY26" fmla="*/ 161800 h 431814"/>
                <a:gd name="connsiteX27" fmla="*/ 143720 w 606007"/>
                <a:gd name="connsiteY27" fmla="*/ 112221 h 431814"/>
                <a:gd name="connsiteX28" fmla="*/ 156834 w 606007"/>
                <a:gd name="connsiteY28" fmla="*/ 99124 h 431814"/>
                <a:gd name="connsiteX29" fmla="*/ 243700 w 606007"/>
                <a:gd name="connsiteY29" fmla="*/ 95214 h 431814"/>
                <a:gd name="connsiteX30" fmla="*/ 181420 w 606007"/>
                <a:gd name="connsiteY30" fmla="*/ 1042 h 431814"/>
                <a:gd name="connsiteX31" fmla="*/ 354418 w 606007"/>
                <a:gd name="connsiteY31" fmla="*/ 8002 h 431814"/>
                <a:gd name="connsiteX32" fmla="*/ 396366 w 606007"/>
                <a:gd name="connsiteY32" fmla="*/ 15898 h 431814"/>
                <a:gd name="connsiteX33" fmla="*/ 386998 w 606007"/>
                <a:gd name="connsiteY33" fmla="*/ 82801 h 431814"/>
                <a:gd name="connsiteX34" fmla="*/ 329332 w 606007"/>
                <a:gd name="connsiteY34" fmla="*/ 78646 h 431814"/>
                <a:gd name="connsiteX35" fmla="*/ 277599 w 606007"/>
                <a:gd name="connsiteY35" fmla="*/ 75529 h 431814"/>
                <a:gd name="connsiteX36" fmla="*/ 253763 w 606007"/>
                <a:gd name="connsiteY36" fmla="*/ 74906 h 431814"/>
                <a:gd name="connsiteX37" fmla="*/ 248871 w 606007"/>
                <a:gd name="connsiteY37" fmla="*/ 75529 h 431814"/>
                <a:gd name="connsiteX38" fmla="*/ 148424 w 606007"/>
                <a:gd name="connsiteY38" fmla="*/ 75529 h 431814"/>
                <a:gd name="connsiteX39" fmla="*/ 139680 w 606007"/>
                <a:gd name="connsiteY39" fmla="*/ 63167 h 431814"/>
                <a:gd name="connsiteX40" fmla="*/ 137286 w 606007"/>
                <a:gd name="connsiteY40" fmla="*/ 57972 h 431814"/>
                <a:gd name="connsiteX41" fmla="*/ 136766 w 606007"/>
                <a:gd name="connsiteY41" fmla="*/ 54440 h 431814"/>
                <a:gd name="connsiteX42" fmla="*/ 132915 w 606007"/>
                <a:gd name="connsiteY42" fmla="*/ 45817 h 431814"/>
                <a:gd name="connsiteX43" fmla="*/ 135101 w 606007"/>
                <a:gd name="connsiteY43" fmla="*/ 24417 h 431814"/>
                <a:gd name="connsiteX44" fmla="*/ 181420 w 606007"/>
                <a:gd name="connsiteY44" fmla="*/ 1042 h 43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6007" h="431814">
                  <a:moveTo>
                    <a:pt x="32029" y="122123"/>
                  </a:moveTo>
                  <a:cubicBezTo>
                    <a:pt x="36440" y="121291"/>
                    <a:pt x="40993" y="121837"/>
                    <a:pt x="44636" y="124643"/>
                  </a:cubicBezTo>
                  <a:cubicBezTo>
                    <a:pt x="116349" y="179724"/>
                    <a:pt x="144452" y="250082"/>
                    <a:pt x="247598" y="246133"/>
                  </a:cubicBezTo>
                  <a:cubicBezTo>
                    <a:pt x="273098" y="245093"/>
                    <a:pt x="427453" y="252576"/>
                    <a:pt x="299951" y="225347"/>
                  </a:cubicBezTo>
                  <a:cubicBezTo>
                    <a:pt x="270184" y="218904"/>
                    <a:pt x="234067" y="223165"/>
                    <a:pt x="202842" y="217865"/>
                  </a:cubicBezTo>
                  <a:cubicBezTo>
                    <a:pt x="186189" y="215059"/>
                    <a:pt x="184940" y="194066"/>
                    <a:pt x="193787" y="183465"/>
                  </a:cubicBezTo>
                  <a:cubicBezTo>
                    <a:pt x="227510" y="142934"/>
                    <a:pt x="355427" y="160394"/>
                    <a:pt x="400391" y="169435"/>
                  </a:cubicBezTo>
                  <a:cubicBezTo>
                    <a:pt x="476788" y="184920"/>
                    <a:pt x="523625" y="259955"/>
                    <a:pt x="577019" y="313892"/>
                  </a:cubicBezTo>
                  <a:cubicBezTo>
                    <a:pt x="580038" y="317010"/>
                    <a:pt x="581495" y="320440"/>
                    <a:pt x="582224" y="323765"/>
                  </a:cubicBezTo>
                  <a:cubicBezTo>
                    <a:pt x="608244" y="351618"/>
                    <a:pt x="618028" y="397345"/>
                    <a:pt x="585034" y="424158"/>
                  </a:cubicBezTo>
                  <a:cubicBezTo>
                    <a:pt x="558909" y="445255"/>
                    <a:pt x="538301" y="418026"/>
                    <a:pt x="522688" y="399424"/>
                  </a:cubicBezTo>
                  <a:cubicBezTo>
                    <a:pt x="502184" y="375105"/>
                    <a:pt x="479078" y="353280"/>
                    <a:pt x="457428" y="330001"/>
                  </a:cubicBezTo>
                  <a:cubicBezTo>
                    <a:pt x="456804" y="330105"/>
                    <a:pt x="456388" y="330417"/>
                    <a:pt x="455659" y="330417"/>
                  </a:cubicBezTo>
                  <a:cubicBezTo>
                    <a:pt x="370623" y="333638"/>
                    <a:pt x="245412" y="359516"/>
                    <a:pt x="166413" y="320232"/>
                  </a:cubicBezTo>
                  <a:cubicBezTo>
                    <a:pt x="100321" y="287287"/>
                    <a:pt x="47030" y="216514"/>
                    <a:pt x="3420" y="158835"/>
                  </a:cubicBezTo>
                  <a:cubicBezTo>
                    <a:pt x="-6052" y="146260"/>
                    <a:pt x="5813" y="131502"/>
                    <a:pt x="18720" y="129112"/>
                  </a:cubicBezTo>
                  <a:cubicBezTo>
                    <a:pt x="19240" y="128696"/>
                    <a:pt x="19761" y="128280"/>
                    <a:pt x="20281" y="127865"/>
                  </a:cubicBezTo>
                  <a:cubicBezTo>
                    <a:pt x="23352" y="125163"/>
                    <a:pt x="27619" y="122954"/>
                    <a:pt x="32029" y="122123"/>
                  </a:cubicBezTo>
                  <a:close/>
                  <a:moveTo>
                    <a:pt x="243700" y="95214"/>
                  </a:moveTo>
                  <a:cubicBezTo>
                    <a:pt x="272725" y="95097"/>
                    <a:pt x="301763" y="95954"/>
                    <a:pt x="330644" y="97150"/>
                  </a:cubicBezTo>
                  <a:cubicBezTo>
                    <a:pt x="355414" y="98189"/>
                    <a:pt x="404539" y="91017"/>
                    <a:pt x="418382" y="118145"/>
                  </a:cubicBezTo>
                  <a:cubicBezTo>
                    <a:pt x="420567" y="122615"/>
                    <a:pt x="421504" y="128747"/>
                    <a:pt x="418382" y="133113"/>
                  </a:cubicBezTo>
                  <a:lnTo>
                    <a:pt x="418278" y="133217"/>
                  </a:lnTo>
                  <a:cubicBezTo>
                    <a:pt x="420567" y="138310"/>
                    <a:pt x="419110" y="145274"/>
                    <a:pt x="412657" y="146521"/>
                  </a:cubicBezTo>
                  <a:cubicBezTo>
                    <a:pt x="372379" y="154628"/>
                    <a:pt x="169427" y="128643"/>
                    <a:pt x="164327" y="184147"/>
                  </a:cubicBezTo>
                  <a:cubicBezTo>
                    <a:pt x="163599" y="192047"/>
                    <a:pt x="152566" y="196724"/>
                    <a:pt x="148195" y="188513"/>
                  </a:cubicBezTo>
                  <a:cubicBezTo>
                    <a:pt x="142679" y="178223"/>
                    <a:pt x="141430" y="169388"/>
                    <a:pt x="143407" y="161800"/>
                  </a:cubicBezTo>
                  <a:cubicBezTo>
                    <a:pt x="141846" y="144962"/>
                    <a:pt x="142054" y="129683"/>
                    <a:pt x="143720" y="112221"/>
                  </a:cubicBezTo>
                  <a:cubicBezTo>
                    <a:pt x="144344" y="104529"/>
                    <a:pt x="149236" y="99852"/>
                    <a:pt x="156834" y="99124"/>
                  </a:cubicBezTo>
                  <a:cubicBezTo>
                    <a:pt x="185664" y="96422"/>
                    <a:pt x="214675" y="95331"/>
                    <a:pt x="243700" y="95214"/>
                  </a:cubicBezTo>
                  <a:close/>
                  <a:moveTo>
                    <a:pt x="181420" y="1042"/>
                  </a:moveTo>
                  <a:cubicBezTo>
                    <a:pt x="237629" y="9457"/>
                    <a:pt x="296648" y="2081"/>
                    <a:pt x="354418" y="8002"/>
                  </a:cubicBezTo>
                  <a:cubicBezTo>
                    <a:pt x="370135" y="6860"/>
                    <a:pt x="386269" y="7171"/>
                    <a:pt x="396366" y="15898"/>
                  </a:cubicBezTo>
                  <a:cubicBezTo>
                    <a:pt x="414165" y="31273"/>
                    <a:pt x="412291" y="76049"/>
                    <a:pt x="386998" y="82801"/>
                  </a:cubicBezTo>
                  <a:cubicBezTo>
                    <a:pt x="371696" y="86853"/>
                    <a:pt x="345362" y="79581"/>
                    <a:pt x="329332" y="78646"/>
                  </a:cubicBezTo>
                  <a:cubicBezTo>
                    <a:pt x="312053" y="77607"/>
                    <a:pt x="294878" y="76568"/>
                    <a:pt x="277599" y="75529"/>
                  </a:cubicBezTo>
                  <a:cubicBezTo>
                    <a:pt x="269897" y="75114"/>
                    <a:pt x="261882" y="75010"/>
                    <a:pt x="253763" y="74906"/>
                  </a:cubicBezTo>
                  <a:cubicBezTo>
                    <a:pt x="252201" y="75114"/>
                    <a:pt x="250536" y="75218"/>
                    <a:pt x="248871" y="75529"/>
                  </a:cubicBezTo>
                  <a:cubicBezTo>
                    <a:pt x="214625" y="81139"/>
                    <a:pt x="182357" y="83633"/>
                    <a:pt x="148424" y="75529"/>
                  </a:cubicBezTo>
                  <a:cubicBezTo>
                    <a:pt x="142387" y="74075"/>
                    <a:pt x="139680" y="68673"/>
                    <a:pt x="139680" y="63167"/>
                  </a:cubicBezTo>
                  <a:cubicBezTo>
                    <a:pt x="138640" y="61608"/>
                    <a:pt x="137599" y="60154"/>
                    <a:pt x="137286" y="57972"/>
                  </a:cubicBezTo>
                  <a:cubicBezTo>
                    <a:pt x="136974" y="56830"/>
                    <a:pt x="136974" y="55583"/>
                    <a:pt x="136766" y="54440"/>
                  </a:cubicBezTo>
                  <a:cubicBezTo>
                    <a:pt x="134684" y="52258"/>
                    <a:pt x="133123" y="49557"/>
                    <a:pt x="132915" y="45817"/>
                  </a:cubicBezTo>
                  <a:cubicBezTo>
                    <a:pt x="132186" y="34494"/>
                    <a:pt x="132290" y="33247"/>
                    <a:pt x="135101" y="24417"/>
                  </a:cubicBezTo>
                  <a:cubicBezTo>
                    <a:pt x="140201" y="4262"/>
                    <a:pt x="155086" y="-2906"/>
                    <a:pt x="181420" y="1042"/>
                  </a:cubicBezTo>
                  <a:close/>
                </a:path>
              </a:pathLst>
            </a:custGeom>
            <a:solidFill>
              <a:srgbClr val="005A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4" name="îSlíḍé"/>
            <p:cNvGrpSpPr/>
            <p:nvPr/>
          </p:nvGrpSpPr>
          <p:grpSpPr>
            <a:xfrm>
              <a:off x="6827628" y="3448651"/>
              <a:ext cx="1097280" cy="1097280"/>
              <a:chOff x="3527538" y="3122851"/>
              <a:chExt cx="1097280" cy="1097280"/>
            </a:xfrm>
          </p:grpSpPr>
          <p:sp>
            <p:nvSpPr>
              <p:cNvPr id="20" name="îşlíḍé"/>
              <p:cNvSpPr/>
              <p:nvPr>
                <p:custDataLst>
                  <p:tags r:id="rId11"/>
                </p:custDataLst>
              </p:nvPr>
            </p:nvSpPr>
            <p:spPr>
              <a:xfrm>
                <a:off x="3527538" y="3122851"/>
                <a:ext cx="1097280" cy="1097280"/>
              </a:xfrm>
              <a:prstGeom prst="ellipse">
                <a:avLst/>
              </a:prstGeom>
              <a:noFill/>
              <a:ln w="25400">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ï$1íḑê"/>
              <p:cNvSpPr/>
              <p:nvPr/>
            </p:nvSpPr>
            <p:spPr>
              <a:xfrm>
                <a:off x="3564092" y="3159405"/>
                <a:ext cx="1024172" cy="1024172"/>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5" name="ïṣļiḑe"/>
            <p:cNvSpPr/>
            <p:nvPr>
              <p:custDataLst>
                <p:tags r:id="rId8"/>
              </p:custDataLst>
            </p:nvPr>
          </p:nvSpPr>
          <p:spPr>
            <a:xfrm>
              <a:off x="7061307" y="3682806"/>
              <a:ext cx="629922" cy="628970"/>
            </a:xfrm>
            <a:custGeom>
              <a:avLst/>
              <a:gdLst>
                <a:gd name="connsiteX0" fmla="*/ 298447 w 606933"/>
                <a:gd name="connsiteY0" fmla="*/ 207674 h 606016"/>
                <a:gd name="connsiteX1" fmla="*/ 303628 w 606933"/>
                <a:gd name="connsiteY1" fmla="*/ 207674 h 606016"/>
                <a:gd name="connsiteX2" fmla="*/ 315496 w 606933"/>
                <a:gd name="connsiteY2" fmla="*/ 219620 h 606016"/>
                <a:gd name="connsiteX3" fmla="*/ 323973 w 606933"/>
                <a:gd name="connsiteY3" fmla="*/ 229403 h 606016"/>
                <a:gd name="connsiteX4" fmla="*/ 342435 w 606933"/>
                <a:gd name="connsiteY4" fmla="*/ 234859 h 606016"/>
                <a:gd name="connsiteX5" fmla="*/ 345920 w 606933"/>
                <a:gd name="connsiteY5" fmla="*/ 242007 h 606016"/>
                <a:gd name="connsiteX6" fmla="*/ 341399 w 606933"/>
                <a:gd name="connsiteY6" fmla="*/ 257434 h 606016"/>
                <a:gd name="connsiteX7" fmla="*/ 333769 w 606933"/>
                <a:gd name="connsiteY7" fmla="*/ 260726 h 606016"/>
                <a:gd name="connsiteX8" fmla="*/ 304476 w 606933"/>
                <a:gd name="connsiteY8" fmla="*/ 254988 h 606016"/>
                <a:gd name="connsiteX9" fmla="*/ 296658 w 606933"/>
                <a:gd name="connsiteY9" fmla="*/ 256587 h 606016"/>
                <a:gd name="connsiteX10" fmla="*/ 293926 w 606933"/>
                <a:gd name="connsiteY10" fmla="*/ 276247 h 606016"/>
                <a:gd name="connsiteX11" fmla="*/ 306642 w 606933"/>
                <a:gd name="connsiteY11" fmla="*/ 283396 h 606016"/>
                <a:gd name="connsiteX12" fmla="*/ 329813 w 606933"/>
                <a:gd name="connsiteY12" fmla="*/ 293931 h 606016"/>
                <a:gd name="connsiteX13" fmla="*/ 343565 w 606933"/>
                <a:gd name="connsiteY13" fmla="*/ 356954 h 606016"/>
                <a:gd name="connsiteX14" fmla="*/ 320394 w 606933"/>
                <a:gd name="connsiteY14" fmla="*/ 371722 h 606016"/>
                <a:gd name="connsiteX15" fmla="*/ 314742 w 606933"/>
                <a:gd name="connsiteY15" fmla="*/ 379153 h 606016"/>
                <a:gd name="connsiteX16" fmla="*/ 314742 w 606933"/>
                <a:gd name="connsiteY16" fmla="*/ 391381 h 606016"/>
                <a:gd name="connsiteX17" fmla="*/ 309279 w 606933"/>
                <a:gd name="connsiteY17" fmla="*/ 397025 h 606016"/>
                <a:gd name="connsiteX18" fmla="*/ 296093 w 606933"/>
                <a:gd name="connsiteY18" fmla="*/ 397025 h 606016"/>
                <a:gd name="connsiteX19" fmla="*/ 290253 w 606933"/>
                <a:gd name="connsiteY19" fmla="*/ 391005 h 606016"/>
                <a:gd name="connsiteX20" fmla="*/ 290158 w 606933"/>
                <a:gd name="connsiteY20" fmla="*/ 382163 h 606016"/>
                <a:gd name="connsiteX21" fmla="*/ 283471 w 606933"/>
                <a:gd name="connsiteY21" fmla="*/ 374261 h 606016"/>
                <a:gd name="connsiteX22" fmla="*/ 260017 w 606933"/>
                <a:gd name="connsiteY22" fmla="*/ 367489 h 606016"/>
                <a:gd name="connsiteX23" fmla="*/ 255214 w 606933"/>
                <a:gd name="connsiteY23" fmla="*/ 357048 h 606016"/>
                <a:gd name="connsiteX24" fmla="*/ 259170 w 606933"/>
                <a:gd name="connsiteY24" fmla="*/ 343502 h 606016"/>
                <a:gd name="connsiteX25" fmla="*/ 267082 w 606933"/>
                <a:gd name="connsiteY25" fmla="*/ 340116 h 606016"/>
                <a:gd name="connsiteX26" fmla="*/ 293173 w 606933"/>
                <a:gd name="connsiteY26" fmla="*/ 347923 h 606016"/>
                <a:gd name="connsiteX27" fmla="*/ 310221 w 606933"/>
                <a:gd name="connsiteY27" fmla="*/ 345666 h 606016"/>
                <a:gd name="connsiteX28" fmla="*/ 313424 w 606933"/>
                <a:gd name="connsiteY28" fmla="*/ 322338 h 606016"/>
                <a:gd name="connsiteX29" fmla="*/ 303628 w 606933"/>
                <a:gd name="connsiteY29" fmla="*/ 316506 h 606016"/>
                <a:gd name="connsiteX30" fmla="*/ 276972 w 606933"/>
                <a:gd name="connsiteY30" fmla="*/ 304654 h 606016"/>
                <a:gd name="connsiteX31" fmla="*/ 255590 w 606933"/>
                <a:gd name="connsiteY31" fmla="*/ 268627 h 606016"/>
                <a:gd name="connsiteX32" fmla="*/ 284601 w 606933"/>
                <a:gd name="connsiteY32" fmla="*/ 231848 h 606016"/>
                <a:gd name="connsiteX33" fmla="*/ 291760 w 606933"/>
                <a:gd name="connsiteY33" fmla="*/ 221972 h 606016"/>
                <a:gd name="connsiteX34" fmla="*/ 291760 w 606933"/>
                <a:gd name="connsiteY34" fmla="*/ 214447 h 606016"/>
                <a:gd name="connsiteX35" fmla="*/ 298447 w 606933"/>
                <a:gd name="connsiteY35" fmla="*/ 207674 h 606016"/>
                <a:gd name="connsiteX36" fmla="*/ 303420 w 606933"/>
                <a:gd name="connsiteY36" fmla="*/ 180121 h 606016"/>
                <a:gd name="connsiteX37" fmla="*/ 180864 w 606933"/>
                <a:gd name="connsiteY37" fmla="*/ 302491 h 606016"/>
                <a:gd name="connsiteX38" fmla="*/ 303420 w 606933"/>
                <a:gd name="connsiteY38" fmla="*/ 424860 h 606016"/>
                <a:gd name="connsiteX39" fmla="*/ 426069 w 606933"/>
                <a:gd name="connsiteY39" fmla="*/ 302491 h 606016"/>
                <a:gd name="connsiteX40" fmla="*/ 303420 w 606933"/>
                <a:gd name="connsiteY40" fmla="*/ 180121 h 606016"/>
                <a:gd name="connsiteX41" fmla="*/ 303420 w 606933"/>
                <a:gd name="connsiteY41" fmla="*/ 0 h 606016"/>
                <a:gd name="connsiteX42" fmla="*/ 356360 w 606933"/>
                <a:gd name="connsiteY42" fmla="*/ 52767 h 606016"/>
                <a:gd name="connsiteX43" fmla="*/ 321695 w 606933"/>
                <a:gd name="connsiteY43" fmla="*/ 102335 h 606016"/>
                <a:gd name="connsiteX44" fmla="*/ 321695 w 606933"/>
                <a:gd name="connsiteY44" fmla="*/ 149364 h 606016"/>
                <a:gd name="connsiteX45" fmla="*/ 399316 w 606933"/>
                <a:gd name="connsiteY45" fmla="*/ 181626 h 606016"/>
                <a:gd name="connsiteX46" fmla="*/ 405815 w 606933"/>
                <a:gd name="connsiteY46" fmla="*/ 175042 h 606016"/>
                <a:gd name="connsiteX47" fmla="*/ 432851 w 606933"/>
                <a:gd name="connsiteY47" fmla="*/ 148141 h 606016"/>
                <a:gd name="connsiteX48" fmla="*/ 443401 w 606933"/>
                <a:gd name="connsiteY48" fmla="*/ 88791 h 606016"/>
                <a:gd name="connsiteX49" fmla="*/ 518008 w 606933"/>
                <a:gd name="connsiteY49" fmla="*/ 88791 h 606016"/>
                <a:gd name="connsiteX50" fmla="*/ 518008 w 606933"/>
                <a:gd name="connsiteY50" fmla="*/ 163285 h 606016"/>
                <a:gd name="connsiteX51" fmla="*/ 458568 w 606933"/>
                <a:gd name="connsiteY51" fmla="*/ 173819 h 606016"/>
                <a:gd name="connsiteX52" fmla="*/ 425032 w 606933"/>
                <a:gd name="connsiteY52" fmla="*/ 207304 h 606016"/>
                <a:gd name="connsiteX53" fmla="*/ 457343 w 606933"/>
                <a:gd name="connsiteY53" fmla="*/ 287818 h 606016"/>
                <a:gd name="connsiteX54" fmla="*/ 503407 w 606933"/>
                <a:gd name="connsiteY54" fmla="*/ 287818 h 606016"/>
                <a:gd name="connsiteX55" fmla="*/ 553993 w 606933"/>
                <a:gd name="connsiteY55" fmla="*/ 250194 h 606016"/>
                <a:gd name="connsiteX56" fmla="*/ 606933 w 606933"/>
                <a:gd name="connsiteY56" fmla="*/ 302961 h 606016"/>
                <a:gd name="connsiteX57" fmla="*/ 553993 w 606933"/>
                <a:gd name="connsiteY57" fmla="*/ 355822 h 606016"/>
                <a:gd name="connsiteX58" fmla="*/ 505668 w 606933"/>
                <a:gd name="connsiteY58" fmla="*/ 324312 h 606016"/>
                <a:gd name="connsiteX59" fmla="*/ 456589 w 606933"/>
                <a:gd name="connsiteY59" fmla="*/ 324312 h 606016"/>
                <a:gd name="connsiteX60" fmla="*/ 424656 w 606933"/>
                <a:gd name="connsiteY60" fmla="*/ 398336 h 606016"/>
                <a:gd name="connsiteX61" fmla="*/ 458473 w 606933"/>
                <a:gd name="connsiteY61" fmla="*/ 432009 h 606016"/>
                <a:gd name="connsiteX62" fmla="*/ 480705 w 606933"/>
                <a:gd name="connsiteY62" fmla="*/ 427118 h 606016"/>
                <a:gd name="connsiteX63" fmla="*/ 533645 w 606933"/>
                <a:gd name="connsiteY63" fmla="*/ 480072 h 606016"/>
                <a:gd name="connsiteX64" fmla="*/ 480799 w 606933"/>
                <a:gd name="connsiteY64" fmla="*/ 532839 h 606016"/>
                <a:gd name="connsiteX65" fmla="*/ 427953 w 606933"/>
                <a:gd name="connsiteY65" fmla="*/ 480072 h 606016"/>
                <a:gd name="connsiteX66" fmla="*/ 432851 w 606933"/>
                <a:gd name="connsiteY66" fmla="*/ 457875 h 606016"/>
                <a:gd name="connsiteX67" fmla="*/ 398939 w 606933"/>
                <a:gd name="connsiteY67" fmla="*/ 424014 h 606016"/>
                <a:gd name="connsiteX68" fmla="*/ 321789 w 606933"/>
                <a:gd name="connsiteY68" fmla="*/ 455899 h 606016"/>
                <a:gd name="connsiteX69" fmla="*/ 321789 w 606933"/>
                <a:gd name="connsiteY69" fmla="*/ 466904 h 606016"/>
                <a:gd name="connsiteX70" fmla="*/ 321789 w 606933"/>
                <a:gd name="connsiteY70" fmla="*/ 503681 h 606016"/>
                <a:gd name="connsiteX71" fmla="*/ 356454 w 606933"/>
                <a:gd name="connsiteY71" fmla="*/ 553155 h 606016"/>
                <a:gd name="connsiteX72" fmla="*/ 303608 w 606933"/>
                <a:gd name="connsiteY72" fmla="*/ 606016 h 606016"/>
                <a:gd name="connsiteX73" fmla="*/ 250667 w 606933"/>
                <a:gd name="connsiteY73" fmla="*/ 553155 h 606016"/>
                <a:gd name="connsiteX74" fmla="*/ 285333 w 606933"/>
                <a:gd name="connsiteY74" fmla="*/ 503681 h 606016"/>
                <a:gd name="connsiteX75" fmla="*/ 285333 w 606933"/>
                <a:gd name="connsiteY75" fmla="*/ 466810 h 606016"/>
                <a:gd name="connsiteX76" fmla="*/ 285333 w 606933"/>
                <a:gd name="connsiteY76" fmla="*/ 455711 h 606016"/>
                <a:gd name="connsiteX77" fmla="*/ 208277 w 606933"/>
                <a:gd name="connsiteY77" fmla="*/ 423920 h 606016"/>
                <a:gd name="connsiteX78" fmla="*/ 174365 w 606933"/>
                <a:gd name="connsiteY78" fmla="*/ 457781 h 606016"/>
                <a:gd name="connsiteX79" fmla="*/ 179263 w 606933"/>
                <a:gd name="connsiteY79" fmla="*/ 479978 h 606016"/>
                <a:gd name="connsiteX80" fmla="*/ 126322 w 606933"/>
                <a:gd name="connsiteY80" fmla="*/ 532745 h 606016"/>
                <a:gd name="connsiteX81" fmla="*/ 73476 w 606933"/>
                <a:gd name="connsiteY81" fmla="*/ 479978 h 606016"/>
                <a:gd name="connsiteX82" fmla="*/ 126322 w 606933"/>
                <a:gd name="connsiteY82" fmla="*/ 427118 h 606016"/>
                <a:gd name="connsiteX83" fmla="*/ 148554 w 606933"/>
                <a:gd name="connsiteY83" fmla="*/ 432009 h 606016"/>
                <a:gd name="connsiteX84" fmla="*/ 182372 w 606933"/>
                <a:gd name="connsiteY84" fmla="*/ 398336 h 606016"/>
                <a:gd name="connsiteX85" fmla="*/ 150438 w 606933"/>
                <a:gd name="connsiteY85" fmla="*/ 324312 h 606016"/>
                <a:gd name="connsiteX86" fmla="*/ 102490 w 606933"/>
                <a:gd name="connsiteY86" fmla="*/ 324312 h 606016"/>
                <a:gd name="connsiteX87" fmla="*/ 52846 w 606933"/>
                <a:gd name="connsiteY87" fmla="*/ 358926 h 606016"/>
                <a:gd name="connsiteX88" fmla="*/ 0 w 606933"/>
                <a:gd name="connsiteY88" fmla="*/ 306159 h 606016"/>
                <a:gd name="connsiteX89" fmla="*/ 52846 w 606933"/>
                <a:gd name="connsiteY89" fmla="*/ 253298 h 606016"/>
                <a:gd name="connsiteX90" fmla="*/ 102490 w 606933"/>
                <a:gd name="connsiteY90" fmla="*/ 287818 h 606016"/>
                <a:gd name="connsiteX91" fmla="*/ 149590 w 606933"/>
                <a:gd name="connsiteY91" fmla="*/ 287818 h 606016"/>
                <a:gd name="connsiteX92" fmla="*/ 181901 w 606933"/>
                <a:gd name="connsiteY92" fmla="*/ 207304 h 606016"/>
                <a:gd name="connsiteX93" fmla="*/ 148460 w 606933"/>
                <a:gd name="connsiteY93" fmla="*/ 173913 h 606016"/>
                <a:gd name="connsiteX94" fmla="*/ 126228 w 606933"/>
                <a:gd name="connsiteY94" fmla="*/ 178804 h 606016"/>
                <a:gd name="connsiteX95" fmla="*/ 73382 w 606933"/>
                <a:gd name="connsiteY95" fmla="*/ 126038 h 606016"/>
                <a:gd name="connsiteX96" fmla="*/ 126228 w 606933"/>
                <a:gd name="connsiteY96" fmla="*/ 73271 h 606016"/>
                <a:gd name="connsiteX97" fmla="*/ 179075 w 606933"/>
                <a:gd name="connsiteY97" fmla="*/ 126038 h 606016"/>
                <a:gd name="connsiteX98" fmla="*/ 174176 w 606933"/>
                <a:gd name="connsiteY98" fmla="*/ 148235 h 606016"/>
                <a:gd name="connsiteX99" fmla="*/ 207617 w 606933"/>
                <a:gd name="connsiteY99" fmla="*/ 181626 h 606016"/>
                <a:gd name="connsiteX100" fmla="*/ 285239 w 606933"/>
                <a:gd name="connsiteY100" fmla="*/ 149364 h 606016"/>
                <a:gd name="connsiteX101" fmla="*/ 285239 w 606933"/>
                <a:gd name="connsiteY101" fmla="*/ 102335 h 606016"/>
                <a:gd name="connsiteX102" fmla="*/ 250573 w 606933"/>
                <a:gd name="connsiteY102" fmla="*/ 52767 h 606016"/>
                <a:gd name="connsiteX103" fmla="*/ 303420 w 606933"/>
                <a:gd name="connsiteY103" fmla="*/ 0 h 60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6933" h="606016">
                  <a:moveTo>
                    <a:pt x="298447" y="207674"/>
                  </a:moveTo>
                  <a:lnTo>
                    <a:pt x="303628" y="207674"/>
                  </a:lnTo>
                  <a:cubicBezTo>
                    <a:pt x="315496" y="207674"/>
                    <a:pt x="315496" y="207674"/>
                    <a:pt x="315496" y="219620"/>
                  </a:cubicBezTo>
                  <a:cubicBezTo>
                    <a:pt x="315496" y="227992"/>
                    <a:pt x="315496" y="228086"/>
                    <a:pt x="323973" y="229403"/>
                  </a:cubicBezTo>
                  <a:cubicBezTo>
                    <a:pt x="330378" y="230343"/>
                    <a:pt x="336501" y="232225"/>
                    <a:pt x="342435" y="234859"/>
                  </a:cubicBezTo>
                  <a:cubicBezTo>
                    <a:pt x="345637" y="236269"/>
                    <a:pt x="346956" y="238621"/>
                    <a:pt x="345920" y="242007"/>
                  </a:cubicBezTo>
                  <a:cubicBezTo>
                    <a:pt x="344413" y="247181"/>
                    <a:pt x="343000" y="252354"/>
                    <a:pt x="341399" y="257434"/>
                  </a:cubicBezTo>
                  <a:cubicBezTo>
                    <a:pt x="339891" y="262231"/>
                    <a:pt x="338384" y="262984"/>
                    <a:pt x="333769" y="260726"/>
                  </a:cubicBezTo>
                  <a:cubicBezTo>
                    <a:pt x="324444" y="256211"/>
                    <a:pt x="314742" y="254424"/>
                    <a:pt x="304476" y="254988"/>
                  </a:cubicBezTo>
                  <a:cubicBezTo>
                    <a:pt x="301838" y="255082"/>
                    <a:pt x="299201" y="255459"/>
                    <a:pt x="296658" y="256587"/>
                  </a:cubicBezTo>
                  <a:cubicBezTo>
                    <a:pt x="287804" y="260444"/>
                    <a:pt x="286391" y="270227"/>
                    <a:pt x="293926" y="276247"/>
                  </a:cubicBezTo>
                  <a:cubicBezTo>
                    <a:pt x="297694" y="279257"/>
                    <a:pt x="302121" y="281514"/>
                    <a:pt x="306642" y="283396"/>
                  </a:cubicBezTo>
                  <a:cubicBezTo>
                    <a:pt x="314554" y="286688"/>
                    <a:pt x="322466" y="289792"/>
                    <a:pt x="329813" y="293931"/>
                  </a:cubicBezTo>
                  <a:cubicBezTo>
                    <a:pt x="353549" y="307006"/>
                    <a:pt x="359954" y="336824"/>
                    <a:pt x="343565" y="356954"/>
                  </a:cubicBezTo>
                  <a:cubicBezTo>
                    <a:pt x="337537" y="364291"/>
                    <a:pt x="329625" y="369182"/>
                    <a:pt x="320394" y="371722"/>
                  </a:cubicBezTo>
                  <a:cubicBezTo>
                    <a:pt x="316438" y="372850"/>
                    <a:pt x="314648" y="375014"/>
                    <a:pt x="314742" y="379153"/>
                  </a:cubicBezTo>
                  <a:cubicBezTo>
                    <a:pt x="315025" y="383292"/>
                    <a:pt x="314742" y="387242"/>
                    <a:pt x="314742" y="391381"/>
                  </a:cubicBezTo>
                  <a:cubicBezTo>
                    <a:pt x="314648" y="395050"/>
                    <a:pt x="312859" y="396931"/>
                    <a:pt x="309279" y="397025"/>
                  </a:cubicBezTo>
                  <a:cubicBezTo>
                    <a:pt x="304852" y="397213"/>
                    <a:pt x="300425" y="397213"/>
                    <a:pt x="296093" y="397025"/>
                  </a:cubicBezTo>
                  <a:cubicBezTo>
                    <a:pt x="292136" y="396931"/>
                    <a:pt x="290253" y="394767"/>
                    <a:pt x="290253" y="391005"/>
                  </a:cubicBezTo>
                  <a:cubicBezTo>
                    <a:pt x="290158" y="388183"/>
                    <a:pt x="290158" y="385173"/>
                    <a:pt x="290158" y="382163"/>
                  </a:cubicBezTo>
                  <a:cubicBezTo>
                    <a:pt x="290064" y="375484"/>
                    <a:pt x="289876" y="375202"/>
                    <a:pt x="283471" y="374261"/>
                  </a:cubicBezTo>
                  <a:cubicBezTo>
                    <a:pt x="275465" y="372850"/>
                    <a:pt x="267458" y="371063"/>
                    <a:pt x="260017" y="367489"/>
                  </a:cubicBezTo>
                  <a:cubicBezTo>
                    <a:pt x="254083" y="364573"/>
                    <a:pt x="253612" y="363162"/>
                    <a:pt x="255214" y="357048"/>
                  </a:cubicBezTo>
                  <a:cubicBezTo>
                    <a:pt x="256532" y="352533"/>
                    <a:pt x="257757" y="348018"/>
                    <a:pt x="259170" y="343502"/>
                  </a:cubicBezTo>
                  <a:cubicBezTo>
                    <a:pt x="260771" y="338235"/>
                    <a:pt x="262278" y="337576"/>
                    <a:pt x="267082" y="340116"/>
                  </a:cubicBezTo>
                  <a:cubicBezTo>
                    <a:pt x="275370" y="344349"/>
                    <a:pt x="284036" y="346795"/>
                    <a:pt x="293173" y="347923"/>
                  </a:cubicBezTo>
                  <a:cubicBezTo>
                    <a:pt x="299107" y="348676"/>
                    <a:pt x="304852" y="348018"/>
                    <a:pt x="310221" y="345666"/>
                  </a:cubicBezTo>
                  <a:cubicBezTo>
                    <a:pt x="320394" y="341151"/>
                    <a:pt x="322089" y="329299"/>
                    <a:pt x="313424" y="322338"/>
                  </a:cubicBezTo>
                  <a:cubicBezTo>
                    <a:pt x="310410" y="319798"/>
                    <a:pt x="307113" y="318011"/>
                    <a:pt x="303628" y="316506"/>
                  </a:cubicBezTo>
                  <a:cubicBezTo>
                    <a:pt x="294680" y="312649"/>
                    <a:pt x="285355" y="309639"/>
                    <a:pt x="276972" y="304654"/>
                  </a:cubicBezTo>
                  <a:cubicBezTo>
                    <a:pt x="263314" y="296470"/>
                    <a:pt x="254648" y="285277"/>
                    <a:pt x="255590" y="268627"/>
                  </a:cubicBezTo>
                  <a:cubicBezTo>
                    <a:pt x="256721" y="249815"/>
                    <a:pt x="267458" y="238151"/>
                    <a:pt x="284601" y="231848"/>
                  </a:cubicBezTo>
                  <a:cubicBezTo>
                    <a:pt x="291666" y="229215"/>
                    <a:pt x="291760" y="229403"/>
                    <a:pt x="291760" y="221972"/>
                  </a:cubicBezTo>
                  <a:cubicBezTo>
                    <a:pt x="291760" y="219432"/>
                    <a:pt x="291666" y="216986"/>
                    <a:pt x="291760" y="214447"/>
                  </a:cubicBezTo>
                  <a:cubicBezTo>
                    <a:pt x="291948" y="208803"/>
                    <a:pt x="292890" y="207768"/>
                    <a:pt x="298447" y="207674"/>
                  </a:cubicBezTo>
                  <a:close/>
                  <a:moveTo>
                    <a:pt x="303420" y="180121"/>
                  </a:moveTo>
                  <a:cubicBezTo>
                    <a:pt x="235877" y="180121"/>
                    <a:pt x="180864" y="235051"/>
                    <a:pt x="180864" y="302491"/>
                  </a:cubicBezTo>
                  <a:cubicBezTo>
                    <a:pt x="180864" y="369930"/>
                    <a:pt x="235877" y="424860"/>
                    <a:pt x="303420" y="424860"/>
                  </a:cubicBezTo>
                  <a:cubicBezTo>
                    <a:pt x="371056" y="424860"/>
                    <a:pt x="426069" y="370118"/>
                    <a:pt x="426069" y="302491"/>
                  </a:cubicBezTo>
                  <a:cubicBezTo>
                    <a:pt x="426069" y="235051"/>
                    <a:pt x="371056" y="180121"/>
                    <a:pt x="303420" y="180121"/>
                  </a:cubicBezTo>
                  <a:close/>
                  <a:moveTo>
                    <a:pt x="303420" y="0"/>
                  </a:moveTo>
                  <a:cubicBezTo>
                    <a:pt x="332716" y="0"/>
                    <a:pt x="356360" y="23703"/>
                    <a:pt x="356360" y="52767"/>
                  </a:cubicBezTo>
                  <a:cubicBezTo>
                    <a:pt x="356360" y="75529"/>
                    <a:pt x="341853" y="94905"/>
                    <a:pt x="321695" y="102335"/>
                  </a:cubicBezTo>
                  <a:lnTo>
                    <a:pt x="321695" y="149364"/>
                  </a:lnTo>
                  <a:cubicBezTo>
                    <a:pt x="350802" y="152750"/>
                    <a:pt x="377461" y="164319"/>
                    <a:pt x="399316" y="181626"/>
                  </a:cubicBezTo>
                  <a:lnTo>
                    <a:pt x="405815" y="175042"/>
                  </a:lnTo>
                  <a:lnTo>
                    <a:pt x="432851" y="148141"/>
                  </a:lnTo>
                  <a:cubicBezTo>
                    <a:pt x="423808" y="128671"/>
                    <a:pt x="427293" y="104875"/>
                    <a:pt x="443401" y="88791"/>
                  </a:cubicBezTo>
                  <a:cubicBezTo>
                    <a:pt x="463937" y="68192"/>
                    <a:pt x="497378" y="68192"/>
                    <a:pt x="518008" y="88791"/>
                  </a:cubicBezTo>
                  <a:cubicBezTo>
                    <a:pt x="538544" y="109390"/>
                    <a:pt x="538544" y="142686"/>
                    <a:pt x="518008" y="163285"/>
                  </a:cubicBezTo>
                  <a:cubicBezTo>
                    <a:pt x="501900" y="179369"/>
                    <a:pt x="478067" y="182849"/>
                    <a:pt x="458568" y="173819"/>
                  </a:cubicBezTo>
                  <a:lnTo>
                    <a:pt x="425032" y="207304"/>
                  </a:lnTo>
                  <a:cubicBezTo>
                    <a:pt x="442836" y="229972"/>
                    <a:pt x="454423" y="257625"/>
                    <a:pt x="457343" y="287818"/>
                  </a:cubicBezTo>
                  <a:lnTo>
                    <a:pt x="503407" y="287818"/>
                  </a:lnTo>
                  <a:cubicBezTo>
                    <a:pt x="509907" y="265996"/>
                    <a:pt x="530160" y="250194"/>
                    <a:pt x="553993" y="250194"/>
                  </a:cubicBezTo>
                  <a:cubicBezTo>
                    <a:pt x="583195" y="250194"/>
                    <a:pt x="606933" y="273803"/>
                    <a:pt x="606933" y="302961"/>
                  </a:cubicBezTo>
                  <a:cubicBezTo>
                    <a:pt x="606933" y="332213"/>
                    <a:pt x="583195" y="355822"/>
                    <a:pt x="553993" y="355822"/>
                  </a:cubicBezTo>
                  <a:cubicBezTo>
                    <a:pt x="532421" y="355822"/>
                    <a:pt x="513863" y="342842"/>
                    <a:pt x="505668" y="324312"/>
                  </a:cubicBezTo>
                  <a:lnTo>
                    <a:pt x="456589" y="324312"/>
                  </a:lnTo>
                  <a:cubicBezTo>
                    <a:pt x="452539" y="352059"/>
                    <a:pt x="441235" y="377361"/>
                    <a:pt x="424656" y="398336"/>
                  </a:cubicBezTo>
                  <a:lnTo>
                    <a:pt x="458473" y="432009"/>
                  </a:lnTo>
                  <a:cubicBezTo>
                    <a:pt x="465256" y="428905"/>
                    <a:pt x="472792" y="427118"/>
                    <a:pt x="480705" y="427118"/>
                  </a:cubicBezTo>
                  <a:cubicBezTo>
                    <a:pt x="509813" y="427118"/>
                    <a:pt x="533645" y="450820"/>
                    <a:pt x="533645" y="480072"/>
                  </a:cubicBezTo>
                  <a:cubicBezTo>
                    <a:pt x="533645" y="509324"/>
                    <a:pt x="509907" y="532839"/>
                    <a:pt x="480799" y="532839"/>
                  </a:cubicBezTo>
                  <a:cubicBezTo>
                    <a:pt x="451503" y="532839"/>
                    <a:pt x="427953" y="509136"/>
                    <a:pt x="427953" y="480072"/>
                  </a:cubicBezTo>
                  <a:cubicBezTo>
                    <a:pt x="427953" y="472077"/>
                    <a:pt x="429648" y="464647"/>
                    <a:pt x="432851" y="457875"/>
                  </a:cubicBezTo>
                  <a:lnTo>
                    <a:pt x="398939" y="424014"/>
                  </a:lnTo>
                  <a:cubicBezTo>
                    <a:pt x="377179" y="441038"/>
                    <a:pt x="350708" y="452513"/>
                    <a:pt x="321789" y="455899"/>
                  </a:cubicBezTo>
                  <a:lnTo>
                    <a:pt x="321789" y="466904"/>
                  </a:lnTo>
                  <a:lnTo>
                    <a:pt x="321789" y="503681"/>
                  </a:lnTo>
                  <a:cubicBezTo>
                    <a:pt x="342042" y="511017"/>
                    <a:pt x="356454" y="530487"/>
                    <a:pt x="356454" y="553155"/>
                  </a:cubicBezTo>
                  <a:cubicBezTo>
                    <a:pt x="356454" y="582407"/>
                    <a:pt x="332716" y="606016"/>
                    <a:pt x="303608" y="606016"/>
                  </a:cubicBezTo>
                  <a:cubicBezTo>
                    <a:pt x="274312" y="606016"/>
                    <a:pt x="250667" y="582313"/>
                    <a:pt x="250667" y="553155"/>
                  </a:cubicBezTo>
                  <a:cubicBezTo>
                    <a:pt x="250667" y="530487"/>
                    <a:pt x="265174" y="511017"/>
                    <a:pt x="285333" y="503681"/>
                  </a:cubicBezTo>
                  <a:lnTo>
                    <a:pt x="285333" y="466810"/>
                  </a:lnTo>
                  <a:lnTo>
                    <a:pt x="285333" y="455711"/>
                  </a:lnTo>
                  <a:cubicBezTo>
                    <a:pt x="256508" y="452325"/>
                    <a:pt x="229943" y="440944"/>
                    <a:pt x="208277" y="423920"/>
                  </a:cubicBezTo>
                  <a:lnTo>
                    <a:pt x="174365" y="457781"/>
                  </a:lnTo>
                  <a:cubicBezTo>
                    <a:pt x="177473" y="464553"/>
                    <a:pt x="179263" y="472077"/>
                    <a:pt x="179263" y="479978"/>
                  </a:cubicBezTo>
                  <a:cubicBezTo>
                    <a:pt x="179263" y="509136"/>
                    <a:pt x="155525" y="532745"/>
                    <a:pt x="126322" y="532745"/>
                  </a:cubicBezTo>
                  <a:cubicBezTo>
                    <a:pt x="97120" y="532745"/>
                    <a:pt x="73476" y="509136"/>
                    <a:pt x="73476" y="479978"/>
                  </a:cubicBezTo>
                  <a:cubicBezTo>
                    <a:pt x="73476" y="450726"/>
                    <a:pt x="97215" y="427118"/>
                    <a:pt x="126322" y="427118"/>
                  </a:cubicBezTo>
                  <a:cubicBezTo>
                    <a:pt x="134424" y="427118"/>
                    <a:pt x="141771" y="428905"/>
                    <a:pt x="148554" y="432009"/>
                  </a:cubicBezTo>
                  <a:lnTo>
                    <a:pt x="182372" y="398336"/>
                  </a:lnTo>
                  <a:cubicBezTo>
                    <a:pt x="165698" y="377361"/>
                    <a:pt x="154394" y="352059"/>
                    <a:pt x="150438" y="324312"/>
                  </a:cubicBezTo>
                  <a:lnTo>
                    <a:pt x="102490" y="324312"/>
                  </a:lnTo>
                  <a:cubicBezTo>
                    <a:pt x="95048" y="344535"/>
                    <a:pt x="75643" y="358926"/>
                    <a:pt x="52846" y="358926"/>
                  </a:cubicBezTo>
                  <a:cubicBezTo>
                    <a:pt x="23644" y="358926"/>
                    <a:pt x="0" y="335223"/>
                    <a:pt x="0" y="306159"/>
                  </a:cubicBezTo>
                  <a:cubicBezTo>
                    <a:pt x="0" y="276907"/>
                    <a:pt x="23738" y="253298"/>
                    <a:pt x="52846" y="253298"/>
                  </a:cubicBezTo>
                  <a:cubicBezTo>
                    <a:pt x="75643" y="253298"/>
                    <a:pt x="95048" y="267595"/>
                    <a:pt x="102490" y="287818"/>
                  </a:cubicBezTo>
                  <a:lnTo>
                    <a:pt x="149590" y="287818"/>
                  </a:lnTo>
                  <a:cubicBezTo>
                    <a:pt x="152510" y="257625"/>
                    <a:pt x="164003" y="229878"/>
                    <a:pt x="181901" y="207304"/>
                  </a:cubicBezTo>
                  <a:lnTo>
                    <a:pt x="148460" y="173913"/>
                  </a:lnTo>
                  <a:cubicBezTo>
                    <a:pt x="141677" y="177111"/>
                    <a:pt x="134141" y="178804"/>
                    <a:pt x="126228" y="178804"/>
                  </a:cubicBezTo>
                  <a:cubicBezTo>
                    <a:pt x="96932" y="178804"/>
                    <a:pt x="73382" y="155102"/>
                    <a:pt x="73382" y="126038"/>
                  </a:cubicBezTo>
                  <a:cubicBezTo>
                    <a:pt x="73382" y="96786"/>
                    <a:pt x="97120" y="73271"/>
                    <a:pt x="126228" y="73271"/>
                  </a:cubicBezTo>
                  <a:cubicBezTo>
                    <a:pt x="155525" y="73271"/>
                    <a:pt x="179075" y="96974"/>
                    <a:pt x="179075" y="126038"/>
                  </a:cubicBezTo>
                  <a:cubicBezTo>
                    <a:pt x="179075" y="134033"/>
                    <a:pt x="177379" y="141463"/>
                    <a:pt x="174176" y="148235"/>
                  </a:cubicBezTo>
                  <a:lnTo>
                    <a:pt x="207617" y="181626"/>
                  </a:lnTo>
                  <a:cubicBezTo>
                    <a:pt x="229472" y="164319"/>
                    <a:pt x="256131" y="152750"/>
                    <a:pt x="285239" y="149364"/>
                  </a:cubicBezTo>
                  <a:lnTo>
                    <a:pt x="285239" y="102335"/>
                  </a:lnTo>
                  <a:cubicBezTo>
                    <a:pt x="264986" y="94905"/>
                    <a:pt x="250573" y="75529"/>
                    <a:pt x="250573" y="52767"/>
                  </a:cubicBezTo>
                  <a:cubicBezTo>
                    <a:pt x="250573" y="23609"/>
                    <a:pt x="274312" y="0"/>
                    <a:pt x="303420" y="0"/>
                  </a:cubicBezTo>
                  <a:close/>
                </a:path>
              </a:pathLst>
            </a:custGeom>
            <a:solidFill>
              <a:srgbClr val="005A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íṣḷíḋé"/>
            <p:cNvSpPr/>
            <p:nvPr>
              <p:custDataLst>
                <p:tags r:id="rId9"/>
              </p:custDataLst>
            </p:nvPr>
          </p:nvSpPr>
          <p:spPr>
            <a:xfrm>
              <a:off x="9424722" y="3485205"/>
              <a:ext cx="1024172" cy="1024172"/>
            </a:xfrm>
            <a:prstGeom prst="ellipse">
              <a:avLst/>
            </a:prstGeom>
            <a:noFill/>
            <a:ln w="28575">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îṥ1ïḋê"/>
            <p:cNvSpPr/>
            <p:nvPr>
              <p:custDataLst>
                <p:tags r:id="rId10"/>
              </p:custDataLst>
            </p:nvPr>
          </p:nvSpPr>
          <p:spPr>
            <a:xfrm>
              <a:off x="9621847" y="3706745"/>
              <a:ext cx="629922" cy="581093"/>
            </a:xfrm>
            <a:custGeom>
              <a:avLst/>
              <a:gdLst>
                <a:gd name="connsiteX0" fmla="*/ 381018 w 608549"/>
                <a:gd name="connsiteY0" fmla="*/ 473169 h 561377"/>
                <a:gd name="connsiteX1" fmla="*/ 425157 w 608549"/>
                <a:gd name="connsiteY1" fmla="*/ 517273 h 561377"/>
                <a:gd name="connsiteX2" fmla="*/ 381018 w 608549"/>
                <a:gd name="connsiteY2" fmla="*/ 561377 h 561377"/>
                <a:gd name="connsiteX3" fmla="*/ 336879 w 608549"/>
                <a:gd name="connsiteY3" fmla="*/ 517273 h 561377"/>
                <a:gd name="connsiteX4" fmla="*/ 381018 w 608549"/>
                <a:gd name="connsiteY4" fmla="*/ 473169 h 561377"/>
                <a:gd name="connsiteX5" fmla="*/ 146741 w 608549"/>
                <a:gd name="connsiteY5" fmla="*/ 473169 h 561377"/>
                <a:gd name="connsiteX6" fmla="*/ 190880 w 608549"/>
                <a:gd name="connsiteY6" fmla="*/ 517273 h 561377"/>
                <a:gd name="connsiteX7" fmla="*/ 146741 w 608549"/>
                <a:gd name="connsiteY7" fmla="*/ 561377 h 561377"/>
                <a:gd name="connsiteX8" fmla="*/ 102602 w 608549"/>
                <a:gd name="connsiteY8" fmla="*/ 517273 h 561377"/>
                <a:gd name="connsiteX9" fmla="*/ 146741 w 608549"/>
                <a:gd name="connsiteY9" fmla="*/ 473169 h 561377"/>
                <a:gd name="connsiteX10" fmla="*/ 340091 w 608549"/>
                <a:gd name="connsiteY10" fmla="*/ 405920 h 561377"/>
                <a:gd name="connsiteX11" fmla="*/ 445268 w 608549"/>
                <a:gd name="connsiteY11" fmla="*/ 405920 h 561377"/>
                <a:gd name="connsiteX12" fmla="*/ 431622 w 608549"/>
                <a:gd name="connsiteY12" fmla="*/ 458350 h 561377"/>
                <a:gd name="connsiteX13" fmla="*/ 335821 w 608549"/>
                <a:gd name="connsiteY13" fmla="*/ 458350 h 561377"/>
                <a:gd name="connsiteX14" fmla="*/ 204428 w 608549"/>
                <a:gd name="connsiteY14" fmla="*/ 405920 h 561377"/>
                <a:gd name="connsiteX15" fmla="*/ 323260 w 608549"/>
                <a:gd name="connsiteY15" fmla="*/ 405920 h 561377"/>
                <a:gd name="connsiteX16" fmla="*/ 318989 w 608549"/>
                <a:gd name="connsiteY16" fmla="*/ 458350 h 561377"/>
                <a:gd name="connsiteX17" fmla="*/ 208699 w 608549"/>
                <a:gd name="connsiteY17" fmla="*/ 458350 h 561377"/>
                <a:gd name="connsiteX18" fmla="*/ 82420 w 608549"/>
                <a:gd name="connsiteY18" fmla="*/ 405920 h 561377"/>
                <a:gd name="connsiteX19" fmla="*/ 187643 w 608549"/>
                <a:gd name="connsiteY19" fmla="*/ 405920 h 561377"/>
                <a:gd name="connsiteX20" fmla="*/ 192008 w 608549"/>
                <a:gd name="connsiteY20" fmla="*/ 458350 h 561377"/>
                <a:gd name="connsiteX21" fmla="*/ 96072 w 608549"/>
                <a:gd name="connsiteY21" fmla="*/ 458350 h 561377"/>
                <a:gd name="connsiteX22" fmla="*/ 348616 w 608549"/>
                <a:gd name="connsiteY22" fmla="*/ 301060 h 561377"/>
                <a:gd name="connsiteX23" fmla="*/ 472294 w 608549"/>
                <a:gd name="connsiteY23" fmla="*/ 301060 h 561377"/>
                <a:gd name="connsiteX24" fmla="*/ 449638 w 608549"/>
                <a:gd name="connsiteY24" fmla="*/ 389549 h 561377"/>
                <a:gd name="connsiteX25" fmla="*/ 341466 w 608549"/>
                <a:gd name="connsiteY25" fmla="*/ 389549 h 561377"/>
                <a:gd name="connsiteX26" fmla="*/ 195890 w 608549"/>
                <a:gd name="connsiteY26" fmla="*/ 301060 h 561377"/>
                <a:gd name="connsiteX27" fmla="*/ 331799 w 608549"/>
                <a:gd name="connsiteY27" fmla="*/ 301060 h 561377"/>
                <a:gd name="connsiteX28" fmla="*/ 324651 w 608549"/>
                <a:gd name="connsiteY28" fmla="*/ 389549 h 561377"/>
                <a:gd name="connsiteX29" fmla="*/ 203038 w 608549"/>
                <a:gd name="connsiteY29" fmla="*/ 389549 h 561377"/>
                <a:gd name="connsiteX30" fmla="*/ 55394 w 608549"/>
                <a:gd name="connsiteY30" fmla="*/ 301060 h 561377"/>
                <a:gd name="connsiteX31" fmla="*/ 179165 w 608549"/>
                <a:gd name="connsiteY31" fmla="*/ 301060 h 561377"/>
                <a:gd name="connsiteX32" fmla="*/ 186222 w 608549"/>
                <a:gd name="connsiteY32" fmla="*/ 389549 h 561377"/>
                <a:gd name="connsiteX33" fmla="*/ 78050 w 608549"/>
                <a:gd name="connsiteY33" fmla="*/ 389549 h 561377"/>
                <a:gd name="connsiteX34" fmla="*/ 189892 w 608549"/>
                <a:gd name="connsiteY34" fmla="*/ 229013 h 561377"/>
                <a:gd name="connsiteX35" fmla="*/ 337868 w 608549"/>
                <a:gd name="connsiteY35" fmla="*/ 229013 h 561377"/>
                <a:gd name="connsiteX36" fmla="*/ 333226 w 608549"/>
                <a:gd name="connsiteY36" fmla="*/ 284619 h 561377"/>
                <a:gd name="connsiteX37" fmla="*/ 194534 w 608549"/>
                <a:gd name="connsiteY37" fmla="*/ 284619 h 561377"/>
                <a:gd name="connsiteX38" fmla="*/ 36200 w 608549"/>
                <a:gd name="connsiteY38" fmla="*/ 229013 h 561377"/>
                <a:gd name="connsiteX39" fmla="*/ 173089 w 608549"/>
                <a:gd name="connsiteY39" fmla="*/ 229013 h 561377"/>
                <a:gd name="connsiteX40" fmla="*/ 177825 w 608549"/>
                <a:gd name="connsiteY40" fmla="*/ 284619 h 561377"/>
                <a:gd name="connsiteX41" fmla="*/ 51059 w 608549"/>
                <a:gd name="connsiteY41" fmla="*/ 284619 h 561377"/>
                <a:gd name="connsiteX42" fmla="*/ 531055 w 608549"/>
                <a:gd name="connsiteY42" fmla="*/ 143841 h 561377"/>
                <a:gd name="connsiteX43" fmla="*/ 583971 w 608549"/>
                <a:gd name="connsiteY43" fmla="*/ 143841 h 561377"/>
                <a:gd name="connsiteX44" fmla="*/ 583971 w 608549"/>
                <a:gd name="connsiteY44" fmla="*/ 196204 h 561377"/>
                <a:gd name="connsiteX45" fmla="*/ 540432 w 608549"/>
                <a:gd name="connsiteY45" fmla="*/ 196204 h 561377"/>
                <a:gd name="connsiteX46" fmla="*/ 486309 w 608549"/>
                <a:gd name="connsiteY46" fmla="*/ 249309 h 561377"/>
                <a:gd name="connsiteX47" fmla="*/ 476654 w 608549"/>
                <a:gd name="connsiteY47" fmla="*/ 284619 h 561377"/>
                <a:gd name="connsiteX48" fmla="*/ 349934 w 608549"/>
                <a:gd name="connsiteY48" fmla="*/ 284619 h 561377"/>
                <a:gd name="connsiteX49" fmla="*/ 354669 w 608549"/>
                <a:gd name="connsiteY49" fmla="*/ 229012 h 561377"/>
                <a:gd name="connsiteX50" fmla="*/ 437849 w 608549"/>
                <a:gd name="connsiteY50" fmla="*/ 229012 h 561377"/>
                <a:gd name="connsiteX51" fmla="*/ 443233 w 608549"/>
                <a:gd name="connsiteY51" fmla="*/ 221042 h 561377"/>
                <a:gd name="connsiteX52" fmla="*/ 511189 w 608549"/>
                <a:gd name="connsiteY52" fmla="*/ 153016 h 561377"/>
                <a:gd name="connsiteX53" fmla="*/ 517316 w 608549"/>
                <a:gd name="connsiteY53" fmla="*/ 148104 h 561377"/>
                <a:gd name="connsiteX54" fmla="*/ 531055 w 608549"/>
                <a:gd name="connsiteY54" fmla="*/ 143841 h 561377"/>
                <a:gd name="connsiteX55" fmla="*/ 113649 w 608549"/>
                <a:gd name="connsiteY55" fmla="*/ 3 h 561377"/>
                <a:gd name="connsiteX56" fmla="*/ 238362 w 608549"/>
                <a:gd name="connsiteY56" fmla="*/ 56970 h 561377"/>
                <a:gd name="connsiteX57" fmla="*/ 261391 w 608549"/>
                <a:gd name="connsiteY57" fmla="*/ 34726 h 561377"/>
                <a:gd name="connsiteX58" fmla="*/ 292776 w 608549"/>
                <a:gd name="connsiteY58" fmla="*/ 199234 h 561377"/>
                <a:gd name="connsiteX59" fmla="*/ 128792 w 608549"/>
                <a:gd name="connsiteY59" fmla="*/ 163460 h 561377"/>
                <a:gd name="connsiteX60" fmla="*/ 151820 w 608549"/>
                <a:gd name="connsiteY60" fmla="*/ 141124 h 561377"/>
                <a:gd name="connsiteX61" fmla="*/ 0 w 608549"/>
                <a:gd name="connsiteY61" fmla="*/ 36673 h 561377"/>
                <a:gd name="connsiteX62" fmla="*/ 113649 w 608549"/>
                <a:gd name="connsiteY62" fmla="*/ 3 h 5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8549" h="561377">
                  <a:moveTo>
                    <a:pt x="381018" y="473169"/>
                  </a:moveTo>
                  <a:cubicBezTo>
                    <a:pt x="405395" y="473169"/>
                    <a:pt x="425157" y="492915"/>
                    <a:pt x="425157" y="517273"/>
                  </a:cubicBezTo>
                  <a:cubicBezTo>
                    <a:pt x="425157" y="541631"/>
                    <a:pt x="405395" y="561377"/>
                    <a:pt x="381018" y="561377"/>
                  </a:cubicBezTo>
                  <a:cubicBezTo>
                    <a:pt x="356641" y="561377"/>
                    <a:pt x="336879" y="541631"/>
                    <a:pt x="336879" y="517273"/>
                  </a:cubicBezTo>
                  <a:cubicBezTo>
                    <a:pt x="336879" y="492915"/>
                    <a:pt x="356641" y="473169"/>
                    <a:pt x="381018" y="473169"/>
                  </a:cubicBezTo>
                  <a:close/>
                  <a:moveTo>
                    <a:pt x="146741" y="473169"/>
                  </a:moveTo>
                  <a:cubicBezTo>
                    <a:pt x="171118" y="473169"/>
                    <a:pt x="190880" y="492915"/>
                    <a:pt x="190880" y="517273"/>
                  </a:cubicBezTo>
                  <a:cubicBezTo>
                    <a:pt x="190880" y="541631"/>
                    <a:pt x="171118" y="561377"/>
                    <a:pt x="146741" y="561377"/>
                  </a:cubicBezTo>
                  <a:cubicBezTo>
                    <a:pt x="122364" y="561377"/>
                    <a:pt x="102602" y="541631"/>
                    <a:pt x="102602" y="517273"/>
                  </a:cubicBezTo>
                  <a:cubicBezTo>
                    <a:pt x="102602" y="492915"/>
                    <a:pt x="122364" y="473169"/>
                    <a:pt x="146741" y="473169"/>
                  </a:cubicBezTo>
                  <a:close/>
                  <a:moveTo>
                    <a:pt x="340091" y="405920"/>
                  </a:moveTo>
                  <a:lnTo>
                    <a:pt x="445268" y="405920"/>
                  </a:lnTo>
                  <a:lnTo>
                    <a:pt x="431622" y="458350"/>
                  </a:lnTo>
                  <a:lnTo>
                    <a:pt x="335821" y="458350"/>
                  </a:lnTo>
                  <a:close/>
                  <a:moveTo>
                    <a:pt x="204428" y="405920"/>
                  </a:moveTo>
                  <a:lnTo>
                    <a:pt x="323260" y="405920"/>
                  </a:lnTo>
                  <a:lnTo>
                    <a:pt x="318989" y="458350"/>
                  </a:lnTo>
                  <a:lnTo>
                    <a:pt x="208699" y="458350"/>
                  </a:lnTo>
                  <a:close/>
                  <a:moveTo>
                    <a:pt x="82420" y="405920"/>
                  </a:moveTo>
                  <a:lnTo>
                    <a:pt x="187643" y="405920"/>
                  </a:lnTo>
                  <a:lnTo>
                    <a:pt x="192008" y="458350"/>
                  </a:lnTo>
                  <a:lnTo>
                    <a:pt x="96072" y="458350"/>
                  </a:lnTo>
                  <a:close/>
                  <a:moveTo>
                    <a:pt x="348616" y="301060"/>
                  </a:moveTo>
                  <a:lnTo>
                    <a:pt x="472294" y="301060"/>
                  </a:lnTo>
                  <a:lnTo>
                    <a:pt x="449638" y="389549"/>
                  </a:lnTo>
                  <a:lnTo>
                    <a:pt x="341466" y="389549"/>
                  </a:lnTo>
                  <a:close/>
                  <a:moveTo>
                    <a:pt x="195890" y="301060"/>
                  </a:moveTo>
                  <a:lnTo>
                    <a:pt x="331799" y="301060"/>
                  </a:lnTo>
                  <a:lnTo>
                    <a:pt x="324651" y="389549"/>
                  </a:lnTo>
                  <a:lnTo>
                    <a:pt x="203038" y="389549"/>
                  </a:lnTo>
                  <a:close/>
                  <a:moveTo>
                    <a:pt x="55394" y="301060"/>
                  </a:moveTo>
                  <a:lnTo>
                    <a:pt x="179165" y="301060"/>
                  </a:lnTo>
                  <a:lnTo>
                    <a:pt x="186222" y="389549"/>
                  </a:lnTo>
                  <a:lnTo>
                    <a:pt x="78050" y="389549"/>
                  </a:lnTo>
                  <a:close/>
                  <a:moveTo>
                    <a:pt x="189892" y="229013"/>
                  </a:moveTo>
                  <a:lnTo>
                    <a:pt x="337868" y="229013"/>
                  </a:lnTo>
                  <a:lnTo>
                    <a:pt x="333226" y="284619"/>
                  </a:lnTo>
                  <a:lnTo>
                    <a:pt x="194534" y="284619"/>
                  </a:lnTo>
                  <a:close/>
                  <a:moveTo>
                    <a:pt x="36200" y="229013"/>
                  </a:moveTo>
                  <a:lnTo>
                    <a:pt x="173089" y="229013"/>
                  </a:lnTo>
                  <a:lnTo>
                    <a:pt x="177825" y="284619"/>
                  </a:lnTo>
                  <a:lnTo>
                    <a:pt x="51059" y="284619"/>
                  </a:lnTo>
                  <a:close/>
                  <a:moveTo>
                    <a:pt x="531055" y="143841"/>
                  </a:moveTo>
                  <a:lnTo>
                    <a:pt x="583971" y="143841"/>
                  </a:lnTo>
                  <a:cubicBezTo>
                    <a:pt x="616742" y="143841"/>
                    <a:pt x="616742" y="196204"/>
                    <a:pt x="583971" y="196204"/>
                  </a:cubicBezTo>
                  <a:lnTo>
                    <a:pt x="540432" y="196204"/>
                  </a:lnTo>
                  <a:cubicBezTo>
                    <a:pt x="522422" y="212608"/>
                    <a:pt x="504319" y="231237"/>
                    <a:pt x="486309" y="249309"/>
                  </a:cubicBezTo>
                  <a:lnTo>
                    <a:pt x="476654" y="284619"/>
                  </a:lnTo>
                  <a:lnTo>
                    <a:pt x="349934" y="284619"/>
                  </a:lnTo>
                  <a:lnTo>
                    <a:pt x="354669" y="229012"/>
                  </a:lnTo>
                  <a:lnTo>
                    <a:pt x="437849" y="229012"/>
                  </a:lnTo>
                  <a:cubicBezTo>
                    <a:pt x="439056" y="225676"/>
                    <a:pt x="440727" y="223544"/>
                    <a:pt x="443233" y="221042"/>
                  </a:cubicBezTo>
                  <a:cubicBezTo>
                    <a:pt x="465885" y="198429"/>
                    <a:pt x="488537" y="175630"/>
                    <a:pt x="511189" y="153016"/>
                  </a:cubicBezTo>
                  <a:cubicBezTo>
                    <a:pt x="513138" y="151070"/>
                    <a:pt x="515180" y="149309"/>
                    <a:pt x="517316" y="148104"/>
                  </a:cubicBezTo>
                  <a:cubicBezTo>
                    <a:pt x="520936" y="145695"/>
                    <a:pt x="525485" y="143841"/>
                    <a:pt x="531055" y="143841"/>
                  </a:cubicBezTo>
                  <a:close/>
                  <a:moveTo>
                    <a:pt x="113649" y="3"/>
                  </a:moveTo>
                  <a:cubicBezTo>
                    <a:pt x="152263" y="202"/>
                    <a:pt x="196298" y="13839"/>
                    <a:pt x="238362" y="56970"/>
                  </a:cubicBezTo>
                  <a:lnTo>
                    <a:pt x="261391" y="34726"/>
                  </a:lnTo>
                  <a:lnTo>
                    <a:pt x="292776" y="199234"/>
                  </a:lnTo>
                  <a:lnTo>
                    <a:pt x="128792" y="163460"/>
                  </a:lnTo>
                  <a:lnTo>
                    <a:pt x="151820" y="141124"/>
                  </a:lnTo>
                  <a:cubicBezTo>
                    <a:pt x="60635" y="47702"/>
                    <a:pt x="0" y="36673"/>
                    <a:pt x="0" y="36673"/>
                  </a:cubicBezTo>
                  <a:cubicBezTo>
                    <a:pt x="0" y="36673"/>
                    <a:pt x="49294" y="-327"/>
                    <a:pt x="113649" y="3"/>
                  </a:cubicBezTo>
                  <a:close/>
                </a:path>
              </a:pathLst>
            </a:custGeom>
            <a:solidFill>
              <a:srgbClr val="005A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6" name="任意多边形: 形状 35"/>
          <p:cNvSpPr/>
          <p:nvPr/>
        </p:nvSpPr>
        <p:spPr>
          <a:xfrm>
            <a:off x="415290" y="503555"/>
            <a:ext cx="6257290" cy="749935"/>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005A8A"/>
          </a:solidFill>
          <a:ln w="38100">
            <a:solidFill>
              <a:srgbClr val="005A8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7" name="图片 3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05447" y="569456"/>
            <a:ext cx="618131" cy="618131"/>
          </a:xfrm>
          <a:prstGeom prst="rect">
            <a:avLst/>
          </a:prstGeom>
        </p:spPr>
      </p:pic>
      <p:sp>
        <p:nvSpPr>
          <p:cNvPr id="38" name="矩形 37"/>
          <p:cNvSpPr/>
          <p:nvPr/>
        </p:nvSpPr>
        <p:spPr>
          <a:xfrm>
            <a:off x="1379320" y="657873"/>
            <a:ext cx="4625340" cy="460375"/>
          </a:xfrm>
          <a:prstGeom prst="rect">
            <a:avLst/>
          </a:prstGeom>
        </p:spPr>
        <p:txBody>
          <a:bodyPr wrap="none">
            <a:spAutoFit/>
          </a:bodyPr>
          <a:lstStyle/>
          <a:p>
            <a:pPr algn="l"/>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项目总结与成果固化（</a:t>
            </a:r>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2026.4</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p>
        </p:txBody>
      </p:sp>
      <p:sp>
        <p:nvSpPr>
          <p:cNvPr id="39" name="矩形 38"/>
          <p:cNvSpPr/>
          <p:nvPr/>
        </p:nvSpPr>
        <p:spPr>
          <a:xfrm>
            <a:off x="1763253" y="2236851"/>
            <a:ext cx="8685641" cy="464166"/>
          </a:xfrm>
          <a:prstGeom prst="rect">
            <a:avLst/>
          </a:prstGeom>
        </p:spPr>
        <p:txBody>
          <a:bodyPr wrap="square">
            <a:spAutoFit/>
          </a:bodyPr>
          <a:lstStyle/>
          <a:p>
            <a:pPr algn="ctr">
              <a:lnSpc>
                <a:spcPct val="150000"/>
              </a:lnSpc>
            </a:pPr>
            <a:r>
              <a:rPr lang="zh-CN" altLang="en-US" b="1" dirty="0">
                <a:solidFill>
                  <a:srgbClr val="005A8A"/>
                </a:solidFill>
                <a:ea typeface="字魂105号-简雅黑" panose="00000500000000000000" pitchFamily="2" charset="-122"/>
                <a:sym typeface="字魂105号-简雅黑" panose="00000500000000000000" pitchFamily="2" charset="-122"/>
              </a:rPr>
              <a:t>以专业的方式通过报告文档等总结项目成果并进行自我价值评估</a:t>
            </a:r>
          </a:p>
        </p:txBody>
      </p:sp>
      <p:sp>
        <p:nvSpPr>
          <p:cNvPr id="40" name="矩形 39"/>
          <p:cNvSpPr/>
          <p:nvPr>
            <p:custDataLst>
              <p:tags r:id="rId2"/>
            </p:custDataLst>
          </p:nvPr>
        </p:nvSpPr>
        <p:spPr>
          <a:xfrm>
            <a:off x="1323578" y="4934178"/>
            <a:ext cx="1863219" cy="1753235"/>
          </a:xfrm>
          <a:prstGeom prst="rect">
            <a:avLst/>
          </a:prstGeom>
        </p:spPr>
        <p:txBody>
          <a:bodyPr wrap="square">
            <a:spAutoFit/>
          </a:bodyPr>
          <a:lstStyle/>
          <a:p>
            <a:pPr algn="ctr">
              <a:lnSpc>
                <a:spcPct val="150000"/>
              </a:lnSpc>
              <a:spcAft>
                <a:spcPts val="600"/>
              </a:spcAft>
            </a:pPr>
            <a:r>
              <a:rPr lang="zh-CN" altLang="en-US" dirty="0">
                <a:solidFill>
                  <a:schemeClr val="bg1"/>
                </a:solidFill>
                <a:ea typeface="字魂105号-简雅黑" panose="00000500000000000000" pitchFamily="2" charset="-122"/>
                <a:sym typeface="字魂105号-简雅黑" panose="00000500000000000000" pitchFamily="2" charset="-122"/>
              </a:rPr>
              <a:t>编制项目技术报告，系统总结架构设计、算法创新与工程实践</a:t>
            </a:r>
          </a:p>
        </p:txBody>
      </p:sp>
      <p:sp>
        <p:nvSpPr>
          <p:cNvPr id="41" name="矩形 40"/>
          <p:cNvSpPr/>
          <p:nvPr>
            <p:custDataLst>
              <p:tags r:id="rId3"/>
            </p:custDataLst>
          </p:nvPr>
        </p:nvSpPr>
        <p:spPr>
          <a:xfrm>
            <a:off x="3884118" y="4934178"/>
            <a:ext cx="1863219" cy="1753235"/>
          </a:xfrm>
          <a:prstGeom prst="rect">
            <a:avLst/>
          </a:prstGeom>
        </p:spPr>
        <p:txBody>
          <a:bodyPr wrap="square">
            <a:spAutoFit/>
          </a:bodyPr>
          <a:lstStyle/>
          <a:p>
            <a:pPr algn="ctr">
              <a:lnSpc>
                <a:spcPct val="150000"/>
              </a:lnSpc>
              <a:spcAft>
                <a:spcPts val="600"/>
              </a:spcAft>
            </a:pPr>
            <a:r>
              <a:rPr lang="zh-CN" altLang="en-US" dirty="0">
                <a:solidFill>
                  <a:schemeClr val="bg1"/>
                </a:solidFill>
                <a:ea typeface="字魂105号-简雅黑" panose="00000500000000000000" pitchFamily="2" charset="-122"/>
                <a:sym typeface="字魂105号-简雅黑" panose="00000500000000000000" pitchFamily="2" charset="-122"/>
              </a:rPr>
              <a:t>完成所有技术文档、源码、数据的标准化整理与版本归档</a:t>
            </a:r>
          </a:p>
        </p:txBody>
      </p:sp>
      <p:sp>
        <p:nvSpPr>
          <p:cNvPr id="42" name="矩形 41"/>
          <p:cNvSpPr/>
          <p:nvPr>
            <p:custDataLst>
              <p:tags r:id="rId4"/>
            </p:custDataLst>
          </p:nvPr>
        </p:nvSpPr>
        <p:spPr>
          <a:xfrm>
            <a:off x="6444665" y="4933702"/>
            <a:ext cx="1863219" cy="1337945"/>
          </a:xfrm>
          <a:prstGeom prst="rect">
            <a:avLst/>
          </a:prstGeom>
        </p:spPr>
        <p:txBody>
          <a:bodyPr wrap="square">
            <a:spAutoFit/>
          </a:bodyPr>
          <a:lstStyle/>
          <a:p>
            <a:pPr algn="ctr">
              <a:lnSpc>
                <a:spcPct val="150000"/>
              </a:lnSpc>
              <a:spcAft>
                <a:spcPts val="600"/>
              </a:spcAft>
            </a:pPr>
            <a:r>
              <a:rPr lang="zh-CN" altLang="en-US" dirty="0">
                <a:solidFill>
                  <a:schemeClr val="bg1"/>
                </a:solidFill>
                <a:ea typeface="字魂105号-简雅黑" panose="00000500000000000000" pitchFamily="2" charset="-122"/>
                <a:sym typeface="字魂105号-简雅黑" panose="00000500000000000000" pitchFamily="2" charset="-122"/>
              </a:rPr>
              <a:t>形成可复用、可扩展的技术方案与部署规范</a:t>
            </a:r>
          </a:p>
        </p:txBody>
      </p:sp>
      <p:sp>
        <p:nvSpPr>
          <p:cNvPr id="43" name="矩形 42"/>
          <p:cNvSpPr/>
          <p:nvPr>
            <p:custDataLst>
              <p:tags r:id="rId5"/>
            </p:custDataLst>
          </p:nvPr>
        </p:nvSpPr>
        <p:spPr>
          <a:xfrm>
            <a:off x="9005205" y="4933702"/>
            <a:ext cx="1863219" cy="1753235"/>
          </a:xfrm>
          <a:prstGeom prst="rect">
            <a:avLst/>
          </a:prstGeom>
        </p:spPr>
        <p:txBody>
          <a:bodyPr wrap="square">
            <a:spAutoFit/>
          </a:bodyPr>
          <a:lstStyle/>
          <a:p>
            <a:pPr algn="ctr">
              <a:lnSpc>
                <a:spcPct val="150000"/>
              </a:lnSpc>
              <a:spcAft>
                <a:spcPts val="600"/>
              </a:spcAft>
            </a:pPr>
            <a:r>
              <a:rPr lang="zh-CN" altLang="en-US" dirty="0">
                <a:solidFill>
                  <a:schemeClr val="bg1"/>
                </a:solidFill>
                <a:ea typeface="字魂105号-简雅黑" panose="00000500000000000000" pitchFamily="2" charset="-122"/>
                <a:sym typeface="字魂105号-简雅黑" panose="00000500000000000000" pitchFamily="2" charset="-122"/>
              </a:rPr>
              <a:t>组织成果评审与知识传递，确保项目成果的持续价值</a:t>
            </a:r>
          </a:p>
        </p:txBody>
      </p:sp>
      <p:pic>
        <p:nvPicPr>
          <p:cNvPr id="29" name="图片 28"/>
          <p:cNvPicPr>
            <a:picLocks noChangeAspect="1"/>
          </p:cNvPicPr>
          <p:nvPr/>
        </p:nvPicPr>
        <p:blipFill>
          <a:blip r:embed="rId17" cstate="print">
            <a:biLevel thresh="25000"/>
            <a:extLst>
              <a:ext uri="{28A0092B-C50C-407E-A947-70E740481C1C}">
                <a14:useLocalDpi xmlns:a14="http://schemas.microsoft.com/office/drawing/2010/main" val="0"/>
              </a:ext>
            </a:extLst>
          </a:blip>
          <a:stretch>
            <a:fillRect/>
          </a:stretch>
        </p:blipFill>
        <p:spPr>
          <a:xfrm>
            <a:off x="10935249" y="6387542"/>
            <a:ext cx="938700" cy="3129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AC2FBD7-6F73-46AE-9D54-D25A5F74E43C}"/>
              </a:ext>
            </a:extLst>
          </p:cNvPr>
          <p:cNvSpPr/>
          <p:nvPr/>
        </p:nvSpPr>
        <p:spPr>
          <a:xfrm>
            <a:off x="0" y="2554391"/>
            <a:ext cx="12192000" cy="2961151"/>
          </a:xfrm>
          <a:prstGeom prst="rect">
            <a:avLst/>
          </a:prstGeom>
          <a:solidFill>
            <a:srgbClr val="005A8A"/>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a:extLst>
              <a:ext uri="{FF2B5EF4-FFF2-40B4-BE49-F238E27FC236}">
                <a16:creationId xmlns:a16="http://schemas.microsoft.com/office/drawing/2014/main" id="{05CABE9B-79C3-40F2-9B62-92C831D1C92C}"/>
              </a:ext>
            </a:extLst>
          </p:cNvPr>
          <p:cNvSpPr txBox="1"/>
          <p:nvPr/>
        </p:nvSpPr>
        <p:spPr>
          <a:xfrm>
            <a:off x="3459174" y="3203408"/>
            <a:ext cx="6256834" cy="1446550"/>
          </a:xfrm>
          <a:prstGeom prst="rect">
            <a:avLst/>
          </a:prstGeom>
          <a:noFill/>
        </p:spPr>
        <p:txBody>
          <a:bodyPr wrap="square" rtlCol="0">
            <a:spAutoFit/>
          </a:bodyPr>
          <a:lstStyle/>
          <a:p>
            <a:pPr algn="ctr"/>
            <a:r>
              <a:rPr lang="zh-CN" altLang="en-US" sz="88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感     谢！</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335" y="1586524"/>
            <a:ext cx="2017330" cy="696246"/>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409" y="441810"/>
            <a:ext cx="983182" cy="983182"/>
          </a:xfrm>
          <a:prstGeom prst="rect">
            <a:avLst/>
          </a:prstGeom>
        </p:spPr>
      </p:pic>
    </p:spTree>
    <p:extLst>
      <p:ext uri="{BB962C8B-B14F-4D97-AF65-F5344CB8AC3E}">
        <p14:creationId xmlns:p14="http://schemas.microsoft.com/office/powerpoint/2010/main" val="14041024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ISLIDE.DIAGRAM" val="254799"/>
</p:tagLst>
</file>

<file path=ppt/tags/tag3.xml><?xml version="1.0" encoding="utf-8"?>
<p:tagLst xmlns:a="http://schemas.openxmlformats.org/drawingml/2006/main" xmlns:r="http://schemas.openxmlformats.org/officeDocument/2006/relationships" xmlns:p="http://schemas.openxmlformats.org/presentationml/2006/main">
  <p:tag name="ISLIDE.DIAGRAM" val="254805"/>
</p:tagLst>
</file>

<file path=ppt/tags/tag4.xml><?xml version="1.0" encoding="utf-8"?>
<p:tagLst xmlns:a="http://schemas.openxmlformats.org/drawingml/2006/main" xmlns:r="http://schemas.openxmlformats.org/officeDocument/2006/relationships" xmlns:p="http://schemas.openxmlformats.org/presentationml/2006/main">
  <p:tag name="ISLIDE.DIAGRAM" val="18307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28.592125984252,&quot;left&quot;:95.72889763779527,&quot;top&quot;:117.70779527559054,&quot;width&quot;:783.561574803149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47.23984251968506,&quot;left&quot;:41.9,&quot;top&quot;:119.46015748031496,&quot;width&quot;:857.7}"/>
</p:tagLst>
</file>

<file path=ppt/tags/tag73.xml><?xml version="1.0" encoding="utf-8"?>
<p:tagLst xmlns:a="http://schemas.openxmlformats.org/drawingml/2006/main" xmlns:r="http://schemas.openxmlformats.org/officeDocument/2006/relationships" xmlns:p="http://schemas.openxmlformats.org/presentationml/2006/main">
  <p:tag name="ISLIDE.DIAGRAM" val="224338"/>
  <p:tag name="KSO_WM_DIAGRAM_VIRTUALLY_FRAME" val="{&quot;height&quot;:268.4526771653543,&quot;left&quot;:0,&quot;top&quot;:271.5473228346457,&quot;width&quot;:960}"/>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68.4526771653543,&quot;left&quot;:0,&quot;top&quot;:271.5473228346457,&quot;width&quot;:9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12060</TotalTime>
  <Words>1602</Words>
  <Application>Microsoft Office PowerPoint</Application>
  <PresentationFormat>宽屏</PresentationFormat>
  <Paragraphs>129</Paragraphs>
  <Slides>23</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等线</vt:lpstr>
      <vt:lpstr>等线 Light</vt:lpstr>
      <vt:lpstr>黑体</vt:lpstr>
      <vt:lpstr>字魂105号-简雅黑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cby</dc:creator>
  <cp:lastModifiedBy>3687560776@qq.com</cp:lastModifiedBy>
  <cp:revision>325</cp:revision>
  <dcterms:created xsi:type="dcterms:W3CDTF">2019-01-04T06:52:46Z</dcterms:created>
  <dcterms:modified xsi:type="dcterms:W3CDTF">2025-11-06T13:47:44Z</dcterms:modified>
</cp:coreProperties>
</file>